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54"/>
  </p:notesMasterIdLst>
  <p:handoutMasterIdLst>
    <p:handoutMasterId r:id="rId55"/>
  </p:handoutMasterIdLst>
  <p:sldIdLst>
    <p:sldId id="256" r:id="rId3"/>
    <p:sldId id="257" r:id="rId4"/>
    <p:sldId id="304" r:id="rId5"/>
    <p:sldId id="274" r:id="rId6"/>
    <p:sldId id="277" r:id="rId7"/>
    <p:sldId id="311" r:id="rId8"/>
    <p:sldId id="278" r:id="rId9"/>
    <p:sldId id="30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19" r:id="rId22"/>
    <p:sldId id="320" r:id="rId23"/>
    <p:sldId id="321" r:id="rId24"/>
    <p:sldId id="309" r:id="rId25"/>
    <p:sldId id="310" r:id="rId26"/>
    <p:sldId id="305" r:id="rId27"/>
    <p:sldId id="290" r:id="rId28"/>
    <p:sldId id="291" r:id="rId29"/>
    <p:sldId id="292" r:id="rId30"/>
    <p:sldId id="294" r:id="rId31"/>
    <p:sldId id="295" r:id="rId32"/>
    <p:sldId id="306" r:id="rId33"/>
    <p:sldId id="259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1" r:id="rId43"/>
    <p:sldId id="272" r:id="rId44"/>
    <p:sldId id="307" r:id="rId45"/>
    <p:sldId id="312" r:id="rId46"/>
    <p:sldId id="313" r:id="rId47"/>
    <p:sldId id="314" r:id="rId48"/>
    <p:sldId id="315" r:id="rId49"/>
    <p:sldId id="316" r:id="rId50"/>
    <p:sldId id="317" r:id="rId51"/>
    <p:sldId id="298" r:id="rId52"/>
    <p:sldId id="318" r:id="rId53"/>
  </p:sldIdLst>
  <p:sldSz cx="12192000" cy="6858000"/>
  <p:notesSz cx="6858000" cy="9144000"/>
  <p:embeddedFontLst>
    <p:embeddedFont>
      <p:font typeface="Amasis MT Pro Medium" panose="02040604050005020304" pitchFamily="18" charset="0"/>
      <p:regular r:id="rId56"/>
    </p:embeddedFont>
    <p:embeddedFont>
      <p:font typeface="Arial Rounded MT Bold" panose="020F0704030504030204" pitchFamily="34" charset="0"/>
      <p:regular r:id="rId57"/>
    </p:embeddedFon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Consolas" panose="020B0609020204030204" pitchFamily="49" charset="0"/>
      <p:regular r:id="rId62"/>
      <p:bold r:id="rId63"/>
      <p:italic r:id="rId64"/>
      <p:boldItalic r:id="rId65"/>
    </p:embeddedFont>
    <p:embeddedFont>
      <p:font typeface="Schoolbell" panose="020B0604020202020204" charset="0"/>
      <p:regular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hhKLyEKhcpFcs3vGIGIrw3Qerm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A8305F-99F8-489D-A558-1B7DF76EFC55}">
  <a:tblStyle styleId="{C0A8305F-99F8-489D-A558-1B7DF76EFC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2961B4-F72D-434E-B922-B784F0361C6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99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8.fntdata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5" Type="http://schemas.openxmlformats.org/officeDocument/2006/relationships/slide" Target="slides/slide3.xml"/><Relationship Id="rId61" Type="http://schemas.openxmlformats.org/officeDocument/2006/relationships/font" Target="fonts/font6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7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2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BF4EB-D95F-CB3D-69B3-FA5E5D0AB6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FE602A-9FD8-679F-9B23-80A181F3CB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A50CA-4104-4E19-AB28-0C3C57E2E99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6B104-9AA5-3754-6F8B-DDBC45244D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FA8BB-303E-AC86-3D5F-CB16075A35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D0340-304A-42C4-B222-A2D9A6F36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04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806BF1A0-1DE0-ADCE-B894-D0367D17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>
            <a:extLst>
              <a:ext uri="{FF2B5EF4-FFF2-40B4-BE49-F238E27FC236}">
                <a16:creationId xmlns:a16="http://schemas.microsoft.com/office/drawing/2014/main" id="{788E5E0D-DCB6-583C-8ED9-E07E7358F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:notes">
            <a:extLst>
              <a:ext uri="{FF2B5EF4-FFF2-40B4-BE49-F238E27FC236}">
                <a16:creationId xmlns:a16="http://schemas.microsoft.com/office/drawing/2014/main" id="{933FFBCA-7FAD-E7A3-27A5-A46BB941F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0503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736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7204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98263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85751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942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6D1D2C30-228F-6D1A-1DC5-35D204BEE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:notes">
            <a:extLst>
              <a:ext uri="{FF2B5EF4-FFF2-40B4-BE49-F238E27FC236}">
                <a16:creationId xmlns:a16="http://schemas.microsoft.com/office/drawing/2014/main" id="{DCDEF510-4F72-3B31-B245-2DBFEBB08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3:notes">
            <a:extLst>
              <a:ext uri="{FF2B5EF4-FFF2-40B4-BE49-F238E27FC236}">
                <a16:creationId xmlns:a16="http://schemas.microsoft.com/office/drawing/2014/main" id="{288ABB4C-D20E-DFAF-78AD-A834B195D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387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7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9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49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5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5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5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3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5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5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790F-EE02-4D5C-B755-D9608130C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DD1E-6E5F-4AE4-854A-9D29F0DBB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844B9-B030-4944-B104-5A2C9854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A2729-0FB4-4168-AFC7-84240378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4F86-7C8F-4F24-B11B-3E88A00E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4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3F7B-7C7F-46DC-8215-0C1FB7E6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D91EF-D176-4F1A-9826-5CB2C1A8D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D396C-2836-47FE-A14B-D52BAC25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0724C-A47F-40F0-AD85-9C561872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4B7E0-6DB5-4637-947B-6D780ABF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89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F3AF-E16A-435F-ACAE-E9B03ED7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2246-2259-4DF2-906F-6A1608BD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213C3-6005-4928-A4C6-B44C939D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F1247-0693-4425-A6D0-3A5679EB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BEB6A-1CB9-497E-8940-B0EB15D14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88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5636-CC06-4CB8-A24E-818B8352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8942-CAAA-4470-AC3C-5B8950614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BF282-5FED-4ED9-A00E-6B5B192F6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A0E9A-E58D-428A-92C5-1369E7E9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894A7-5447-4B47-88E4-6D90EDF6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FD962-F05B-4CA4-A4F3-E7180A07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2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C045-E15C-44F2-AFD3-3F546B34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F18F0-D41A-4360-8C6D-B6E68D62E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A02-CEAA-4256-AE84-B731D6C43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225FC-00EA-4DAF-AEAE-C6DC7A1A4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290E3-2F81-4A90-8420-602D2F7B8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0DA11-8B66-4C65-B625-EBF507E4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4CE0F1-2C45-4D04-B54B-7314D0EB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8C566-C9AC-4DBA-91AB-D1552CDD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83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9BB9-ED45-4419-AC01-2ACD5175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414A8-CF77-4DD5-AD44-05FCD61A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7856C-6D88-4878-9E2A-65052643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26531-15EE-4B1E-9FBF-E336B324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27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622E2-425E-4505-9994-C6EB2132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DFBC7-B3E0-467A-A5F2-271F8138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6AAF6-9D72-4196-8E88-2EEF746E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47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BA0C-30E0-41D5-A0B4-9BBFFEE4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7878-DBBD-4A77-9614-5D2E746B3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BD7B3-41E7-4DBB-874A-A8A743B27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1E8FB-9711-4D57-BDCC-9DF6900C2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18867-BDB4-491E-BC0B-5C3F97BA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9F511-229C-4782-B150-8C9BD3AE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05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902A-A6C6-4B24-8FC2-94ED729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D9E74-06F0-43DC-A1BF-639A30556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EAB51-0847-4640-8229-99ADDA229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5E03B-D970-4847-B122-2EDC634A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D2BEA-8B8F-4C54-96A1-DC935F565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0CDE9-F710-42D5-A8CC-26669567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8911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4442-57C4-4BC9-B51C-94EDEA40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C0F73-FF41-4D13-97C4-395F2FB3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6E707-66F1-468A-B2D8-DBF29683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FA3B9-1376-4B56-BE1E-CD66376C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F803-03D6-4DDE-9D3D-0F599C34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96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41365-62DB-4AFE-A944-2EDA74C13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79211-2A48-4014-9B97-A30BFABA7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71071-125D-437D-B77E-1EFAEF47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17E89-3ACB-4315-BF9A-71EB5B91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DFC4F-F19F-492B-8575-1C20679B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3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29D57-555F-4C87-9243-6CEF82F5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B862B-9925-4ED7-9212-CDFEB883A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96431-F704-4A0C-8024-EFEBCAAA0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3720-304B-4E51-BE8A-BB3FB5D60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4A939-249F-4EE1-B701-EF6A383B5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5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 defTabSz="685800">
              <a:spcBef>
                <a:spcPct val="0"/>
              </a:spcBef>
            </a:pPr>
            <a:r>
              <a:rPr lang="en-US" kern="1200" dirty="0" err="1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  <a:sym typeface="Schoolbell"/>
              </a:rPr>
              <a:t>Pertemuan</a:t>
            </a:r>
            <a:r>
              <a:rPr lang="en-US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  <a:sym typeface="Schoolbell"/>
              </a:rPr>
              <a:t> 3</a:t>
            </a:r>
            <a:br>
              <a:rPr lang="en-US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  <a:sym typeface="Schoolbell"/>
              </a:rPr>
            </a:br>
            <a:r>
              <a:rPr lang="en-US" kern="1200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  <a:sym typeface="Schoolbell"/>
              </a:rPr>
              <a:t>O</a:t>
            </a:r>
            <a:r>
              <a:rPr lang="en-US" kern="1200" dirty="0">
                <a:solidFill>
                  <a:schemeClr val="tx1"/>
                </a:solidFill>
                <a:latin typeface="Arial Rounded MT Bold" panose="020F0704030504030204" pitchFamily="34" charset="0"/>
                <a:sym typeface="Schoolbell"/>
              </a:rPr>
              <a:t>perator</a:t>
            </a:r>
            <a:r>
              <a:rPr lang="en-US" kern="1200">
                <a:solidFill>
                  <a:schemeClr val="tx1"/>
                </a:solidFill>
                <a:latin typeface="Arial Rounded MT Bold" panose="020F0704030504030204" pitchFamily="34" charset="0"/>
                <a:sym typeface="Schoolbell"/>
              </a:rPr>
              <a:t>, Sequence, </a:t>
            </a:r>
            <a:r>
              <a:rPr lang="en-US" kern="120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  <a:sym typeface="Schoolbell"/>
              </a:rPr>
              <a:t>Flowchart, </a:t>
            </a:r>
            <a:r>
              <a:rPr lang="en-US" kern="1200">
                <a:solidFill>
                  <a:schemeClr val="tx1"/>
                </a:solidFill>
                <a:latin typeface="Arial Rounded MT Bold" panose="020F0704030504030204" pitchFamily="34" charset="0"/>
                <a:sym typeface="Schoolbell"/>
              </a:rPr>
              <a:t>Pseudocode</a:t>
            </a:r>
            <a:endParaRPr kern="1200" dirty="0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  <a:sym typeface="Schoolbel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defTabSz="685800"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choolbell"/>
              </a:rPr>
              <a:t>Tim Ajar Dasar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Schoolbell"/>
              </a:rPr>
              <a:t>Pemrograman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choolbell"/>
              </a:rPr>
              <a:t> 2026</a:t>
            </a:r>
            <a:endParaRPr kern="1200" dirty="0">
              <a:solidFill>
                <a:schemeClr val="tx1"/>
              </a:solidFill>
              <a:latin typeface="+mn-lt"/>
              <a:ea typeface="+mn-ea"/>
              <a:cs typeface="+mn-cs"/>
              <a:sym typeface="Schoolbel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 err="1">
                <a:ea typeface="Schoolbell"/>
                <a:cs typeface="Schoolbell"/>
                <a:sym typeface="Schoolbell"/>
              </a:rPr>
              <a:t>Tujuan</a:t>
            </a:r>
            <a:endParaRPr sz="4000" dirty="0">
              <a:ea typeface="Schoolbell"/>
              <a:cs typeface="Schoolbell"/>
              <a:sym typeface="Schoolbell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 err="1">
                <a:ea typeface="Schoolbell"/>
                <a:cs typeface="Schoolbell"/>
                <a:sym typeface="Schoolbell"/>
              </a:rPr>
              <a:t>Mahasiswa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memahami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dan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mampu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menjelaskan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tentang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operator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100"/>
            </a:pPr>
            <a:r>
              <a:rPr lang="en-US" sz="2400" dirty="0" err="1">
                <a:ea typeface="Schoolbell"/>
                <a:cs typeface="Schoolbell"/>
                <a:sym typeface="Schoolbell"/>
              </a:rPr>
              <a:t>Mahasiswa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memahami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dan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mampu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menerapkan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sequence di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pemrograman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Java</a:t>
            </a:r>
          </a:p>
          <a:p>
            <a:pPr algn="just">
              <a:lnSpc>
                <a:spcPct val="150000"/>
              </a:lnSpc>
              <a:buClr>
                <a:schemeClr val="dk1"/>
              </a:buClr>
              <a:buSzPts val="2100"/>
            </a:pPr>
            <a:r>
              <a:rPr lang="en-US" sz="2400" dirty="0" err="1">
                <a:ea typeface="Schoolbell"/>
                <a:cs typeface="Schoolbell"/>
                <a:sym typeface="Schoolbell"/>
              </a:rPr>
              <a:t>Mahasiswa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memahami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dan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mampu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membuat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algoritma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dalam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bentuk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flowchart</a:t>
            </a:r>
          </a:p>
          <a:p>
            <a:pPr marL="171450" lvl="0" indent="-171450" algn="just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400" dirty="0" err="1">
                <a:ea typeface="Schoolbell"/>
                <a:cs typeface="Schoolbell"/>
                <a:sym typeface="Schoolbell"/>
              </a:rPr>
              <a:t>Mahasiswa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memahami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dan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mampu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membuat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algortima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dalam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ea typeface="Schoolbell"/>
                <a:cs typeface="Schoolbell"/>
                <a:sym typeface="Schoolbell"/>
              </a:rPr>
              <a:t>bentuk</a:t>
            </a:r>
            <a:r>
              <a:rPr lang="en-US" sz="2400" dirty="0">
                <a:ea typeface="Schoolbell"/>
                <a:cs typeface="Schoolbell"/>
                <a:sym typeface="Schoolbell"/>
              </a:rPr>
              <a:t> pseudocode</a:t>
            </a:r>
            <a:endParaRPr sz="2400" dirty="0">
              <a:ea typeface="Schoolbell"/>
              <a:cs typeface="Schoolbell"/>
              <a:sym typeface="Schoolbel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4C42-D545-C5A5-FE81-D59A6095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4286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masis MT Pro Medium" panose="02040604050005020304" pitchFamily="18" charset="0"/>
              </a:rPr>
              <a:t>OPERATOR</a:t>
            </a:r>
            <a:endParaRPr lang="en-GY" sz="8000" b="1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73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>
              <a:lnSpc>
                <a:spcPct val="100000"/>
              </a:lnSpc>
              <a:buClr>
                <a:srgbClr val="000000"/>
              </a:buClr>
              <a:buSzPct val="100000"/>
            </a:pPr>
            <a:r>
              <a:rPr lang="en-US" sz="4000" kern="1200" dirty="0" err="1">
                <a:solidFill>
                  <a:schemeClr val="tx1"/>
                </a:solidFill>
                <a:latin typeface="+mj-lt"/>
                <a:cs typeface="Arial"/>
                <a:sym typeface="Schoolbell"/>
              </a:rPr>
              <a:t>Jenis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cs typeface="Arial"/>
                <a:sym typeface="Schoolbell"/>
              </a:rPr>
              <a:t> operator</a:t>
            </a:r>
            <a:endParaRPr sz="4000" kern="1200" dirty="0">
              <a:solidFill>
                <a:schemeClr val="tx1"/>
              </a:solidFill>
              <a:latin typeface="+mj-lt"/>
              <a:cs typeface="Arial"/>
              <a:sym typeface="Arial"/>
            </a:endParaRPr>
          </a:p>
        </p:txBody>
      </p:sp>
      <p:sp>
        <p:nvSpPr>
          <p:cNvPr id="243" name="Google Shape;24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Aritmatika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endParaRPr sz="2400" dirty="0">
              <a:latin typeface="+mn-lt"/>
              <a:ea typeface="Schoolbell"/>
              <a:cs typeface="Schoolbell"/>
              <a:sym typeface="Schoolbell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Increment dan Decrement</a:t>
            </a:r>
            <a:endParaRPr sz="2400" dirty="0">
              <a:latin typeface="+mn-lt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Assignment</a:t>
            </a:r>
            <a:endParaRPr sz="2400" dirty="0">
              <a:latin typeface="+mn-lt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Relasi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 </a:t>
            </a:r>
            <a:endParaRPr sz="2400" dirty="0">
              <a:latin typeface="+mn-lt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 Operator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Logika</a:t>
            </a:r>
            <a:endParaRPr sz="2400" dirty="0">
              <a:latin typeface="+mn-lt"/>
              <a:ea typeface="Schoolbell"/>
              <a:cs typeface="Schoolbell"/>
              <a:sym typeface="Schoolbell"/>
            </a:endParaRPr>
          </a:p>
          <a:p>
            <a:pPr marL="514350" lvl="0" indent="-5143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choolbell"/>
              <a:buAutoNum type="arabicPeriod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Bitwise</a:t>
            </a:r>
            <a:endParaRPr sz="2400" dirty="0">
              <a:latin typeface="+mn-lt"/>
            </a:endParaRPr>
          </a:p>
        </p:txBody>
      </p:sp>
      <p:sp>
        <p:nvSpPr>
          <p:cNvPr id="244" name="Google Shape;244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/>
          <p:nvPr/>
        </p:nvSpPr>
        <p:spPr>
          <a:xfrm>
            <a:off x="599090" y="2904141"/>
            <a:ext cx="11020095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1</a:t>
            </a:r>
            <a:r>
              <a:rPr lang="en-US" sz="32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. Operator </a:t>
            </a:r>
            <a:r>
              <a:rPr lang="en-US" sz="3200" b="1" dirty="0" err="1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Aritmetik</a:t>
            </a:r>
            <a:r>
              <a:rPr lang="en-US" sz="32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 (</a:t>
            </a:r>
            <a:r>
              <a:rPr lang="en-US" sz="3200" b="1" dirty="0" err="1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sudah</a:t>
            </a:r>
            <a:r>
              <a:rPr lang="en-US" sz="32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dibahas</a:t>
            </a:r>
            <a:r>
              <a:rPr lang="en-US" sz="32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dipertemuan</a:t>
            </a:r>
            <a:r>
              <a:rPr lang="en-US" sz="32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 2)</a:t>
            </a:r>
            <a:endParaRPr sz="16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CA8247A9-42F5-6CC5-3430-709DB72E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2">
            <a:extLst>
              <a:ext uri="{FF2B5EF4-FFF2-40B4-BE49-F238E27FC236}">
                <a16:creationId xmlns:a16="http://schemas.microsoft.com/office/drawing/2014/main" id="{EA0E7855-2480-73FA-1C86-D556A8466E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125" y="1184275"/>
            <a:ext cx="9144000" cy="56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>
            <a:extLst>
              <a:ext uri="{FF2B5EF4-FFF2-40B4-BE49-F238E27FC236}">
                <a16:creationId xmlns:a16="http://schemas.microsoft.com/office/drawing/2014/main" id="{07746044-E554-00BB-6ED4-54AD2023FF60}"/>
              </a:ext>
            </a:extLst>
          </p:cNvPr>
          <p:cNvSpPr/>
          <p:nvPr/>
        </p:nvSpPr>
        <p:spPr>
          <a:xfrm>
            <a:off x="1919288" y="476251"/>
            <a:ext cx="712946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2</a:t>
            </a:r>
            <a:r>
              <a:rPr lang="en-US" sz="2800" b="1" dirty="0">
                <a:solidFill>
                  <a:schemeClr val="dk1"/>
                </a:solidFill>
                <a:latin typeface="+mj-lt"/>
                <a:ea typeface="Schoolbell"/>
                <a:cs typeface="Schoolbell"/>
                <a:sym typeface="Schoolbell"/>
              </a:rPr>
              <a:t>. Operator Increment dan Decrement</a:t>
            </a:r>
            <a:endParaRPr dirty="0">
              <a:latin typeface="+mj-lt"/>
            </a:endParaRPr>
          </a:p>
        </p:txBody>
      </p:sp>
      <p:sp>
        <p:nvSpPr>
          <p:cNvPr id="265" name="Google Shape;265;p22">
            <a:extLst>
              <a:ext uri="{FF2B5EF4-FFF2-40B4-BE49-F238E27FC236}">
                <a16:creationId xmlns:a16="http://schemas.microsoft.com/office/drawing/2014/main" id="{91FF2D7B-7AA6-AFD3-BB92-E6E1EA7642C4}"/>
              </a:ext>
            </a:extLst>
          </p:cNvPr>
          <p:cNvSpPr/>
          <p:nvPr/>
        </p:nvSpPr>
        <p:spPr>
          <a:xfrm>
            <a:off x="2063750" y="1628776"/>
            <a:ext cx="80645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Operator Increment dan Decrement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menaikan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atau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 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menurunkan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suatu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nilai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integer (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bilangan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bulat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)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sebanyak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satu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satuan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, dan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hanya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 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dapat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pada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variabel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. </a:t>
            </a:r>
            <a:endParaRPr sz="2400" dirty="0">
              <a:latin typeface="+mn-lt"/>
            </a:endParaRPr>
          </a:p>
        </p:txBody>
      </p:sp>
      <p:graphicFrame>
        <p:nvGraphicFramePr>
          <p:cNvPr id="266" name="Google Shape;266;p22">
            <a:extLst>
              <a:ext uri="{FF2B5EF4-FFF2-40B4-BE49-F238E27FC236}">
                <a16:creationId xmlns:a16="http://schemas.microsoft.com/office/drawing/2014/main" id="{C18E9114-C733-7C27-B31C-8839F42E395F}"/>
              </a:ext>
            </a:extLst>
          </p:cNvPr>
          <p:cNvGraphicFramePr/>
          <p:nvPr/>
        </p:nvGraphicFramePr>
        <p:xfrm>
          <a:off x="1539875" y="3983444"/>
          <a:ext cx="9603406" cy="3038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006823" imgH="2423394" progId="Word.Document.12">
                  <p:embed/>
                </p:oleObj>
              </mc:Choice>
              <mc:Fallback>
                <p:oleObj name="Document" r:id="rId4" imgW="8006823" imgH="2423394" progId="Word.Document.12">
                  <p:embed/>
                  <p:pic>
                    <p:nvPicPr>
                      <p:cNvPr id="266" name="Google Shape;266;p22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539875" y="3983444"/>
                        <a:ext cx="9603406" cy="3038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944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23"/>
          <p:cNvPicPr preferRelativeResize="0"/>
          <p:nvPr/>
        </p:nvPicPr>
        <p:blipFill rotWithShape="1">
          <a:blip r:embed="rId3">
            <a:alphaModFix/>
          </a:blip>
          <a:srcRect r="25819"/>
          <a:stretch/>
        </p:blipFill>
        <p:spPr>
          <a:xfrm>
            <a:off x="2596907" y="502781"/>
            <a:ext cx="7336751" cy="585357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7ED28-C859-26E3-E4D4-B7C9373A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Contoh</a:t>
            </a:r>
            <a:endParaRPr lang="en-GY" sz="4000" b="1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761900E-2D22-3459-3FA3-BA5A9E166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26" y="1656927"/>
            <a:ext cx="5441110" cy="2111032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EF1294C-1799-610C-29BA-C01D2BA9A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90582"/>
            <a:ext cx="5726617" cy="2271973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496B444-E35E-4E59-2B74-872156570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7426" y="3862555"/>
            <a:ext cx="4790090" cy="239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++x</a:t>
            </a: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berarti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"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naikkan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dulu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baru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gunakan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hasilnya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". 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berubah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dari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5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menjadi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6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sebelum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nilai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tersebut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diberikan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4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ke</a:t>
            </a:r>
            <a:r>
              <a:rPr kumimoji="0" lang="en-GY" altLang="en-GY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endParaRPr kumimoji="0" lang="en-GY" altLang="en-GY" sz="2400" b="1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Y" altLang="en-GY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56281B9-4E81-4BC6-A48B-401646E8E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24595"/>
            <a:ext cx="4790090" cy="247039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Y" sz="2400" b="1" dirty="0"/>
              <a:t>x++ </a:t>
            </a:r>
            <a:r>
              <a:rPr lang="en-GY" sz="2400" dirty="0" err="1"/>
              <a:t>berarti</a:t>
            </a:r>
            <a:r>
              <a:rPr lang="en-GY" sz="2400" dirty="0"/>
              <a:t> "</a:t>
            </a:r>
            <a:r>
              <a:rPr lang="en-GY" sz="2400" dirty="0" err="1"/>
              <a:t>gunakan</a:t>
            </a:r>
            <a:r>
              <a:rPr lang="en-GY" sz="2400" dirty="0"/>
              <a:t> </a:t>
            </a:r>
            <a:r>
              <a:rPr lang="en-GY" sz="2400" dirty="0" err="1"/>
              <a:t>nilai</a:t>
            </a:r>
            <a:r>
              <a:rPr lang="en-GY" sz="2400" dirty="0"/>
              <a:t> </a:t>
            </a:r>
            <a:r>
              <a:rPr lang="en-GY" sz="2400" b="1" dirty="0"/>
              <a:t>x</a:t>
            </a:r>
            <a:r>
              <a:rPr lang="en-GY" sz="2400" dirty="0"/>
              <a:t> </a:t>
            </a:r>
            <a:r>
              <a:rPr lang="en-GY" sz="2400" dirty="0" err="1"/>
              <a:t>dulu</a:t>
            </a:r>
            <a:r>
              <a:rPr lang="en-GY" sz="2400" dirty="0"/>
              <a:t>, </a:t>
            </a:r>
            <a:r>
              <a:rPr lang="en-GY" sz="2400" dirty="0" err="1"/>
              <a:t>baru</a:t>
            </a:r>
            <a:r>
              <a:rPr lang="en-GY" sz="2400" dirty="0"/>
              <a:t> </a:t>
            </a:r>
            <a:r>
              <a:rPr lang="en-GY" sz="2400" dirty="0" err="1"/>
              <a:t>naikkan</a:t>
            </a:r>
            <a:r>
              <a:rPr lang="en-GY" sz="2400" dirty="0"/>
              <a:t> </a:t>
            </a:r>
            <a:r>
              <a:rPr lang="en-GY" sz="2400" b="1" dirty="0"/>
              <a:t>x</a:t>
            </a:r>
            <a:r>
              <a:rPr lang="en-GY" sz="2400" dirty="0"/>
              <a:t>". </a:t>
            </a:r>
          </a:p>
          <a:p>
            <a:pPr lvl="0"/>
            <a:r>
              <a:rPr lang="en-GY" sz="2400" b="1" dirty="0"/>
              <a:t>y</a:t>
            </a:r>
            <a:r>
              <a:rPr lang="en-GY" sz="2400" dirty="0"/>
              <a:t> </a:t>
            </a:r>
            <a:r>
              <a:rPr lang="en-GY" sz="2400" dirty="0" err="1"/>
              <a:t>mendapatkan</a:t>
            </a:r>
            <a:r>
              <a:rPr lang="en-GY" sz="2400" dirty="0"/>
              <a:t> </a:t>
            </a:r>
            <a:r>
              <a:rPr lang="en-GY" sz="2400" dirty="0" err="1"/>
              <a:t>nilai</a:t>
            </a:r>
            <a:r>
              <a:rPr lang="en-GY" sz="2400" dirty="0"/>
              <a:t> </a:t>
            </a:r>
            <a:r>
              <a:rPr lang="en-GY" sz="2400" b="1" dirty="0"/>
              <a:t>x</a:t>
            </a:r>
            <a:r>
              <a:rPr lang="en-GY" sz="2400" dirty="0"/>
              <a:t> (</a:t>
            </a:r>
            <a:r>
              <a:rPr lang="en-GY" sz="2400" dirty="0" err="1"/>
              <a:t>yaitu</a:t>
            </a:r>
            <a:r>
              <a:rPr lang="en-GY" sz="2400" dirty="0"/>
              <a:t> 5), dan </a:t>
            </a:r>
            <a:r>
              <a:rPr lang="en-GY" sz="2400" dirty="0" err="1"/>
              <a:t>kemudian</a:t>
            </a:r>
            <a:r>
              <a:rPr lang="en-GY" sz="2400" dirty="0"/>
              <a:t> </a:t>
            </a:r>
            <a:r>
              <a:rPr lang="en-GY" sz="2400" b="1" dirty="0"/>
              <a:t>x</a:t>
            </a:r>
            <a:r>
              <a:rPr lang="en-GY" sz="2400" dirty="0"/>
              <a:t> </a:t>
            </a:r>
            <a:r>
              <a:rPr lang="en-GY" sz="2400" dirty="0" err="1"/>
              <a:t>berubah</a:t>
            </a:r>
            <a:r>
              <a:rPr lang="en-GY" sz="2400" dirty="0"/>
              <a:t> </a:t>
            </a:r>
            <a:r>
              <a:rPr lang="en-GY" sz="2400" dirty="0" err="1"/>
              <a:t>menjadi</a:t>
            </a:r>
            <a:r>
              <a:rPr lang="en-GY" sz="2400" dirty="0"/>
              <a:t> 6 </a:t>
            </a:r>
            <a:r>
              <a:rPr lang="en-GY" sz="2400" dirty="0" err="1"/>
              <a:t>setelah</a:t>
            </a:r>
            <a:r>
              <a:rPr lang="en-GY" sz="2400" dirty="0"/>
              <a:t> baris </a:t>
            </a:r>
            <a:r>
              <a:rPr lang="en-GY" sz="2400" dirty="0" err="1"/>
              <a:t>tersebut</a:t>
            </a:r>
            <a:r>
              <a:rPr lang="en-GY" sz="2400" dirty="0"/>
              <a:t> </a:t>
            </a:r>
            <a:r>
              <a:rPr lang="en-GY" sz="2400" dirty="0" err="1"/>
              <a:t>selesai</a:t>
            </a:r>
            <a:r>
              <a:rPr lang="en-GY" sz="2400" dirty="0"/>
              <a:t> </a:t>
            </a:r>
            <a:r>
              <a:rPr lang="en-GY" sz="2400" dirty="0" err="1"/>
              <a:t>dieksekusi</a:t>
            </a:r>
            <a:r>
              <a:rPr lang="en-GY" sz="2400" dirty="0"/>
              <a:t>. </a:t>
            </a:r>
            <a:endParaRPr lang="en-GY" altLang="en-GY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29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 txBox="1">
            <a:spLocks noGrp="1"/>
          </p:cNvSpPr>
          <p:nvPr>
            <p:ph type="title"/>
          </p:nvPr>
        </p:nvSpPr>
        <p:spPr>
          <a:xfrm>
            <a:off x="1635126" y="433134"/>
            <a:ext cx="871588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3.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Operator Assignment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278" name="Google Shape;278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38453" y="3117761"/>
            <a:ext cx="59055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1635126" y="1430250"/>
            <a:ext cx="903287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Operator assignment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dalam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Java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memberikan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nilai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ke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variabel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. Operator assignment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hanya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berupa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‘=’, </a:t>
            </a:r>
            <a:endParaRPr sz="240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shortcut assignment operator yang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penting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, yang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digambarkan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dalam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tabel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berikut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: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/>
          <p:cNvPicPr preferRelativeResize="0"/>
          <p:nvPr/>
        </p:nvPicPr>
        <p:blipFill rotWithShape="1">
          <a:blip r:embed="rId3">
            <a:alphaModFix/>
          </a:blip>
          <a:srcRect b="8609"/>
          <a:stretch/>
        </p:blipFill>
        <p:spPr>
          <a:xfrm>
            <a:off x="1524001" y="1"/>
            <a:ext cx="1979613" cy="1889125"/>
          </a:xfrm>
          <a:prstGeom prst="rect">
            <a:avLst/>
          </a:prstGeom>
          <a:solidFill>
            <a:srgbClr val="FFD558"/>
          </a:solidFill>
          <a:ln>
            <a:noFill/>
          </a:ln>
        </p:spPr>
      </p:pic>
      <p:sp>
        <p:nvSpPr>
          <p:cNvPr id="286" name="Google Shape;286;p25"/>
          <p:cNvSpPr txBox="1">
            <a:spLocks noGrp="1"/>
          </p:cNvSpPr>
          <p:nvPr>
            <p:ph type="title"/>
          </p:nvPr>
        </p:nvSpPr>
        <p:spPr>
          <a:xfrm>
            <a:off x="2782888" y="274638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Contoh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kode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program</a:t>
            </a:r>
            <a:endParaRPr sz="4000" dirty="0">
              <a:latin typeface="+mj-lt"/>
            </a:endParaRPr>
          </a:p>
        </p:txBody>
      </p:sp>
      <p:pic>
        <p:nvPicPr>
          <p:cNvPr id="287" name="Google Shape;287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522412" y="1692276"/>
            <a:ext cx="5292726" cy="50260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288" name="Google Shape;288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6725" y="2643189"/>
            <a:ext cx="4537075" cy="237648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6"/>
          <p:cNvPicPr preferRelativeResize="0"/>
          <p:nvPr/>
        </p:nvPicPr>
        <p:blipFill rotWithShape="1">
          <a:blip r:embed="rId3">
            <a:alphaModFix/>
          </a:blip>
          <a:srcRect b="8609"/>
          <a:stretch/>
        </p:blipFill>
        <p:spPr>
          <a:xfrm>
            <a:off x="1524001" y="1"/>
            <a:ext cx="1979613" cy="1889125"/>
          </a:xfrm>
          <a:prstGeom prst="rect">
            <a:avLst/>
          </a:prstGeom>
          <a:solidFill>
            <a:srgbClr val="FFD558"/>
          </a:solidFill>
          <a:ln>
            <a:noFill/>
          </a:ln>
        </p:spPr>
      </p:pic>
      <p:sp>
        <p:nvSpPr>
          <p:cNvPr id="295" name="Google Shape;295;p26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Contoh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kode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program</a:t>
            </a:r>
            <a:endParaRPr sz="4000" dirty="0">
              <a:latin typeface="+mj-lt"/>
            </a:endParaRPr>
          </a:p>
        </p:txBody>
      </p:sp>
      <p:sp>
        <p:nvSpPr>
          <p:cNvPr id="296" name="Google Shape;296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6"/>
          <p:cNvSpPr txBox="1">
            <a:spLocks noGrp="1"/>
          </p:cNvSpPr>
          <p:nvPr>
            <p:ph type="body" idx="1"/>
          </p:nvPr>
        </p:nvSpPr>
        <p:spPr>
          <a:xfrm>
            <a:off x="1981200" y="2163763"/>
            <a:ext cx="82296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a = a+5; bisa dipersingkat menjadi a += 5;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b = b–5; bisa dipersingkat menjadi b -= 5;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c = c*5; bisa dipersingkat menjadi c *= 5;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d = d/5; bisa dipersingkat menjadi d /= 5;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e = e%5; bisa dipersingkat menjadi e %= 5;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>
            <a:spLocks noGrp="1"/>
          </p:cNvSpPr>
          <p:nvPr>
            <p:ph type="title"/>
          </p:nvPr>
        </p:nvSpPr>
        <p:spPr>
          <a:xfrm>
            <a:off x="1635126" y="393699"/>
            <a:ext cx="860615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4.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Operator </a:t>
            </a: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Relasi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 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03" name="Google Shape;303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890016" y="1714500"/>
            <a:ext cx="1024128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Operator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relasi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dalam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Java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menghasilkan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nilai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boolean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yang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sering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mengatur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alur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jalannya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Schoolbell"/>
                <a:cs typeface="Schoolbell"/>
                <a:sym typeface="Schoolbell"/>
              </a:rPr>
              <a:t> program.</a:t>
            </a:r>
            <a:endParaRPr sz="2400" dirty="0">
              <a:solidFill>
                <a:srgbClr val="000000"/>
              </a:solidFill>
              <a:latin typeface="+mn-lt"/>
              <a:ea typeface="Schoolbell"/>
              <a:cs typeface="Schoolbell"/>
              <a:sym typeface="Schoolbell"/>
            </a:endParaRPr>
          </a:p>
        </p:txBody>
      </p:sp>
      <p:pic>
        <p:nvPicPr>
          <p:cNvPr id="305" name="Google Shape;30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4599" y="3052764"/>
            <a:ext cx="7083425" cy="3411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838" y="924207"/>
            <a:ext cx="5271470" cy="500958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312" name="Google Shape;312;p28"/>
          <p:cNvPicPr preferRelativeResize="0"/>
          <p:nvPr/>
        </p:nvPicPr>
        <p:blipFill rotWithShape="1">
          <a:blip r:embed="rId4">
            <a:alphaModFix/>
          </a:blip>
          <a:srcRect r="18330"/>
          <a:stretch/>
        </p:blipFill>
        <p:spPr>
          <a:xfrm>
            <a:off x="6548278" y="2358729"/>
            <a:ext cx="4467898" cy="214054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313" name="Google Shape;313;p28"/>
          <p:cNvSpPr/>
          <p:nvPr/>
        </p:nvSpPr>
        <p:spPr>
          <a:xfrm>
            <a:off x="7254232" y="1484784"/>
            <a:ext cx="24817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FF0000"/>
                </a:solidFill>
                <a:latin typeface="+mn-lt"/>
                <a:ea typeface="Schoolbell"/>
                <a:cs typeface="Schoolbell"/>
                <a:sym typeface="Schoolbell"/>
              </a:rPr>
              <a:t>menghasilkan</a:t>
            </a:r>
            <a:endParaRPr sz="2800" dirty="0">
              <a:solidFill>
                <a:srgbClr val="FF0000"/>
              </a:solidFill>
              <a:latin typeface="+mn-lt"/>
              <a:ea typeface="Schoolbell"/>
              <a:cs typeface="Schoolbell"/>
              <a:sym typeface="Schoolbel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>
            <a:spLocks noGrp="1"/>
          </p:cNvSpPr>
          <p:nvPr>
            <p:ph type="title"/>
          </p:nvPr>
        </p:nvSpPr>
        <p:spPr>
          <a:xfrm>
            <a:off x="838200" y="503236"/>
            <a:ext cx="9372600" cy="87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5. Operator </a:t>
            </a: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Logika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19" name="Google Shape;319;p29"/>
          <p:cNvSpPr txBox="1">
            <a:spLocks noGrp="1"/>
          </p:cNvSpPr>
          <p:nvPr>
            <p:ph type="body" idx="1"/>
          </p:nvPr>
        </p:nvSpPr>
        <p:spPr>
          <a:xfrm>
            <a:off x="838200" y="1267968"/>
            <a:ext cx="10515600" cy="490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ini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ekspresi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logik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yang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menghasilkan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boolean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. Operator-operator yang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adalah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AND (</a:t>
            </a:r>
            <a:r>
              <a:rPr lang="en-US" sz="2400" dirty="0">
                <a:latin typeface="+mn-lt"/>
              </a:rPr>
              <a:t> &amp;&amp; 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), OR ( ¦ ¦ ) dan NOT ( ! ).</a:t>
            </a:r>
            <a:endParaRPr dirty="0">
              <a:latin typeface="+mn-lt"/>
            </a:endParaRPr>
          </a:p>
        </p:txBody>
      </p:sp>
      <p:sp>
        <p:nvSpPr>
          <p:cNvPr id="320" name="Google Shape;320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5920" y="2424113"/>
            <a:ext cx="6151557" cy="429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>
            <a:spLocks noGrp="1"/>
          </p:cNvSpPr>
          <p:nvPr>
            <p:ph type="title"/>
          </p:nvPr>
        </p:nvSpPr>
        <p:spPr>
          <a:xfrm>
            <a:off x="2782888" y="274638"/>
            <a:ext cx="74279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Contoh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4000" dirty="0" err="1">
                <a:latin typeface="+mj-lt"/>
                <a:ea typeface="Schoolbell"/>
                <a:cs typeface="Schoolbell"/>
                <a:sym typeface="Schoolbell"/>
              </a:rPr>
              <a:t>kode</a:t>
            </a:r>
            <a:r>
              <a:rPr lang="en-US" sz="4000" dirty="0">
                <a:latin typeface="+mj-lt"/>
                <a:ea typeface="Schoolbell"/>
                <a:cs typeface="Schoolbell"/>
                <a:sym typeface="Schoolbell"/>
              </a:rPr>
              <a:t> program</a:t>
            </a:r>
            <a:endParaRPr sz="4000" dirty="0">
              <a:latin typeface="+mj-lt"/>
            </a:endParaRPr>
          </a:p>
        </p:txBody>
      </p:sp>
      <p:sp>
        <p:nvSpPr>
          <p:cNvPr id="327" name="Google Shape;327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9175" y="1417638"/>
            <a:ext cx="7921625" cy="46355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329" name="Google Shape;329;p30"/>
          <p:cNvPicPr preferRelativeResize="0"/>
          <p:nvPr/>
        </p:nvPicPr>
        <p:blipFill rotWithShape="1">
          <a:blip r:embed="rId4">
            <a:alphaModFix/>
          </a:blip>
          <a:srcRect r="25260"/>
          <a:stretch/>
        </p:blipFill>
        <p:spPr>
          <a:xfrm>
            <a:off x="415592" y="2439987"/>
            <a:ext cx="4734592" cy="41433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838200" y="592931"/>
            <a:ext cx="937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6. Operator Bitwise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35" name="Google Shape;335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Operator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ini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melakukan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manipulasi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dari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bilangan</a:t>
            </a:r>
            <a:endParaRPr sz="2400" dirty="0">
              <a:latin typeface="+mn-lt"/>
              <a:ea typeface="Schoolbell"/>
              <a:cs typeface="Schoolbell"/>
              <a:sym typeface="Schoolbell"/>
            </a:endParaRPr>
          </a:p>
          <a:p>
            <a:pPr marL="171450" lvl="0" indent="-17145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Bitwise OR(|)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Hasil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ketika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salah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satu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bit-bit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1,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selain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itu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0.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Contoh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336" name="Google Shape;33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2477" y="4001293"/>
            <a:ext cx="5622336" cy="272018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838200" y="452438"/>
            <a:ext cx="937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6. Operator Bitwise(2)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43" name="Google Shape;343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Bitwise AND(&amp;)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Hasil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ketika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semua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bit-bit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1,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selain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itu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0.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Contoh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344" name="Google Shape;34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0266" y="3565670"/>
            <a:ext cx="5671775" cy="2469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838200" y="452438"/>
            <a:ext cx="937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6. Operator Bitwise(3)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51" name="Google Shape;35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Bitwise XOR(^)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Nilai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ketika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ada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 dan 0,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selain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itu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0.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Contoh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Schoolbell"/>
              <a:ea typeface="Schoolbell"/>
              <a:cs typeface="Schoolbell"/>
              <a:sym typeface="Schoolbell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Schoolbell"/>
              <a:ea typeface="Schoolbell"/>
              <a:cs typeface="Schoolbell"/>
              <a:sym typeface="Schoolbell"/>
            </a:endParaRPr>
          </a:p>
        </p:txBody>
      </p:sp>
      <p:sp>
        <p:nvSpPr>
          <p:cNvPr id="352" name="Google Shape;352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5057" y="3428999"/>
            <a:ext cx="5336855" cy="2553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 txBox="1">
            <a:spLocks noGrp="1"/>
          </p:cNvSpPr>
          <p:nvPr>
            <p:ph type="title"/>
          </p:nvPr>
        </p:nvSpPr>
        <p:spPr>
          <a:xfrm>
            <a:off x="838200" y="503236"/>
            <a:ext cx="937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6. Operator Bitwise(4)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59" name="Google Shape;359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Bitwise Complement(~)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Nilai bit yang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berkebalikan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,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ketika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bit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maka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menghasilkan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0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sedangkan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bernilai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0 </a:t>
            </a: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menghasilkan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 1.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 err="1">
                <a:latin typeface="+mn-lt"/>
                <a:ea typeface="Schoolbell"/>
                <a:cs typeface="Schoolbell"/>
                <a:sym typeface="Schoolbell"/>
              </a:rPr>
              <a:t>Contoh</a:t>
            </a:r>
            <a:r>
              <a:rPr lang="en-US" sz="2400" dirty="0">
                <a:latin typeface="+mn-lt"/>
                <a:ea typeface="Schoolbell"/>
                <a:cs typeface="Schoolbell"/>
                <a:sym typeface="Schoolbell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Schoolbell"/>
              <a:ea typeface="Schoolbell"/>
              <a:cs typeface="Schoolbell"/>
              <a:sym typeface="Schoolbell"/>
            </a:endParaRPr>
          </a:p>
          <a:p>
            <a:pPr marL="0" lvl="0" indent="0" algn="l" rtl="0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Schoolbell"/>
              <a:ea typeface="Schoolbell"/>
              <a:cs typeface="Schoolbell"/>
              <a:sym typeface="Schoolbell"/>
            </a:endParaRPr>
          </a:p>
        </p:txBody>
      </p:sp>
      <p:sp>
        <p:nvSpPr>
          <p:cNvPr id="360" name="Google Shape;360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"/>
          <p:cNvSpPr txBox="1"/>
          <p:nvPr/>
        </p:nvSpPr>
        <p:spPr>
          <a:xfrm>
            <a:off x="8149286" y="3745718"/>
            <a:ext cx="206151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~n=-(n+1)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~(-n)=(n-1)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34"/>
          <p:cNvPicPr preferRelativeResize="0"/>
          <p:nvPr/>
        </p:nvPicPr>
        <p:blipFill rotWithShape="1">
          <a:blip r:embed="rId3">
            <a:alphaModFix/>
          </a:blip>
          <a:srcRect r="2703" b="4818"/>
          <a:stretch/>
        </p:blipFill>
        <p:spPr>
          <a:xfrm>
            <a:off x="2197519" y="3745718"/>
            <a:ext cx="5941325" cy="2205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CC70-783C-F3F9-B429-23107BD7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525" y="2414644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SEQUENCE</a:t>
            </a:r>
            <a:endParaRPr lang="en-GY" sz="6000" b="1" dirty="0"/>
          </a:p>
        </p:txBody>
      </p:sp>
    </p:spTree>
    <p:extLst>
      <p:ext uri="{BB962C8B-B14F-4D97-AF65-F5344CB8AC3E}">
        <p14:creationId xmlns:p14="http://schemas.microsoft.com/office/powerpoint/2010/main" val="3538880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E5EF-239A-6BA1-13C2-4622BC38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Sequence…(1)</a:t>
            </a:r>
            <a:endParaRPr lang="en-GY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9F1A8-9D64-B46E-177E-C34A8D0FF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/>
              <a:t>Sequence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b="1" dirty="0" err="1"/>
              <a:t>alur</a:t>
            </a:r>
            <a:r>
              <a:rPr lang="en-US" sz="2800" b="1" dirty="0"/>
              <a:t> </a:t>
            </a:r>
            <a:r>
              <a:rPr lang="en-US" sz="2800" b="1" dirty="0" err="1"/>
              <a:t>eksekusi</a:t>
            </a:r>
            <a:r>
              <a:rPr lang="en-US" sz="2800" b="1" dirty="0"/>
              <a:t> </a:t>
            </a:r>
            <a:r>
              <a:rPr lang="en-US" sz="2800" b="1" dirty="0" err="1"/>
              <a:t>instruksi</a:t>
            </a:r>
            <a:r>
              <a:rPr lang="en-US" sz="2800" b="1" dirty="0"/>
              <a:t> </a:t>
            </a:r>
            <a:r>
              <a:rPr lang="en-US" sz="2800" dirty="0"/>
              <a:t>di mana </a:t>
            </a:r>
            <a:r>
              <a:rPr lang="en-US" sz="2800" dirty="0" err="1"/>
              <a:t>setiap</a:t>
            </a:r>
            <a:r>
              <a:rPr lang="en-US" sz="2800" dirty="0"/>
              <a:t> </a:t>
            </a:r>
            <a:r>
              <a:rPr lang="en-US" sz="2800" dirty="0" err="1"/>
              <a:t>instruksi</a:t>
            </a:r>
            <a:r>
              <a:rPr lang="en-US" sz="2800" dirty="0"/>
              <a:t> </a:t>
            </a:r>
            <a:r>
              <a:rPr lang="en-US" sz="2800" dirty="0" err="1"/>
              <a:t>dikerjakan</a:t>
            </a:r>
            <a:r>
              <a:rPr lang="en-US" sz="2800" dirty="0"/>
              <a:t> </a:t>
            </a:r>
            <a:r>
              <a:rPr lang="en-US" sz="2800" dirty="0" err="1"/>
              <a:t>secara</a:t>
            </a:r>
            <a:r>
              <a:rPr lang="en-US" sz="2800" dirty="0"/>
              <a:t> </a:t>
            </a:r>
            <a:r>
              <a:rPr lang="en-US" sz="2800" b="1" dirty="0" err="1"/>
              <a:t>berurutan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urutan</a:t>
            </a:r>
            <a:r>
              <a:rPr lang="en-US" sz="2800" dirty="0"/>
              <a:t> </a:t>
            </a:r>
            <a:r>
              <a:rPr lang="en-US" sz="2800" dirty="0" err="1"/>
              <a:t>penulisannya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kode</a:t>
            </a:r>
            <a:r>
              <a:rPr lang="en-US" sz="2800" dirty="0"/>
              <a:t> program.</a:t>
            </a:r>
          </a:p>
          <a:p>
            <a:pPr algn="just"/>
            <a:r>
              <a:rPr lang="en-US" sz="2800" dirty="0" err="1"/>
              <a:t>Suatu</a:t>
            </a:r>
            <a:r>
              <a:rPr lang="en-US" sz="2800" dirty="0"/>
              <a:t> program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mengikuti</a:t>
            </a:r>
            <a:r>
              <a:rPr lang="en-US" sz="2800" dirty="0"/>
              <a:t> </a:t>
            </a:r>
            <a:r>
              <a:rPr lang="en-US" sz="2800" b="1" dirty="0" err="1"/>
              <a:t>urutan</a:t>
            </a:r>
            <a:r>
              <a:rPr lang="en-US" sz="2800" b="1" dirty="0"/>
              <a:t> </a:t>
            </a:r>
            <a:r>
              <a:rPr lang="en-US" sz="2800" b="1" dirty="0" err="1"/>
              <a:t>instruksi</a:t>
            </a:r>
            <a:r>
              <a:rPr lang="en-US" sz="2800" b="1" dirty="0"/>
              <a:t> </a:t>
            </a:r>
            <a:r>
              <a:rPr lang="en-US" sz="2800" dirty="0"/>
              <a:t>yang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ditentukan</a:t>
            </a:r>
            <a:r>
              <a:rPr lang="en-US" sz="2800" dirty="0"/>
              <a:t> oleh programmer. </a:t>
            </a:r>
            <a:r>
              <a:rPr lang="en-US" sz="2800" b="1" dirty="0" err="1"/>
              <a:t>Misalnya</a:t>
            </a:r>
            <a:r>
              <a:rPr lang="en-US" sz="2800" dirty="0"/>
              <a:t>, </a:t>
            </a:r>
            <a:r>
              <a:rPr lang="en-US" sz="2800" dirty="0" err="1"/>
              <a:t>jika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instruksi</a:t>
            </a:r>
            <a:r>
              <a:rPr lang="en-US" sz="2800" dirty="0"/>
              <a:t> A, B, dan C, </a:t>
            </a:r>
            <a:r>
              <a:rPr lang="en-US" sz="2800" dirty="0" err="1"/>
              <a:t>maka</a:t>
            </a:r>
            <a:r>
              <a:rPr lang="en-US" sz="2800" dirty="0"/>
              <a:t> A </a:t>
            </a:r>
            <a:r>
              <a:rPr lang="en-US" sz="2800" dirty="0" err="1"/>
              <a:t>akan</a:t>
            </a:r>
            <a:r>
              <a:rPr lang="en-US" sz="2800" dirty="0"/>
              <a:t> </a:t>
            </a:r>
            <a:r>
              <a:rPr lang="en-US" sz="2800" dirty="0" err="1"/>
              <a:t>dieksekusi</a:t>
            </a:r>
            <a:r>
              <a:rPr lang="en-US" sz="2800" dirty="0"/>
              <a:t> </a:t>
            </a:r>
            <a:r>
              <a:rPr lang="en-US" sz="2800" dirty="0" err="1"/>
              <a:t>terlebih</a:t>
            </a:r>
            <a:r>
              <a:rPr lang="en-US" sz="2800" dirty="0"/>
              <a:t> </a:t>
            </a:r>
            <a:r>
              <a:rPr lang="en-US" sz="2800" dirty="0" err="1"/>
              <a:t>dahulu</a:t>
            </a:r>
            <a:r>
              <a:rPr lang="en-US" sz="2800" dirty="0"/>
              <a:t>, </a:t>
            </a:r>
            <a:r>
              <a:rPr lang="en-US" sz="2800" dirty="0" err="1"/>
              <a:t>diikuti</a:t>
            </a:r>
            <a:r>
              <a:rPr lang="en-US" sz="2800" dirty="0"/>
              <a:t> oleh B, dan </a:t>
            </a:r>
            <a:r>
              <a:rPr lang="en-US" sz="2800" dirty="0" err="1"/>
              <a:t>kemudian</a:t>
            </a:r>
            <a:r>
              <a:rPr lang="en-US" sz="2800" dirty="0"/>
              <a:t> C.</a:t>
            </a:r>
          </a:p>
          <a:p>
            <a:pPr algn="just"/>
            <a:r>
              <a:rPr lang="en-US" sz="2800" dirty="0" err="1"/>
              <a:t>Urutan</a:t>
            </a:r>
            <a:r>
              <a:rPr lang="en-US" sz="2800" dirty="0"/>
              <a:t> </a:t>
            </a:r>
            <a:r>
              <a:rPr lang="en-US" sz="2800" dirty="0" err="1"/>
              <a:t>eksekusi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b="1" dirty="0"/>
              <a:t>sangat </a:t>
            </a:r>
            <a:r>
              <a:rPr lang="en-US" sz="2800" b="1" dirty="0" err="1"/>
              <a:t>penting</a:t>
            </a:r>
            <a:r>
              <a:rPr lang="en-US" sz="2800" b="1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memastikan</a:t>
            </a:r>
            <a:r>
              <a:rPr lang="en-US" sz="2800" dirty="0"/>
              <a:t> program </a:t>
            </a:r>
            <a:r>
              <a:rPr lang="en-US" sz="2800" dirty="0" err="1"/>
              <a:t>berfungsi</a:t>
            </a:r>
            <a:r>
              <a:rPr lang="en-US" sz="2800" dirty="0"/>
              <a:t> </a:t>
            </a:r>
            <a:r>
              <a:rPr lang="en-US" sz="2800" b="1" dirty="0" err="1"/>
              <a:t>sesuai</a:t>
            </a:r>
            <a:r>
              <a:rPr lang="en-US" sz="2800" b="1" dirty="0"/>
              <a:t> </a:t>
            </a:r>
            <a:r>
              <a:rPr lang="en-US" sz="2800" b="1" dirty="0" err="1"/>
              <a:t>dengan</a:t>
            </a:r>
            <a:r>
              <a:rPr lang="en-US" sz="2800" b="1" dirty="0"/>
              <a:t> </a:t>
            </a:r>
            <a:r>
              <a:rPr lang="en-US" sz="2800" b="1" dirty="0" err="1"/>
              <a:t>logika</a:t>
            </a:r>
            <a:r>
              <a:rPr lang="en-US" sz="2800" b="1" dirty="0"/>
              <a:t> </a:t>
            </a:r>
            <a:r>
              <a:rPr lang="en-US" sz="2800" dirty="0"/>
              <a:t>yang </a:t>
            </a:r>
            <a:r>
              <a:rPr lang="en-US" sz="2800" dirty="0" err="1"/>
              <a:t>diharapkan</a:t>
            </a:r>
            <a:r>
              <a:rPr lang="en-US" sz="2800" dirty="0"/>
              <a:t>. Salah </a:t>
            </a:r>
            <a:r>
              <a:rPr lang="en-US" sz="2800" dirty="0" err="1"/>
              <a:t>urut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menjalankan</a:t>
            </a:r>
            <a:r>
              <a:rPr lang="en-US" sz="2800" dirty="0"/>
              <a:t> </a:t>
            </a:r>
            <a:r>
              <a:rPr lang="en-US" sz="2800" dirty="0" err="1"/>
              <a:t>instruksi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menghasilkan</a:t>
            </a:r>
            <a:r>
              <a:rPr lang="en-US" sz="2800" dirty="0"/>
              <a:t> output yang salah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perilaku</a:t>
            </a:r>
            <a:r>
              <a:rPr lang="en-US" sz="2800" dirty="0"/>
              <a:t> program yang </a:t>
            </a:r>
            <a:r>
              <a:rPr lang="en-US" sz="2800" dirty="0" err="1"/>
              <a:t>tidak</a:t>
            </a:r>
            <a:r>
              <a:rPr lang="en-US" sz="2800" dirty="0"/>
              <a:t> </a:t>
            </a:r>
            <a:r>
              <a:rPr lang="en-US" sz="2800" dirty="0" err="1"/>
              <a:t>diinginkan</a:t>
            </a:r>
            <a:r>
              <a:rPr lang="en-US" sz="2800" dirty="0"/>
              <a:t>.</a:t>
            </a:r>
          </a:p>
          <a:p>
            <a:pPr marL="114300" indent="0" algn="just">
              <a:buNone/>
            </a:pPr>
            <a:endParaRPr lang="en-GY" sz="2800" dirty="0"/>
          </a:p>
        </p:txBody>
      </p:sp>
    </p:spTree>
    <p:extLst>
      <p:ext uri="{BB962C8B-B14F-4D97-AF65-F5344CB8AC3E}">
        <p14:creationId xmlns:p14="http://schemas.microsoft.com/office/powerpoint/2010/main" val="326203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2C30-7305-EA08-9446-245DCE2D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Sequence…(2)</a:t>
            </a:r>
            <a:endParaRPr lang="en-GY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60848-E2CF-98BA-E668-5AD99181D77C}"/>
              </a:ext>
            </a:extLst>
          </p:cNvPr>
          <p:cNvSpPr txBox="1"/>
          <p:nvPr/>
        </p:nvSpPr>
        <p:spPr>
          <a:xfrm flipH="1">
            <a:off x="1096753" y="1907572"/>
            <a:ext cx="383785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 a = 10;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int b = a + 5;</a:t>
            </a:r>
            <a:endParaRPr lang="en-GY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DB232-02F1-C8CF-4EBE-3710C4286DEF}"/>
              </a:ext>
            </a:extLst>
          </p:cNvPr>
          <p:cNvSpPr txBox="1"/>
          <p:nvPr/>
        </p:nvSpPr>
        <p:spPr>
          <a:xfrm>
            <a:off x="1096753" y="1459857"/>
            <a:ext cx="455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Perhatikan</a:t>
            </a:r>
            <a:r>
              <a:rPr lang="en-US" sz="2400" b="1" dirty="0"/>
              <a:t> </a:t>
            </a:r>
            <a:r>
              <a:rPr lang="en-US" sz="2400" b="1" dirty="0" err="1"/>
              <a:t>kode</a:t>
            </a:r>
            <a:r>
              <a:rPr lang="en-US" sz="2400" b="1" dirty="0"/>
              <a:t> </a:t>
            </a:r>
            <a:r>
              <a:rPr lang="en-US" sz="2400" b="1" dirty="0" err="1"/>
              <a:t>berikut</a:t>
            </a:r>
            <a:r>
              <a:rPr lang="en-US" sz="2400" b="1" dirty="0"/>
              <a:t>!</a:t>
            </a:r>
            <a:endParaRPr lang="en-GY" sz="2400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FD88E8-9E17-41AE-8F65-22862B618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3308234"/>
            <a:ext cx="11212286" cy="28561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Y" altLang="en-GY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Baris </a:t>
            </a:r>
            <a:r>
              <a:rPr kumimoji="0" lang="en-GY" altLang="en-GY" sz="28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pertama</a:t>
            </a:r>
            <a:r>
              <a:rPr kumimoji="0" lang="en-GY" altLang="en-GY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Menginisialisasi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variabel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dengan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nilai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10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GY" altLang="en-GY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Baris </a:t>
            </a:r>
            <a:r>
              <a:rPr kumimoji="0" lang="en-GY" altLang="en-GY" sz="28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kedua</a:t>
            </a:r>
            <a:r>
              <a:rPr kumimoji="0" lang="en-GY" altLang="en-GY" sz="28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Menginisialisasi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variabel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dengan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hasil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dari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 + 5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 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(</a:t>
            </a:r>
            <a:r>
              <a:rPr kumimoji="0" lang="en-GY" altLang="en-GY" sz="28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yaitu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10 + 5 = 15</a:t>
            </a:r>
            <a:r>
              <a:rPr kumimoji="0" lang="en-GY" altLang="en-GY" sz="28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).</a:t>
            </a:r>
            <a:endParaRPr kumimoji="0" lang="en-US" altLang="en-GY" sz="28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Y" altLang="en-GY" sz="28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“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Ini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adalah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contoh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sederhana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tentang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bagaimana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instruksi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dikerjakan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dalam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urutan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yang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telah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ditentukan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untuk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mencapai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hasil</a:t>
            </a:r>
            <a:r>
              <a:rPr kumimoji="0" lang="en-GY" altLang="en-GY" sz="2800" b="0" i="1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yang </a:t>
            </a:r>
            <a:r>
              <a:rPr kumimoji="0" lang="en-GY" altLang="en-GY" sz="2800" b="0" i="1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benar</a:t>
            </a:r>
            <a:r>
              <a:rPr lang="en-US" altLang="en-GY" sz="2800" i="1" dirty="0">
                <a:solidFill>
                  <a:srgbClr val="001D35"/>
                </a:solidFill>
                <a:latin typeface="Google Sans"/>
              </a:rPr>
              <a:t>”</a:t>
            </a:r>
            <a:endParaRPr kumimoji="0" lang="en-GY" altLang="en-GY" sz="2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37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D1AD-3D4C-3A25-D5B2-EEF42161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Sequence…(3)</a:t>
            </a:r>
            <a:endParaRPr lang="en-GY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AF0E5-26D1-2F81-6883-0D0FEA36B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pt-BR" sz="2400" b="1" dirty="0"/>
              <a:t>Menara Hanoi (Contoh untuk 3 Cakram)</a:t>
            </a:r>
          </a:p>
          <a:p>
            <a:pPr marL="114300" indent="0">
              <a:buNone/>
            </a:pP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(A) </a:t>
            </a:r>
            <a:r>
              <a:rPr lang="en-US" sz="2400" dirty="0" err="1"/>
              <a:t>berisi</a:t>
            </a:r>
            <a:r>
              <a:rPr lang="en-US" sz="2400" dirty="0"/>
              <a:t>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(</a:t>
            </a:r>
            <a:r>
              <a:rPr lang="en-US" sz="2400" dirty="0" err="1"/>
              <a:t>merah</a:t>
            </a:r>
            <a:r>
              <a:rPr lang="en-US" sz="2400" dirty="0"/>
              <a:t>, </a:t>
            </a:r>
            <a:r>
              <a:rPr lang="en-US" sz="2400" dirty="0" err="1"/>
              <a:t>biru</a:t>
            </a:r>
            <a:r>
              <a:rPr lang="en-US" sz="2400" dirty="0"/>
              <a:t>, </a:t>
            </a:r>
            <a:r>
              <a:rPr lang="en-US" sz="2400" dirty="0" err="1"/>
              <a:t>hijau</a:t>
            </a:r>
            <a:r>
              <a:rPr lang="en-US" sz="2400" dirty="0"/>
              <a:t>)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merah</a:t>
            </a:r>
            <a:r>
              <a:rPr lang="en-US" sz="2400" dirty="0"/>
              <a:t> paling </a:t>
            </a:r>
            <a:r>
              <a:rPr lang="en-US" sz="2400" dirty="0" err="1"/>
              <a:t>bawah</a:t>
            </a:r>
            <a:r>
              <a:rPr lang="en-US" sz="2400" dirty="0"/>
              <a:t>, </a:t>
            </a:r>
            <a:r>
              <a:rPr lang="en-US" sz="2400" dirty="0" err="1"/>
              <a:t>lalu</a:t>
            </a:r>
            <a:r>
              <a:rPr lang="en-US" sz="2400" dirty="0"/>
              <a:t> </a:t>
            </a:r>
            <a:r>
              <a:rPr lang="en-US" sz="2400" dirty="0" err="1"/>
              <a:t>biru</a:t>
            </a:r>
            <a:r>
              <a:rPr lang="en-US" sz="2400" dirty="0"/>
              <a:t>, dan </a:t>
            </a:r>
            <a:r>
              <a:rPr lang="en-US" sz="2400" dirty="0" err="1"/>
              <a:t>hijau</a:t>
            </a:r>
            <a:r>
              <a:rPr lang="en-US" sz="2400" dirty="0"/>
              <a:t> di </a:t>
            </a:r>
            <a:r>
              <a:rPr lang="en-US" sz="2400" dirty="0" err="1"/>
              <a:t>atas</a:t>
            </a:r>
            <a:r>
              <a:rPr lang="en-US" sz="2400" dirty="0"/>
              <a:t>. Tujuan Anda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memindahkan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</a:t>
            </a:r>
            <a:r>
              <a:rPr lang="en-US" sz="2400" dirty="0" err="1"/>
              <a:t>tumpukan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C,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B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</a:t>
            </a:r>
            <a:r>
              <a:rPr lang="en-US" sz="2400" dirty="0" err="1"/>
              <a:t>bantu</a:t>
            </a:r>
            <a:r>
              <a:rPr lang="en-US" sz="2400" dirty="0"/>
              <a:t>,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mengikuti</a:t>
            </a:r>
            <a:r>
              <a:rPr lang="en-US" sz="2400" dirty="0"/>
              <a:t> </a:t>
            </a:r>
            <a:r>
              <a:rPr lang="en-US" sz="2400" dirty="0" err="1"/>
              <a:t>aturan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: 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/>
              <a:t>Satu </a:t>
            </a:r>
            <a:r>
              <a:rPr lang="en-US" sz="2400" b="1" dirty="0" err="1"/>
              <a:t>Cakram</a:t>
            </a:r>
            <a:r>
              <a:rPr lang="en-US" sz="2400" b="1" dirty="0"/>
              <a:t> per Langkah:</a:t>
            </a:r>
            <a:r>
              <a:rPr lang="en-US" sz="2400" dirty="0"/>
              <a:t> Hanya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yang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dipindahkan</a:t>
            </a:r>
            <a:r>
              <a:rPr lang="en-US" sz="2400" dirty="0"/>
              <a:t> pada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/>
              <a:t>Lebih</a:t>
            </a:r>
            <a:r>
              <a:rPr lang="en-US" sz="2400" b="1" dirty="0"/>
              <a:t> Besar di Bawah:</a:t>
            </a:r>
            <a:r>
              <a:rPr lang="en-US" sz="2400" dirty="0"/>
              <a:t> </a:t>
            </a:r>
            <a:r>
              <a:rPr lang="en-US" sz="2400" dirty="0" err="1"/>
              <a:t>Cakram</a:t>
            </a:r>
            <a:r>
              <a:rPr lang="en-US" sz="2400" dirty="0"/>
              <a:t> yang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ditempatkan</a:t>
            </a:r>
            <a:r>
              <a:rPr lang="en-US" sz="2400" dirty="0"/>
              <a:t> di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yang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.</a:t>
            </a:r>
          </a:p>
          <a:p>
            <a:pPr marL="114300" indent="0">
              <a:buNone/>
            </a:pPr>
            <a:endParaRPr lang="en-GY" sz="2400" dirty="0"/>
          </a:p>
        </p:txBody>
      </p:sp>
    </p:spTree>
    <p:extLst>
      <p:ext uri="{BB962C8B-B14F-4D97-AF65-F5344CB8AC3E}">
        <p14:creationId xmlns:p14="http://schemas.microsoft.com/office/powerpoint/2010/main" val="2805927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AC74-D3E9-0C46-D861-FDE72F9E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B5E4-981F-7D7F-CE39-DE851D71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Sequence…(4)</a:t>
            </a:r>
            <a:endParaRPr lang="en-GY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9D19A-E1E6-8A24-1686-4B17B8D07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 b="1" dirty="0"/>
              <a:t>Langkah-Langkah </a:t>
            </a:r>
            <a:r>
              <a:rPr lang="en-US" sz="2400" b="1" dirty="0" err="1"/>
              <a:t>Penyelesaian</a:t>
            </a:r>
            <a:r>
              <a:rPr lang="en-US" sz="2400" b="1" dirty="0"/>
              <a:t> (</a:t>
            </a:r>
            <a:r>
              <a:rPr lang="en-US" sz="2400" b="1" dirty="0" err="1"/>
              <a:t>untuk</a:t>
            </a:r>
            <a:r>
              <a:rPr lang="en-US" sz="2400" b="1" dirty="0"/>
              <a:t> 3 </a:t>
            </a:r>
            <a:r>
              <a:rPr lang="en-US" sz="2400" b="1" dirty="0" err="1"/>
              <a:t>Cakram</a:t>
            </a:r>
            <a:r>
              <a:rPr lang="en-US" sz="2400" b="1" dirty="0"/>
              <a:t>)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/>
              <a:t>terkecil</a:t>
            </a:r>
            <a:r>
              <a:rPr lang="en-US" sz="2400" dirty="0"/>
              <a:t>: (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hijau</a:t>
            </a:r>
            <a:r>
              <a:rPr lang="en-US" sz="2400" dirty="0"/>
              <a:t>)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C.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/>
              <a:t>tengah</a:t>
            </a:r>
            <a:r>
              <a:rPr lang="en-US" sz="2400" dirty="0"/>
              <a:t>: 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biru</a:t>
            </a:r>
            <a:r>
              <a:rPr lang="en-US" sz="2400" dirty="0"/>
              <a:t>)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B.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hijau</a:t>
            </a:r>
            <a:r>
              <a:rPr lang="en-US" sz="2400" dirty="0"/>
              <a:t>: </a:t>
            </a:r>
            <a:r>
              <a:rPr lang="en-US" sz="2400" dirty="0" err="1"/>
              <a:t>dari</a:t>
            </a:r>
            <a:r>
              <a:rPr lang="en-US" sz="2400" dirty="0"/>
              <a:t> C </a:t>
            </a:r>
            <a:r>
              <a:rPr lang="en-US" sz="2400" dirty="0" err="1"/>
              <a:t>ke</a:t>
            </a:r>
            <a:r>
              <a:rPr lang="en-US" sz="2400" dirty="0"/>
              <a:t> B.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/>
              <a:t>terbesar</a:t>
            </a:r>
            <a:r>
              <a:rPr lang="en-US" sz="2400" dirty="0"/>
              <a:t>: (</a:t>
            </a:r>
            <a:r>
              <a:rPr lang="en-US" sz="2400" dirty="0" err="1">
                <a:solidFill>
                  <a:srgbClr val="FF0000"/>
                </a:solidFill>
              </a:rPr>
              <a:t>merah</a:t>
            </a:r>
            <a:r>
              <a:rPr lang="en-US" sz="2400" dirty="0"/>
              <a:t>)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C.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hijau</a:t>
            </a:r>
            <a:r>
              <a:rPr lang="en-US" sz="2400" dirty="0"/>
              <a:t>: </a:t>
            </a:r>
            <a:r>
              <a:rPr lang="en-US" sz="2400" dirty="0" err="1"/>
              <a:t>dari</a:t>
            </a:r>
            <a:r>
              <a:rPr lang="en-US" sz="2400" dirty="0"/>
              <a:t> B </a:t>
            </a:r>
            <a:r>
              <a:rPr lang="en-US" sz="2400" dirty="0" err="1"/>
              <a:t>ke</a:t>
            </a:r>
            <a:r>
              <a:rPr lang="en-US" sz="2400" dirty="0"/>
              <a:t> A.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</a:rPr>
              <a:t>biru</a:t>
            </a:r>
            <a:r>
              <a:rPr lang="en-US" sz="2400" dirty="0"/>
              <a:t>: </a:t>
            </a:r>
            <a:r>
              <a:rPr lang="en-US" sz="2400" dirty="0" err="1"/>
              <a:t>dari</a:t>
            </a:r>
            <a:r>
              <a:rPr lang="en-US" sz="2400" dirty="0"/>
              <a:t> B </a:t>
            </a:r>
            <a:r>
              <a:rPr lang="en-US" sz="2400" dirty="0" err="1"/>
              <a:t>ke</a:t>
            </a:r>
            <a:r>
              <a:rPr lang="en-US" sz="2400" dirty="0"/>
              <a:t> C.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400" b="1" dirty="0" err="1"/>
              <a:t>Pindahkan</a:t>
            </a:r>
            <a:r>
              <a:rPr lang="en-US" sz="2400" b="1" dirty="0"/>
              <a:t> </a:t>
            </a:r>
            <a:r>
              <a:rPr lang="en-US" sz="2400" b="1" dirty="0" err="1"/>
              <a:t>cakram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hijau</a:t>
            </a:r>
            <a:r>
              <a:rPr lang="en-US" sz="2400" dirty="0"/>
              <a:t>: 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C. 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b="1" dirty="0">
                <a:highlight>
                  <a:srgbClr val="FFFF00"/>
                </a:highlight>
              </a:rPr>
              <a:t>Hasil: </a:t>
            </a:r>
            <a:r>
              <a:rPr lang="en-US" sz="2400" dirty="0" err="1"/>
              <a:t>Setelah</a:t>
            </a:r>
            <a:r>
              <a:rPr lang="en-US" sz="2400" dirty="0"/>
              <a:t> 7 </a:t>
            </a:r>
            <a:r>
              <a:rPr lang="en-US" sz="2400" dirty="0" err="1"/>
              <a:t>langkah</a:t>
            </a:r>
            <a:r>
              <a:rPr lang="en-US" sz="2400" dirty="0"/>
              <a:t>, </a:t>
            </a:r>
            <a:r>
              <a:rPr lang="en-US" sz="2400" dirty="0" err="1"/>
              <a:t>tumpukan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</a:t>
            </a:r>
            <a:r>
              <a:rPr lang="en-US" sz="2400" dirty="0" err="1"/>
              <a:t>berhasil</a:t>
            </a:r>
            <a:r>
              <a:rPr lang="en-US" sz="2400" dirty="0"/>
              <a:t> </a:t>
            </a:r>
            <a:r>
              <a:rPr lang="en-US" sz="2400" dirty="0" err="1"/>
              <a:t>dipindahkan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tiang</a:t>
            </a:r>
            <a:r>
              <a:rPr lang="en-US" sz="2400" dirty="0"/>
              <a:t> C,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cakram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pada </a:t>
            </a:r>
            <a:r>
              <a:rPr lang="en-US" sz="2400" dirty="0" err="1"/>
              <a:t>posisinya</a:t>
            </a:r>
            <a:r>
              <a:rPr lang="en-US" sz="2400" dirty="0"/>
              <a:t> masing-masing. </a:t>
            </a:r>
          </a:p>
        </p:txBody>
      </p:sp>
    </p:spTree>
    <p:extLst>
      <p:ext uri="{BB962C8B-B14F-4D97-AF65-F5344CB8AC3E}">
        <p14:creationId xmlns:p14="http://schemas.microsoft.com/office/powerpoint/2010/main" val="2108871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DA46-ACF0-A8E1-ED80-2408095B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21578-194D-CDE9-5097-289E9B9E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4286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masis MT Pro Medium" panose="02040604050005020304" pitchFamily="18" charset="0"/>
              </a:rPr>
              <a:t>FLOWCHART</a:t>
            </a:r>
            <a:endParaRPr lang="en-GY" sz="8000" b="1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23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>
            <a:spLocks noGrp="1"/>
          </p:cNvSpPr>
          <p:nvPr>
            <p:ph type="title"/>
          </p:nvPr>
        </p:nvSpPr>
        <p:spPr>
          <a:xfrm>
            <a:off x="975360" y="573023"/>
            <a:ext cx="9235440" cy="91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Flowchart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368" name="Google Shape;368;p35"/>
          <p:cNvSpPr txBox="1">
            <a:spLocks noGrp="1"/>
          </p:cNvSpPr>
          <p:nvPr>
            <p:ph type="body" idx="1"/>
          </p:nvPr>
        </p:nvSpPr>
        <p:spPr>
          <a:xfrm>
            <a:off x="975360" y="1600201"/>
            <a:ext cx="1037844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Flowchart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merupakan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bagan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dengan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b="1" dirty="0" err="1">
                <a:latin typeface="+mn-lt"/>
                <a:ea typeface="Schoolbell"/>
                <a:cs typeface="Schoolbell"/>
                <a:sym typeface="Schoolbell"/>
              </a:rPr>
              <a:t>simbol-simbol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tertentu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yang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digunakan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untuk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menjelaskan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b="1" dirty="0" err="1">
                <a:latin typeface="+mn-lt"/>
                <a:ea typeface="Schoolbell"/>
                <a:cs typeface="Schoolbell"/>
                <a:sym typeface="Schoolbell"/>
              </a:rPr>
              <a:t>urutan</a:t>
            </a:r>
            <a:r>
              <a:rPr lang="en-US" sz="2800" b="1" dirty="0">
                <a:latin typeface="+mn-lt"/>
                <a:ea typeface="Schoolbell"/>
                <a:cs typeface="Schoolbell"/>
                <a:sym typeface="Schoolbell"/>
              </a:rPr>
              <a:t> proses 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dan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hubungan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antar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proses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lainnya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pada </a:t>
            </a:r>
            <a:r>
              <a:rPr lang="en-US" sz="2800" dirty="0" err="1">
                <a:latin typeface="+mn-lt"/>
                <a:ea typeface="Schoolbell"/>
                <a:cs typeface="Schoolbell"/>
                <a:sym typeface="Schoolbell"/>
              </a:rPr>
              <a:t>sebuah</a:t>
            </a:r>
            <a:r>
              <a:rPr lang="en-US" sz="2800" dirty="0">
                <a:latin typeface="+mn-lt"/>
                <a:ea typeface="Schoolbell"/>
                <a:cs typeface="Schoolbell"/>
                <a:sym typeface="Schoolbell"/>
              </a:rPr>
              <a:t> program.</a:t>
            </a: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400"/>
            </a:pPr>
            <a:endParaRPr lang="en-US" sz="2800" dirty="0">
              <a:latin typeface="+mn-lt"/>
              <a:ea typeface="Schoolbell"/>
              <a:cs typeface="Schoolbell"/>
              <a:sym typeface="Schoolbell"/>
            </a:endParaRPr>
          </a:p>
          <a:p>
            <a:pPr indent="-457200" algn="just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sz="2800" dirty="0" err="1">
                <a:latin typeface="+mn-lt"/>
                <a:sym typeface="Schoolbell"/>
              </a:rPr>
              <a:t>Sofware</a:t>
            </a:r>
            <a:r>
              <a:rPr lang="en-US" sz="2800" dirty="0">
                <a:latin typeface="+mn-lt"/>
                <a:sym typeface="Schoolbell"/>
              </a:rPr>
              <a:t> </a:t>
            </a:r>
            <a:r>
              <a:rPr lang="en-US" sz="2800" dirty="0" err="1">
                <a:latin typeface="+mn-lt"/>
                <a:sym typeface="Schoolbell"/>
              </a:rPr>
              <a:t>untuk</a:t>
            </a:r>
            <a:r>
              <a:rPr lang="en-US" sz="2800" dirty="0">
                <a:latin typeface="+mn-lt"/>
                <a:sym typeface="Schoolbell"/>
              </a:rPr>
              <a:t> </a:t>
            </a:r>
            <a:r>
              <a:rPr lang="en-US" sz="2800" dirty="0" err="1">
                <a:latin typeface="+mn-lt"/>
                <a:sym typeface="Schoolbell"/>
              </a:rPr>
              <a:t>membuat</a:t>
            </a:r>
            <a:r>
              <a:rPr lang="en-US" sz="2800" dirty="0">
                <a:latin typeface="+mn-lt"/>
                <a:sym typeface="Schoolbell"/>
              </a:rPr>
              <a:t> flowchart </a:t>
            </a:r>
            <a:r>
              <a:rPr lang="en-US" sz="2800" dirty="0">
                <a:solidFill>
                  <a:srgbClr val="0070C0"/>
                </a:solidFill>
                <a:latin typeface="+mn-lt"/>
                <a:sym typeface="Schoolbell"/>
              </a:rPr>
              <a:t>draw.io</a:t>
            </a:r>
            <a:endParaRPr sz="240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369" name="Google Shape;369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784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"/>
          <p:cNvSpPr txBox="1">
            <a:spLocks noGrp="1"/>
          </p:cNvSpPr>
          <p:nvPr>
            <p:ph type="title"/>
          </p:nvPr>
        </p:nvSpPr>
        <p:spPr>
          <a:xfrm>
            <a:off x="2501705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Simbol-simbol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Flowchart…(1)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graphicFrame>
        <p:nvGraphicFramePr>
          <p:cNvPr id="375" name="Google Shape;375;p36"/>
          <p:cNvGraphicFramePr/>
          <p:nvPr/>
        </p:nvGraphicFramePr>
        <p:xfrm>
          <a:off x="829994" y="1055076"/>
          <a:ext cx="10396025" cy="5797785"/>
        </p:xfrm>
        <a:graphic>
          <a:graphicData uri="http://schemas.openxmlformats.org/drawingml/2006/table">
            <a:tbl>
              <a:tblPr firstRow="1" bandRow="1">
                <a:noFill/>
                <a:tableStyleId>{212961B4-F72D-434E-B922-B784F0361C62}</a:tableStyleId>
              </a:tblPr>
              <a:tblGrid>
                <a:gridCol w="314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/>
                        <a:t>Symbol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Nama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Deskripsi</a:t>
                      </a:r>
                      <a:endParaRPr sz="24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Terminator</a:t>
                      </a:r>
                      <a:endParaRPr sz="24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Simbol untuk permulaan (start) dan akhir (end) dalam sebuah proses</a:t>
                      </a:r>
                      <a:endParaRPr sz="24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1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Preparation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/>
                        <a:t>Simbol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untuk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mempersiapkan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penyimpanan</a:t>
                      </a:r>
                      <a:r>
                        <a:rPr lang="en-US" sz="2400" dirty="0"/>
                        <a:t> yang </a:t>
                      </a:r>
                      <a:r>
                        <a:rPr lang="en-US" sz="2400" dirty="0" err="1"/>
                        <a:t>akan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digunakan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4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Input-output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/>
                        <a:t>Simbol</a:t>
                      </a:r>
                      <a:r>
                        <a:rPr lang="en-US" sz="2400" dirty="0"/>
                        <a:t> yang </a:t>
                      </a:r>
                      <a:r>
                        <a:rPr lang="en-US" sz="2400" dirty="0" err="1"/>
                        <a:t>menyatakan</a:t>
                      </a:r>
                      <a:r>
                        <a:rPr lang="en-US" sz="2400" dirty="0"/>
                        <a:t> proses input dan output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Flow Line (Garis Alir)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err="1"/>
                        <a:t>Arah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aliran</a:t>
                      </a:r>
                      <a:r>
                        <a:rPr lang="en-US" sz="2400" dirty="0"/>
                        <a:t> program</a:t>
                      </a:r>
                      <a:endParaRPr sz="24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6" name="Google Shape;37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6"/>
          <p:cNvSpPr/>
          <p:nvPr/>
        </p:nvSpPr>
        <p:spPr>
          <a:xfrm>
            <a:off x="1307236" y="1752604"/>
            <a:ext cx="1708150" cy="72008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6"/>
          <p:cNvSpPr/>
          <p:nvPr/>
        </p:nvSpPr>
        <p:spPr>
          <a:xfrm>
            <a:off x="1307236" y="2978507"/>
            <a:ext cx="1710000" cy="720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1216191" y="4253515"/>
            <a:ext cx="1708150" cy="720080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36"/>
          <p:cNvCxnSpPr/>
          <p:nvPr/>
        </p:nvCxnSpPr>
        <p:spPr>
          <a:xfrm>
            <a:off x="1307236" y="5528603"/>
            <a:ext cx="152606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778976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>
            <a:spLocks noGrp="1"/>
          </p:cNvSpPr>
          <p:nvPr>
            <p:ph type="title"/>
          </p:nvPr>
        </p:nvSpPr>
        <p:spPr>
          <a:xfrm>
            <a:off x="2461846" y="-19694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Simbol-simbol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Flowchart…(2)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graphicFrame>
        <p:nvGraphicFramePr>
          <p:cNvPr id="386" name="Google Shape;386;p37"/>
          <p:cNvGraphicFramePr/>
          <p:nvPr/>
        </p:nvGraphicFramePr>
        <p:xfrm>
          <a:off x="844061" y="731521"/>
          <a:ext cx="9437100" cy="5942650"/>
        </p:xfrm>
        <a:graphic>
          <a:graphicData uri="http://schemas.openxmlformats.org/drawingml/2006/table">
            <a:tbl>
              <a:tblPr firstRow="1" bandRow="1">
                <a:noFill/>
                <a:tableStyleId>{212961B4-F72D-434E-B922-B784F0361C62}</a:tableStyleId>
              </a:tblPr>
              <a:tblGrid>
                <a:gridCol w="314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Symbol</a:t>
                      </a:r>
                      <a:endParaRPr sz="20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Nama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/>
                        <a:t>Deskripsi</a:t>
                      </a:r>
                      <a:endParaRPr sz="2000" b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Processing </a:t>
                      </a:r>
                      <a:r>
                        <a:rPr lang="en-US" sz="2000" dirty="0" err="1"/>
                        <a:t>simbol</a:t>
                      </a:r>
                      <a:endParaRPr sz="20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Simbol yang menunjukkan pemrosesan oleh komputer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Percabangan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Simbol yang menunjukan terdapat dua pilihan output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On Page Connector</a:t>
                      </a:r>
                      <a:endParaRPr sz="20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Penghubung bagian-bagian flowchart yang ada pada satu halaman</a:t>
                      </a:r>
                      <a:endParaRPr sz="2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Off Page Connector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/>
                        <a:t>Penghubung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bagian-bagian</a:t>
                      </a:r>
                      <a:r>
                        <a:rPr lang="en-US" sz="2000" dirty="0"/>
                        <a:t> flowchart yang </a:t>
                      </a:r>
                      <a:r>
                        <a:rPr lang="en-US" sz="2000" dirty="0" err="1"/>
                        <a:t>berada</a:t>
                      </a:r>
                      <a:r>
                        <a:rPr lang="en-US" sz="2000" dirty="0"/>
                        <a:t> pada </a:t>
                      </a:r>
                      <a:r>
                        <a:rPr lang="en-US" sz="2000" dirty="0" err="1"/>
                        <a:t>halaman</a:t>
                      </a:r>
                      <a:r>
                        <a:rPr lang="en-US" sz="2000" dirty="0"/>
                        <a:t> yang </a:t>
                      </a:r>
                      <a:r>
                        <a:rPr lang="en-US" sz="2000" dirty="0" err="1"/>
                        <a:t>berbeda</a:t>
                      </a:r>
                      <a:endParaRPr sz="2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Predefined Process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/>
                        <a:t>Simbol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untuk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pelaksanaan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suatu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bagian</a:t>
                      </a:r>
                      <a:r>
                        <a:rPr lang="en-US" sz="2000" dirty="0"/>
                        <a:t> (sub-program)/</a:t>
                      </a:r>
                      <a:r>
                        <a:rPr lang="en-US" sz="2000" dirty="0" err="1"/>
                        <a:t>fungsi</a:t>
                      </a:r>
                      <a:r>
                        <a:rPr lang="en-US" sz="2000" dirty="0"/>
                        <a:t>/</a:t>
                      </a:r>
                      <a:r>
                        <a:rPr lang="en-US" sz="2000" dirty="0" err="1"/>
                        <a:t>prosedur</a:t>
                      </a:r>
                      <a:endParaRPr sz="20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7" name="Google Shape;387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1564451" y="1460411"/>
            <a:ext cx="1708150" cy="7200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1791398" y="2391506"/>
            <a:ext cx="1026942" cy="759658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1955149" y="3488788"/>
            <a:ext cx="699439" cy="67525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7"/>
          <p:cNvSpPr/>
          <p:nvPr/>
        </p:nvSpPr>
        <p:spPr>
          <a:xfrm>
            <a:off x="1931433" y="4628269"/>
            <a:ext cx="858129" cy="696351"/>
          </a:xfrm>
          <a:prstGeom prst="flowChartOffpageConnector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9316" y="5811862"/>
            <a:ext cx="1382361" cy="771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4662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Contoh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Penggunaan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On Page Connector</a:t>
            </a:r>
            <a:endParaRPr sz="4000" b="1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406" name="Google Shape;406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</p:txBody>
      </p:sp>
      <p:pic>
        <p:nvPicPr>
          <p:cNvPr id="407" name="Google Shape;40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8602" y="1568526"/>
            <a:ext cx="6414609" cy="49243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8093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Contoh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</a:t>
            </a: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Penggunaan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 Off Page Connector</a:t>
            </a:r>
            <a:endParaRPr sz="4000" b="1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413" name="Google Shape;413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pic>
        <p:nvPicPr>
          <p:cNvPr id="414" name="Google Shape;414;p40" descr="off-con-flow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0142" y="1296451"/>
            <a:ext cx="5925965" cy="5437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061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C883-C74D-23E4-51D7-4A5BEBE0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E774-5CE9-16E9-4D8B-0DC53FAD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4286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masis MT Pro Medium" panose="02040604050005020304" pitchFamily="18" charset="0"/>
              </a:rPr>
              <a:t>PSEUDOCODE</a:t>
            </a:r>
            <a:endParaRPr lang="en-GY" sz="8000" b="1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535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DEFINISI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b="1" dirty="0">
                <a:latin typeface="+mn-lt"/>
              </a:rPr>
              <a:t>Pseudocode </a:t>
            </a:r>
            <a:r>
              <a:rPr lang="en-US" sz="2800" b="1" dirty="0" err="1">
                <a:latin typeface="+mn-lt"/>
              </a:rPr>
              <a:t>a</a:t>
            </a:r>
            <a:r>
              <a:rPr lang="en-US" sz="2800" dirty="0" err="1">
                <a:latin typeface="+mn-lt"/>
              </a:rPr>
              <a:t>dalah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representasi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algoritma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dalam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bentuk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deskripsi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terstruktur</a:t>
            </a:r>
            <a:r>
              <a:rPr lang="en-US" sz="2800" dirty="0">
                <a:latin typeface="+mn-lt"/>
              </a:rPr>
              <a:t> yang </a:t>
            </a:r>
            <a:r>
              <a:rPr lang="en-US" sz="2800" dirty="0" err="1">
                <a:latin typeface="+mn-lt"/>
              </a:rPr>
              <a:t>menyerupai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bahasa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pemrograman</a:t>
            </a:r>
            <a:r>
              <a:rPr lang="en-US" sz="2800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tetapi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tidak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terikat</a:t>
            </a:r>
            <a:r>
              <a:rPr lang="en-US" sz="2800" b="1" dirty="0">
                <a:latin typeface="+mn-lt"/>
              </a:rPr>
              <a:t> pada </a:t>
            </a:r>
            <a:r>
              <a:rPr lang="en-US" sz="2800" b="1" dirty="0" err="1">
                <a:latin typeface="+mn-lt"/>
              </a:rPr>
              <a:t>aturan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sintaks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tertentu</a:t>
            </a:r>
            <a:r>
              <a:rPr lang="en-US" sz="2800" dirty="0">
                <a:latin typeface="+mn-lt"/>
              </a:rPr>
              <a:t>. </a:t>
            </a: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+mn-lt"/>
              </a:rPr>
              <a:t>Pseudocode </a:t>
            </a:r>
            <a:r>
              <a:rPr lang="en-US" sz="2800" dirty="0" err="1">
                <a:latin typeface="+mn-lt"/>
              </a:rPr>
              <a:t>berfungsi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sebagai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jembatan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antara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perancangan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algoritma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menggunakan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bahasa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manusia</a:t>
            </a:r>
            <a:r>
              <a:rPr lang="en-US" sz="2800" dirty="0">
                <a:latin typeface="+mn-lt"/>
              </a:rPr>
              <a:t> dan </a:t>
            </a:r>
            <a:r>
              <a:rPr lang="en-US" sz="2800" dirty="0" err="1">
                <a:latin typeface="+mn-lt"/>
              </a:rPr>
              <a:t>implementasinya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ke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dalam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bahasa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pemrograman</a:t>
            </a:r>
            <a:r>
              <a:rPr lang="en-US" sz="2800" dirty="0">
                <a:latin typeface="+mn-lt"/>
              </a:rPr>
              <a:t> yang </a:t>
            </a:r>
            <a:r>
              <a:rPr lang="en-US" sz="2800" dirty="0" err="1">
                <a:latin typeface="+mn-lt"/>
              </a:rPr>
              <a:t>sesungguhnya</a:t>
            </a:r>
            <a:r>
              <a:rPr lang="en-US" sz="2800" dirty="0">
                <a:latin typeface="+mn-lt"/>
              </a:rPr>
              <a:t>.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endParaRPr lang="en-US" altLang="en-GY" sz="2800" dirty="0">
              <a:solidFill>
                <a:schemeClr val="tx1"/>
              </a:solidFill>
              <a:latin typeface="+mn-lt"/>
            </a:endParaRPr>
          </a:p>
          <a:p>
            <a:pPr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Disebut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“pseudo” (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semu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)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karena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bukan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bahasa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pemrograman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sungguhan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melainkan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bentuk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perantara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dirty="0" err="1">
                <a:solidFill>
                  <a:schemeClr val="tx1"/>
                </a:solidFill>
                <a:latin typeface="+mn-lt"/>
              </a:rPr>
              <a:t>antara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b="1" dirty="0" err="1">
                <a:solidFill>
                  <a:schemeClr val="tx1"/>
                </a:solidFill>
                <a:latin typeface="+mn-lt"/>
              </a:rPr>
              <a:t>bahasa</a:t>
            </a:r>
            <a:r>
              <a:rPr lang="en-GY" altLang="en-GY" sz="28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GY" altLang="en-GY" sz="2800" b="1" dirty="0" err="1">
                <a:solidFill>
                  <a:schemeClr val="tx1"/>
                </a:solidFill>
                <a:latin typeface="+mn-lt"/>
              </a:rPr>
              <a:t>manusia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 dan </a:t>
            </a:r>
            <a:r>
              <a:rPr lang="en-GY" altLang="en-GY" sz="2800" b="1" dirty="0" err="1">
                <a:solidFill>
                  <a:schemeClr val="tx1"/>
                </a:solidFill>
                <a:latin typeface="+mn-lt"/>
              </a:rPr>
              <a:t>kode</a:t>
            </a:r>
            <a:r>
              <a:rPr lang="en-GY" altLang="en-GY" sz="2800" b="1" dirty="0">
                <a:solidFill>
                  <a:schemeClr val="tx1"/>
                </a:solidFill>
                <a:latin typeface="+mn-lt"/>
              </a:rPr>
              <a:t> program</a:t>
            </a:r>
            <a:r>
              <a:rPr lang="en-GY" altLang="en-GY" sz="28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81034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Pseudocode</a:t>
            </a:r>
            <a:r>
              <a:rPr lang="en-US" sz="4000" b="1" dirty="0"/>
              <a:t>: </a:t>
            </a:r>
            <a:r>
              <a:rPr lang="en-US" sz="4000" b="1" dirty="0" err="1"/>
              <a:t>Masukan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 err="1"/>
              <a:t>Sewaktu</a:t>
            </a:r>
            <a:r>
              <a:rPr lang="tr-TR" sz="2800" dirty="0"/>
              <a:t> </a:t>
            </a:r>
            <a:r>
              <a:rPr lang="tr-TR" sz="2800" dirty="0" err="1"/>
              <a:t>komputer</a:t>
            </a:r>
            <a:r>
              <a:rPr lang="tr-TR" sz="2800" dirty="0"/>
              <a:t> </a:t>
            </a:r>
            <a:r>
              <a:rPr lang="tr-TR" sz="2800" dirty="0" err="1"/>
              <a:t>menerima</a:t>
            </a:r>
            <a:r>
              <a:rPr lang="tr-TR" sz="2800" dirty="0"/>
              <a:t> </a:t>
            </a:r>
            <a:r>
              <a:rPr lang="tr-TR" sz="2800" dirty="0" err="1"/>
              <a:t>informasi</a:t>
            </a:r>
            <a:r>
              <a:rPr lang="tr-TR" sz="2800" dirty="0"/>
              <a:t> </a:t>
            </a:r>
            <a:r>
              <a:rPr lang="tr-TR" sz="2800" dirty="0" err="1"/>
              <a:t>atau</a:t>
            </a:r>
            <a:r>
              <a:rPr lang="tr-TR" sz="2800" dirty="0"/>
              <a:t> </a:t>
            </a:r>
            <a:r>
              <a:rPr lang="tr-TR" sz="2800" i="1" dirty="0" err="1"/>
              <a:t>input</a:t>
            </a:r>
            <a:r>
              <a:rPr lang="tr-TR" sz="2800" dirty="0"/>
              <a:t>, maka </a:t>
            </a:r>
            <a:r>
              <a:rPr lang="tr-TR" sz="2800" i="1" dirty="0" err="1"/>
              <a:t>statement</a:t>
            </a:r>
            <a:r>
              <a:rPr lang="tr-TR" sz="2800" i="1" dirty="0"/>
              <a:t> </a:t>
            </a:r>
            <a:r>
              <a:rPr lang="tr-TR" sz="2800" dirty="0" err="1"/>
              <a:t>yang</a:t>
            </a:r>
            <a:r>
              <a:rPr lang="tr-TR" sz="2800" dirty="0"/>
              <a:t> </a:t>
            </a:r>
            <a:r>
              <a:rPr lang="tr-TR" sz="2800" dirty="0" err="1"/>
              <a:t>biasa</a:t>
            </a:r>
            <a:r>
              <a:rPr lang="tr-TR" sz="2800" dirty="0"/>
              <a:t> </a:t>
            </a:r>
            <a:r>
              <a:rPr lang="tr-TR" sz="2800" dirty="0" err="1"/>
              <a:t>digunakan</a:t>
            </a:r>
            <a:r>
              <a:rPr lang="tr-TR" sz="2800" dirty="0"/>
              <a:t> </a:t>
            </a:r>
            <a:r>
              <a:rPr lang="tr-TR" sz="2800" dirty="0" err="1"/>
              <a:t>adalah</a:t>
            </a:r>
            <a:r>
              <a:rPr lang="tr-TR" sz="2800" dirty="0"/>
              <a:t> </a:t>
            </a:r>
            <a:r>
              <a:rPr lang="tr-TR" sz="2800" b="1" dirty="0"/>
              <a:t>“Read”, “</a:t>
            </a:r>
            <a:r>
              <a:rPr lang="tr-TR" sz="2800" b="1" dirty="0" err="1"/>
              <a:t>Get</a:t>
            </a:r>
            <a:r>
              <a:rPr lang="tr-TR" sz="2800" b="1" dirty="0"/>
              <a:t>”, “Baca” ,”</a:t>
            </a:r>
            <a:r>
              <a:rPr lang="tr-TR" sz="2800" b="1" dirty="0" err="1"/>
              <a:t>Input</a:t>
            </a:r>
            <a:r>
              <a:rPr lang="tr-TR" sz="2800" b="1" dirty="0"/>
              <a:t>”</a:t>
            </a:r>
            <a:r>
              <a:rPr lang="tr-TR" sz="2800" dirty="0"/>
              <a:t> </a:t>
            </a:r>
          </a:p>
          <a:p>
            <a:r>
              <a:rPr lang="tr-TR" sz="2800" dirty="0" err="1"/>
              <a:t>Contoh</a:t>
            </a:r>
            <a:r>
              <a:rPr lang="tr-TR" sz="2800" dirty="0"/>
              <a:t>:</a:t>
            </a:r>
          </a:p>
          <a:p>
            <a:pPr lvl="1"/>
            <a:r>
              <a:rPr lang="tr-TR" sz="2800" dirty="0" err="1"/>
              <a:t>Input</a:t>
            </a:r>
            <a:r>
              <a:rPr lang="tr-TR" sz="2800" dirty="0"/>
              <a:t> bilangan1</a:t>
            </a:r>
          </a:p>
          <a:p>
            <a:pPr lvl="1"/>
            <a:r>
              <a:rPr lang="tr-TR" sz="2800" dirty="0"/>
              <a:t>Baca bilangan2</a:t>
            </a:r>
          </a:p>
          <a:p>
            <a:pPr lvl="1"/>
            <a:r>
              <a:rPr lang="tr-TR" sz="2800" dirty="0"/>
              <a:t>Read </a:t>
            </a:r>
            <a:r>
              <a:rPr lang="tr-TR" sz="2800" dirty="0" err="1"/>
              <a:t>jariJari</a:t>
            </a:r>
            <a:endParaRPr lang="tr-TR" sz="2800" dirty="0"/>
          </a:p>
          <a:p>
            <a:pPr lvl="1"/>
            <a:r>
              <a:rPr lang="tr-TR" sz="2800" dirty="0" err="1"/>
              <a:t>Get</a:t>
            </a:r>
            <a:r>
              <a:rPr lang="tr-TR" sz="2800" dirty="0"/>
              <a:t> </a:t>
            </a:r>
            <a:r>
              <a:rPr lang="tr-TR" sz="2800" dirty="0" err="1"/>
              <a:t>panjang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26983876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/>
              <a:t>Pseudocode</a:t>
            </a:r>
            <a:r>
              <a:rPr lang="en-US" sz="4400" b="1" dirty="0"/>
              <a:t>: </a:t>
            </a:r>
            <a:r>
              <a:rPr lang="en-US" sz="4400" b="1" dirty="0" err="1"/>
              <a:t>Keluaran</a:t>
            </a:r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2800" dirty="0" err="1"/>
              <a:t>Pada</a:t>
            </a:r>
            <a:r>
              <a:rPr lang="fi-FI" sz="2800" dirty="0"/>
              <a:t> saat </a:t>
            </a:r>
            <a:r>
              <a:rPr lang="fi-FI" sz="2800" dirty="0" err="1"/>
              <a:t>komputer</a:t>
            </a:r>
            <a:r>
              <a:rPr lang="fi-FI" sz="2800" dirty="0"/>
              <a:t> </a:t>
            </a:r>
            <a:r>
              <a:rPr lang="fi-FI" sz="2800" dirty="0" err="1"/>
              <a:t>menampilkan</a:t>
            </a:r>
            <a:r>
              <a:rPr lang="fi-FI" sz="2800" dirty="0"/>
              <a:t> </a:t>
            </a:r>
            <a:r>
              <a:rPr lang="fi-FI" sz="2800" dirty="0" err="1"/>
              <a:t>informasi</a:t>
            </a:r>
            <a:r>
              <a:rPr lang="fi-FI" sz="2800" dirty="0"/>
              <a:t> </a:t>
            </a:r>
            <a:r>
              <a:rPr lang="fi-FI" sz="2800" dirty="0" err="1"/>
              <a:t>ataupun</a:t>
            </a:r>
            <a:r>
              <a:rPr lang="fi-FI" sz="2800" dirty="0"/>
              <a:t> </a:t>
            </a:r>
            <a:r>
              <a:rPr lang="fi-FI" sz="2800" i="1" dirty="0"/>
              <a:t>output</a:t>
            </a:r>
            <a:r>
              <a:rPr lang="fi-FI" sz="2800" dirty="0"/>
              <a:t>, </a:t>
            </a:r>
            <a:r>
              <a:rPr lang="fi-FI" sz="2800" dirty="0" err="1"/>
              <a:t>maka</a:t>
            </a:r>
            <a:r>
              <a:rPr lang="fi-FI" sz="2800" dirty="0"/>
              <a:t> </a:t>
            </a:r>
            <a:r>
              <a:rPr lang="fi-FI" sz="2800" i="1" dirty="0" err="1"/>
              <a:t>statement</a:t>
            </a:r>
            <a:r>
              <a:rPr lang="fi-FI" sz="2800" i="1" dirty="0"/>
              <a:t> </a:t>
            </a:r>
            <a:r>
              <a:rPr lang="fi-FI" sz="2800" dirty="0" err="1"/>
              <a:t>yang</a:t>
            </a:r>
            <a:r>
              <a:rPr lang="fi-FI" sz="2800" dirty="0"/>
              <a:t> </a:t>
            </a:r>
            <a:r>
              <a:rPr lang="fi-FI" sz="2800" dirty="0" err="1"/>
              <a:t>biasa</a:t>
            </a:r>
            <a:r>
              <a:rPr lang="fi-FI" sz="2800" dirty="0"/>
              <a:t> </a:t>
            </a:r>
            <a:r>
              <a:rPr lang="fi-FI" sz="2800" dirty="0" err="1"/>
              <a:t>digunakan</a:t>
            </a:r>
            <a:r>
              <a:rPr lang="fi-FI" sz="2800" dirty="0"/>
              <a:t> </a:t>
            </a:r>
            <a:r>
              <a:rPr lang="fi-FI" sz="2800" dirty="0" err="1"/>
              <a:t>adalah</a:t>
            </a:r>
            <a:r>
              <a:rPr lang="fi-FI" sz="2800" dirty="0"/>
              <a:t> </a:t>
            </a:r>
            <a:r>
              <a:rPr lang="fi-FI" sz="2800" b="1" dirty="0"/>
              <a:t>“</a:t>
            </a:r>
            <a:r>
              <a:rPr lang="fi-FI" sz="2800" b="1" dirty="0" err="1"/>
              <a:t>Print</a:t>
            </a:r>
            <a:r>
              <a:rPr lang="fi-FI" sz="2800" b="1" dirty="0"/>
              <a:t>”, “Write”, “</a:t>
            </a:r>
            <a:r>
              <a:rPr lang="fi-FI" sz="2800" b="1" dirty="0" err="1"/>
              <a:t>Put</a:t>
            </a:r>
            <a:r>
              <a:rPr lang="fi-FI" sz="2800" b="1" dirty="0"/>
              <a:t>”, “Output”, “</a:t>
            </a:r>
            <a:r>
              <a:rPr lang="fi-FI" sz="2800" b="1" dirty="0" err="1"/>
              <a:t>Display</a:t>
            </a:r>
            <a:r>
              <a:rPr lang="fi-FI" sz="2800" b="1" dirty="0"/>
              <a:t>” </a:t>
            </a:r>
            <a:r>
              <a:rPr lang="fi-FI" sz="2800" dirty="0" err="1"/>
              <a:t>ataupun</a:t>
            </a:r>
            <a:r>
              <a:rPr lang="fi-FI" sz="2800" dirty="0"/>
              <a:t> </a:t>
            </a:r>
            <a:r>
              <a:rPr lang="fi-FI" sz="2800" b="1" dirty="0"/>
              <a:t>“</a:t>
            </a:r>
            <a:r>
              <a:rPr lang="fi-FI" sz="2800" b="1" dirty="0" err="1"/>
              <a:t>Cetak</a:t>
            </a:r>
            <a:r>
              <a:rPr lang="fi-FI" sz="2800" b="1" dirty="0"/>
              <a:t>” </a:t>
            </a:r>
          </a:p>
          <a:p>
            <a:r>
              <a:rPr lang="fi-FI" sz="2800" dirty="0" err="1"/>
              <a:t>Contoh</a:t>
            </a:r>
            <a:r>
              <a:rPr lang="fi-FI" sz="2800" dirty="0"/>
              <a:t>:</a:t>
            </a:r>
          </a:p>
          <a:p>
            <a:pPr lvl="1"/>
            <a:r>
              <a:rPr lang="fi-FI" sz="2800" dirty="0" err="1"/>
              <a:t>Print</a:t>
            </a:r>
            <a:r>
              <a:rPr lang="fi-FI" sz="2800" dirty="0"/>
              <a:t> </a:t>
            </a:r>
            <a:r>
              <a:rPr lang="fi-FI" sz="2800" dirty="0" err="1"/>
              <a:t>luas</a:t>
            </a:r>
            <a:endParaRPr lang="fi-FI" sz="2800" dirty="0"/>
          </a:p>
          <a:p>
            <a:pPr lvl="1"/>
            <a:r>
              <a:rPr lang="fi-FI" sz="2800" dirty="0"/>
              <a:t>Output </a:t>
            </a:r>
            <a:r>
              <a:rPr lang="fi-FI" sz="2800" dirty="0" err="1"/>
              <a:t>total</a:t>
            </a:r>
            <a:endParaRPr lang="fi-FI" sz="2800" dirty="0"/>
          </a:p>
          <a:p>
            <a:pPr lvl="1"/>
            <a:r>
              <a:rPr lang="fi-FI" sz="2800" dirty="0" err="1"/>
              <a:t>Display</a:t>
            </a:r>
            <a:r>
              <a:rPr lang="fi-FI" sz="2800" dirty="0"/>
              <a:t> </a:t>
            </a:r>
            <a:r>
              <a:rPr lang="fi-FI" sz="2800" dirty="0" err="1"/>
              <a:t>gaji</a:t>
            </a:r>
            <a:endParaRPr lang="fi-FI" sz="2800" dirty="0"/>
          </a:p>
          <a:p>
            <a:pPr lvl="1"/>
            <a:r>
              <a:rPr lang="fi-FI" sz="2800" dirty="0" err="1"/>
              <a:t>Cetak</a:t>
            </a:r>
            <a:r>
              <a:rPr lang="fi-FI" sz="2800" dirty="0"/>
              <a:t> </a:t>
            </a:r>
            <a:r>
              <a:rPr lang="fi-FI" sz="2800" dirty="0" err="1"/>
              <a:t>nilai</a:t>
            </a:r>
            <a:endParaRPr lang="fi-FI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46786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77918" y="530772"/>
            <a:ext cx="8213725" cy="1054100"/>
          </a:xfrm>
        </p:spPr>
        <p:txBody>
          <a:bodyPr>
            <a:noAutofit/>
          </a:bodyPr>
          <a:lstStyle/>
          <a:p>
            <a:r>
              <a:rPr lang="en-US" sz="3600" b="1" dirty="0" err="1"/>
              <a:t>Pseudocode</a:t>
            </a:r>
            <a:r>
              <a:rPr lang="en-US" sz="3600" b="1" dirty="0"/>
              <a:t>: </a:t>
            </a:r>
            <a:r>
              <a:rPr lang="en-US" sz="3600" b="1" dirty="0" err="1"/>
              <a:t>Perhitungan</a:t>
            </a:r>
            <a:r>
              <a:rPr lang="en-US" sz="3600" b="1" dirty="0"/>
              <a:t> </a:t>
            </a:r>
            <a:r>
              <a:rPr lang="en-US" sz="3600" b="1" dirty="0" err="1"/>
              <a:t>Aritmatika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77918" y="1371600"/>
            <a:ext cx="9278882" cy="4800600"/>
          </a:xfrm>
        </p:spPr>
        <p:txBody>
          <a:bodyPr>
            <a:noAutofit/>
          </a:bodyPr>
          <a:lstStyle/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fi-FI" sz="2400" dirty="0"/>
              <a:t>melakukan operasi aritmetika digunakan pseudocode berikut: </a:t>
            </a:r>
          </a:p>
          <a:p>
            <a:endParaRPr lang="fi-FI" sz="2400" dirty="0"/>
          </a:p>
          <a:p>
            <a:endParaRPr lang="fi-FI" sz="2400" dirty="0"/>
          </a:p>
          <a:p>
            <a:pPr marL="0" indent="0">
              <a:buNone/>
            </a:pPr>
            <a:endParaRPr lang="fi-FI" sz="2400" dirty="0"/>
          </a:p>
          <a:p>
            <a:pPr marL="0" indent="0">
              <a:buNone/>
            </a:pPr>
            <a:endParaRPr lang="fi-FI" sz="2400" dirty="0"/>
          </a:p>
          <a:p>
            <a:pPr marL="0" indent="0">
              <a:buNone/>
            </a:pPr>
            <a:endParaRPr lang="fi-FI" sz="2400" dirty="0"/>
          </a:p>
          <a:p>
            <a:pPr marL="0" indent="0">
              <a:buNone/>
            </a:pPr>
            <a:endParaRPr lang="fi-FI" sz="2400" dirty="0"/>
          </a:p>
          <a:p>
            <a:r>
              <a:rPr lang="fi-FI" sz="2400" dirty="0"/>
              <a:t>Statement </a:t>
            </a:r>
            <a:r>
              <a:rPr lang="fi-FI" sz="2400" b="1" dirty="0"/>
              <a:t>“Compute”, “Calculate”</a:t>
            </a:r>
            <a:r>
              <a:rPr lang="fi-FI" sz="2400" dirty="0"/>
              <a:t> ataupun </a:t>
            </a:r>
            <a:r>
              <a:rPr lang="fi-FI" sz="2400" b="1" dirty="0"/>
              <a:t>“Hitung” </a:t>
            </a:r>
            <a:r>
              <a:rPr lang="fi-FI" sz="2400" dirty="0"/>
              <a:t>juga dapat digunakan. </a:t>
            </a:r>
          </a:p>
          <a:p>
            <a:r>
              <a:rPr lang="fi-FI" sz="2400" dirty="0" err="1"/>
              <a:t>Contoh</a:t>
            </a:r>
            <a:r>
              <a:rPr lang="fi-FI" sz="2400" dirty="0"/>
              <a:t>:</a:t>
            </a:r>
          </a:p>
          <a:p>
            <a:pPr marL="411480" lvl="1" indent="0">
              <a:buNone/>
            </a:pPr>
            <a:r>
              <a:rPr lang="fi-FI" sz="2400" b="1" dirty="0" err="1"/>
              <a:t>Add</a:t>
            </a:r>
            <a:r>
              <a:rPr lang="fi-FI" sz="2400" b="1" dirty="0"/>
              <a:t> bilangan1 and bilangan2 to </a:t>
            </a:r>
            <a:r>
              <a:rPr lang="fi-FI" sz="2400" b="1" dirty="0" err="1"/>
              <a:t>total</a:t>
            </a:r>
            <a:endParaRPr lang="fi-FI" sz="2400" b="1" dirty="0"/>
          </a:p>
          <a:p>
            <a:pPr marL="411480" lvl="1" indent="0">
              <a:buNone/>
            </a:pPr>
            <a:r>
              <a:rPr lang="en-US" sz="2400" b="1" dirty="0"/>
              <a:t>t</a:t>
            </a:r>
            <a:r>
              <a:rPr lang="fi-FI" sz="2400" b="1" dirty="0" err="1"/>
              <a:t>otal</a:t>
            </a:r>
            <a:r>
              <a:rPr lang="fi-FI" sz="2400" b="1" dirty="0"/>
              <a:t> = bilangan1 + bilangan2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70773"/>
              </p:ext>
            </p:extLst>
          </p:nvPr>
        </p:nvGraphicFramePr>
        <p:xfrm>
          <a:off x="1284890" y="2024336"/>
          <a:ext cx="6096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Penjumlahan</a:t>
                      </a:r>
                      <a:r>
                        <a:rPr lang="en-US" dirty="0"/>
                        <a:t> (Add)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Pengurangan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substract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Perkalian</a:t>
                      </a:r>
                      <a:r>
                        <a:rPr lang="en-US" dirty="0"/>
                        <a:t> (multiple)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Pembagian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Devide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Kurung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426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err="1"/>
              <a:t>Pseudocode</a:t>
            </a:r>
            <a:r>
              <a:rPr lang="en-US" sz="4000" b="1" dirty="0"/>
              <a:t>: </a:t>
            </a:r>
            <a:r>
              <a:rPr lang="en-US" sz="4000" b="1" dirty="0" err="1"/>
              <a:t>Memberikan</a:t>
            </a:r>
            <a:r>
              <a:rPr lang="en-US" sz="4000" b="1" dirty="0"/>
              <a:t> </a:t>
            </a:r>
            <a:r>
              <a:rPr lang="en-US" sz="4000" b="1" dirty="0" err="1"/>
              <a:t>Nilai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17" y="1450429"/>
            <a:ext cx="10515600" cy="4709072"/>
          </a:xfrm>
        </p:spPr>
        <p:txBody>
          <a:bodyPr>
            <a:normAutofit/>
          </a:bodyPr>
          <a:lstStyle/>
          <a:p>
            <a:r>
              <a:rPr lang="fi-FI" sz="2400" dirty="0" err="1"/>
              <a:t>Ada</a:t>
            </a:r>
            <a:r>
              <a:rPr lang="fi-FI" sz="2400" dirty="0"/>
              <a:t> </a:t>
            </a:r>
            <a:r>
              <a:rPr lang="fi-FI" sz="2400" dirty="0" err="1"/>
              <a:t>bebrapa</a:t>
            </a:r>
            <a:r>
              <a:rPr lang="fi-FI" sz="2400" dirty="0"/>
              <a:t> </a:t>
            </a:r>
            <a:r>
              <a:rPr lang="fi-FI" sz="2400" dirty="0" err="1"/>
              <a:t>cara</a:t>
            </a:r>
            <a:r>
              <a:rPr lang="fi-FI" sz="2400" dirty="0"/>
              <a:t> </a:t>
            </a:r>
            <a:r>
              <a:rPr lang="fi-FI" sz="2400" dirty="0" err="1"/>
              <a:t>untuk</a:t>
            </a:r>
            <a:r>
              <a:rPr lang="fi-FI" sz="2400" dirty="0"/>
              <a:t> </a:t>
            </a:r>
            <a:r>
              <a:rPr lang="fi-FI" sz="2400" dirty="0" err="1"/>
              <a:t>memberikan</a:t>
            </a:r>
            <a:r>
              <a:rPr lang="fi-FI" sz="2400" dirty="0"/>
              <a:t> </a:t>
            </a:r>
            <a:r>
              <a:rPr lang="fi-FI" sz="2400" dirty="0" err="1"/>
              <a:t>nilai</a:t>
            </a:r>
            <a:r>
              <a:rPr lang="fi-FI" sz="2400" dirty="0"/>
              <a:t> ke </a:t>
            </a:r>
            <a:r>
              <a:rPr lang="fi-FI" sz="2400" dirty="0" err="1"/>
              <a:t>dalam</a:t>
            </a:r>
            <a:r>
              <a:rPr lang="fi-FI" sz="2400" dirty="0"/>
              <a:t> </a:t>
            </a:r>
            <a:r>
              <a:rPr lang="fi-FI" sz="2400" dirty="0" err="1"/>
              <a:t>variabel</a:t>
            </a:r>
            <a:r>
              <a:rPr lang="fi-FI" sz="2400" dirty="0"/>
              <a:t> : </a:t>
            </a:r>
          </a:p>
          <a:p>
            <a:pPr lvl="1"/>
            <a:r>
              <a:rPr lang="fi-FI" sz="2400" dirty="0" err="1"/>
              <a:t>Memberikan</a:t>
            </a:r>
            <a:r>
              <a:rPr lang="fi-FI" sz="2400" dirty="0"/>
              <a:t> </a:t>
            </a:r>
            <a:r>
              <a:rPr lang="fi-FI" sz="2400" dirty="0" err="1"/>
              <a:t>nilai</a:t>
            </a:r>
            <a:r>
              <a:rPr lang="fi-FI" sz="2400" dirty="0"/>
              <a:t> </a:t>
            </a:r>
            <a:r>
              <a:rPr lang="fi-FI" sz="2400" dirty="0" err="1"/>
              <a:t>awal</a:t>
            </a:r>
            <a:r>
              <a:rPr lang="fi-FI" sz="2400" dirty="0"/>
              <a:t>, </a:t>
            </a:r>
            <a:r>
              <a:rPr lang="fi-FI" sz="2400" dirty="0" err="1"/>
              <a:t>menggunakan</a:t>
            </a:r>
            <a:r>
              <a:rPr lang="fi-FI" sz="2400" dirty="0"/>
              <a:t> </a:t>
            </a:r>
            <a:r>
              <a:rPr lang="fi-FI" sz="2400" i="1" dirty="0" err="1"/>
              <a:t>statement</a:t>
            </a:r>
            <a:r>
              <a:rPr lang="fi-FI" sz="2400" i="1" dirty="0"/>
              <a:t> </a:t>
            </a:r>
            <a:r>
              <a:rPr lang="fi-FI" sz="2400" b="1" dirty="0"/>
              <a:t>“</a:t>
            </a:r>
            <a:r>
              <a:rPr lang="fi-FI" sz="2400" b="1" dirty="0" err="1"/>
              <a:t>Initialize</a:t>
            </a:r>
            <a:r>
              <a:rPr lang="fi-FI" sz="2400" b="1" dirty="0"/>
              <a:t>” </a:t>
            </a:r>
            <a:r>
              <a:rPr lang="fi-FI" sz="2400" dirty="0" err="1"/>
              <a:t>atau</a:t>
            </a:r>
            <a:r>
              <a:rPr lang="fi-FI" sz="2400" dirty="0"/>
              <a:t> </a:t>
            </a:r>
            <a:r>
              <a:rPr lang="fi-FI" sz="2400" b="1" dirty="0"/>
              <a:t>“Set” </a:t>
            </a:r>
          </a:p>
          <a:p>
            <a:pPr lvl="1"/>
            <a:r>
              <a:rPr lang="fi-FI" sz="2400" dirty="0" err="1"/>
              <a:t>Memberikan</a:t>
            </a:r>
            <a:r>
              <a:rPr lang="fi-FI" sz="2400" dirty="0"/>
              <a:t> </a:t>
            </a:r>
            <a:r>
              <a:rPr lang="fi-FI" sz="2400" dirty="0" err="1"/>
              <a:t>nilai</a:t>
            </a:r>
            <a:r>
              <a:rPr lang="fi-FI" sz="2400" dirty="0"/>
              <a:t> </a:t>
            </a:r>
            <a:r>
              <a:rPr lang="fi-FI" sz="2400" dirty="0" err="1"/>
              <a:t>sebagai</a:t>
            </a:r>
            <a:r>
              <a:rPr lang="fi-FI" sz="2400" dirty="0"/>
              <a:t> </a:t>
            </a:r>
            <a:r>
              <a:rPr lang="fi-FI" sz="2400" dirty="0" err="1"/>
              <a:t>hasil</a:t>
            </a:r>
            <a:r>
              <a:rPr lang="fi-FI" sz="2400" dirty="0"/>
              <a:t> dari </a:t>
            </a:r>
            <a:r>
              <a:rPr lang="fi-FI" sz="2400" dirty="0" err="1"/>
              <a:t>suatu</a:t>
            </a:r>
            <a:r>
              <a:rPr lang="fi-FI" sz="2400" dirty="0"/>
              <a:t> </a:t>
            </a:r>
            <a:r>
              <a:rPr lang="fi-FI" sz="2400" dirty="0" err="1"/>
              <a:t>proses</a:t>
            </a:r>
            <a:r>
              <a:rPr lang="fi-FI" sz="2400" dirty="0"/>
              <a:t>, </a:t>
            </a:r>
            <a:r>
              <a:rPr lang="fi-FI" sz="2400" dirty="0" err="1"/>
              <a:t>maka</a:t>
            </a:r>
            <a:r>
              <a:rPr lang="fi-FI" sz="2400" dirty="0"/>
              <a:t> </a:t>
            </a:r>
            <a:r>
              <a:rPr lang="fi-FI" sz="2400" dirty="0" err="1"/>
              <a:t>tanda</a:t>
            </a:r>
            <a:r>
              <a:rPr lang="fi-FI" sz="2400" dirty="0"/>
              <a:t> </a:t>
            </a:r>
            <a:r>
              <a:rPr lang="fi-FI" sz="2400" b="1" dirty="0"/>
              <a:t>“=“ </a:t>
            </a:r>
            <a:r>
              <a:rPr lang="fi-FI" sz="2400" dirty="0" err="1"/>
              <a:t>atau</a:t>
            </a:r>
            <a:r>
              <a:rPr lang="fi-FI" sz="2400" dirty="0"/>
              <a:t> ”</a:t>
            </a:r>
            <a:r>
              <a:rPr lang="en-US" sz="2400" dirty="0">
                <a:sym typeface="Wingdings"/>
              </a:rPr>
              <a:t></a:t>
            </a:r>
            <a:r>
              <a:rPr lang="fi-FI" sz="2400" dirty="0"/>
              <a:t>” </a:t>
            </a:r>
            <a:r>
              <a:rPr lang="fi-FI" sz="2400" dirty="0" err="1"/>
              <a:t>bisa</a:t>
            </a:r>
            <a:r>
              <a:rPr lang="fi-FI" sz="2400" dirty="0"/>
              <a:t> </a:t>
            </a:r>
            <a:r>
              <a:rPr lang="fi-FI" sz="2400" dirty="0" err="1"/>
              <a:t>digunakan</a:t>
            </a:r>
            <a:r>
              <a:rPr lang="fi-FI" sz="2400" dirty="0"/>
              <a:t> </a:t>
            </a:r>
          </a:p>
          <a:p>
            <a:pPr lvl="1"/>
            <a:r>
              <a:rPr lang="fi-FI" sz="2400" dirty="0" err="1"/>
              <a:t>Untuk</a:t>
            </a:r>
            <a:r>
              <a:rPr lang="fi-FI" sz="2400" dirty="0"/>
              <a:t> </a:t>
            </a:r>
            <a:r>
              <a:rPr lang="fi-FI" sz="2400" dirty="0" err="1"/>
              <a:t>menyimpan</a:t>
            </a:r>
            <a:r>
              <a:rPr lang="fi-FI" sz="2400" dirty="0"/>
              <a:t> </a:t>
            </a:r>
            <a:r>
              <a:rPr lang="fi-FI" sz="2400" dirty="0" err="1"/>
              <a:t>suatu</a:t>
            </a:r>
            <a:r>
              <a:rPr lang="fi-FI" sz="2400" dirty="0"/>
              <a:t> </a:t>
            </a:r>
            <a:r>
              <a:rPr lang="fi-FI" sz="2400" dirty="0" err="1"/>
              <a:t>nilai</a:t>
            </a:r>
            <a:r>
              <a:rPr lang="fi-FI" sz="2400" dirty="0"/>
              <a:t> </a:t>
            </a:r>
            <a:r>
              <a:rPr lang="fi-FI" sz="2400" dirty="0" err="1"/>
              <a:t>maka</a:t>
            </a:r>
            <a:r>
              <a:rPr lang="fi-FI" sz="2400" dirty="0"/>
              <a:t> </a:t>
            </a:r>
            <a:r>
              <a:rPr lang="fi-FI" sz="2400" i="1" dirty="0" err="1"/>
              <a:t>statement</a:t>
            </a:r>
            <a:r>
              <a:rPr lang="fi-FI" sz="2400" i="1" dirty="0"/>
              <a:t> </a:t>
            </a:r>
            <a:r>
              <a:rPr lang="fi-FI" sz="2400" b="1" dirty="0"/>
              <a:t>“</a:t>
            </a:r>
            <a:r>
              <a:rPr lang="fi-FI" sz="2400" b="1" dirty="0" err="1"/>
              <a:t>Save</a:t>
            </a:r>
            <a:r>
              <a:rPr lang="fi-FI" sz="2400" b="1" dirty="0"/>
              <a:t>” </a:t>
            </a:r>
            <a:r>
              <a:rPr lang="fi-FI" sz="2400" dirty="0" err="1"/>
              <a:t>atau</a:t>
            </a:r>
            <a:r>
              <a:rPr lang="fi-FI" sz="2400" dirty="0"/>
              <a:t> </a:t>
            </a:r>
            <a:r>
              <a:rPr lang="fi-FI" sz="2400" b="1" dirty="0"/>
              <a:t>“</a:t>
            </a:r>
            <a:r>
              <a:rPr lang="fi-FI" sz="2400" b="1" dirty="0" err="1"/>
              <a:t>Store</a:t>
            </a:r>
            <a:r>
              <a:rPr lang="fi-FI" sz="2400" b="1" dirty="0"/>
              <a:t>” </a:t>
            </a:r>
            <a:r>
              <a:rPr lang="fi-FI" sz="2400" dirty="0" err="1"/>
              <a:t>digunakan</a:t>
            </a:r>
            <a:r>
              <a:rPr lang="fi-FI" sz="2400" dirty="0"/>
              <a:t> </a:t>
            </a:r>
          </a:p>
          <a:p>
            <a:r>
              <a:rPr lang="fi-FI" sz="2400" dirty="0" err="1"/>
              <a:t>Contoh</a:t>
            </a:r>
            <a:r>
              <a:rPr lang="fi-FI" sz="2400" dirty="0"/>
              <a:t>:</a:t>
            </a:r>
          </a:p>
          <a:p>
            <a:pPr marL="411480" lvl="1" indent="0">
              <a:buNone/>
            </a:pPr>
            <a:r>
              <a:rPr lang="fi-FI" sz="2400" b="1" dirty="0"/>
              <a:t>Set </a:t>
            </a:r>
            <a:r>
              <a:rPr lang="fi-FI" sz="2400" b="1" dirty="0" err="1"/>
              <a:t>counter</a:t>
            </a:r>
            <a:r>
              <a:rPr lang="fi-FI" sz="2400" b="1" dirty="0"/>
              <a:t> to 0</a:t>
            </a:r>
          </a:p>
          <a:p>
            <a:pPr marL="411480" lvl="1" indent="0">
              <a:buNone/>
            </a:pPr>
            <a:r>
              <a:rPr lang="fi-FI" sz="2400" b="1" dirty="0" err="1"/>
              <a:t>Initialize</a:t>
            </a:r>
            <a:r>
              <a:rPr lang="fi-FI" sz="2400" b="1" dirty="0"/>
              <a:t> </a:t>
            </a:r>
            <a:r>
              <a:rPr lang="fi-FI" sz="2400" b="1" dirty="0" err="1"/>
              <a:t>counter</a:t>
            </a:r>
            <a:r>
              <a:rPr lang="fi-FI" sz="2400" b="1" dirty="0"/>
              <a:t> to 0</a:t>
            </a:r>
          </a:p>
          <a:p>
            <a:pPr marL="411480" lvl="1" indent="0">
              <a:buNone/>
            </a:pPr>
            <a:r>
              <a:rPr lang="en-US" sz="2400" b="1" dirty="0"/>
              <a:t>t</a:t>
            </a:r>
            <a:r>
              <a:rPr lang="fi-FI" sz="2400" b="1" dirty="0" err="1"/>
              <a:t>otal</a:t>
            </a:r>
            <a:r>
              <a:rPr lang="fi-FI" sz="2400" b="1" dirty="0"/>
              <a:t> </a:t>
            </a:r>
            <a:r>
              <a:rPr lang="en-US" sz="2400" b="1" dirty="0">
                <a:sym typeface="Wingdings"/>
              </a:rPr>
              <a:t> bilangan1 + bilangan2</a:t>
            </a:r>
          </a:p>
          <a:p>
            <a:pPr marL="411480" lvl="1" indent="0">
              <a:buNone/>
            </a:pPr>
            <a:r>
              <a:rPr lang="en-US" sz="2400" b="1" dirty="0" err="1">
                <a:sym typeface="Wingdings"/>
              </a:rPr>
              <a:t>luas</a:t>
            </a:r>
            <a:r>
              <a:rPr lang="en-US" sz="2400" b="1" dirty="0">
                <a:sym typeface="Wingdings"/>
              </a:rPr>
              <a:t> = </a:t>
            </a:r>
            <a:r>
              <a:rPr lang="en-US" sz="2400" b="1" dirty="0" err="1">
                <a:sym typeface="Wingdings"/>
              </a:rPr>
              <a:t>panjang</a:t>
            </a:r>
            <a:r>
              <a:rPr lang="en-US" sz="2400" b="1" dirty="0">
                <a:sym typeface="Wingdings"/>
              </a:rPr>
              <a:t> * </a:t>
            </a:r>
            <a:r>
              <a:rPr lang="en-US" sz="2400" b="1" dirty="0" err="1">
                <a:sym typeface="Wingdings"/>
              </a:rPr>
              <a:t>lebar</a:t>
            </a:r>
            <a:endParaRPr lang="fi-FI" sz="2400" b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0211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7049" y="530860"/>
            <a:ext cx="7756525" cy="1054100"/>
          </a:xfrm>
        </p:spPr>
        <p:txBody>
          <a:bodyPr>
            <a:noAutofit/>
          </a:bodyPr>
          <a:lstStyle/>
          <a:p>
            <a:r>
              <a:rPr lang="en-US" sz="3200" b="1" dirty="0" err="1"/>
              <a:t>Pseudocode</a:t>
            </a:r>
            <a:r>
              <a:rPr lang="en-US" sz="3200" b="1" dirty="0"/>
              <a:t> : </a:t>
            </a:r>
            <a:r>
              <a:rPr lang="en-US" sz="3200" b="1" dirty="0" err="1"/>
              <a:t>Operasi</a:t>
            </a:r>
            <a:r>
              <a:rPr lang="en-US" sz="3200" b="1" dirty="0"/>
              <a:t> </a:t>
            </a:r>
            <a:r>
              <a:rPr lang="en-US" sz="3200" b="1" dirty="0" err="1"/>
              <a:t>Pembandingan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57049" y="1292772"/>
            <a:ext cx="9958551" cy="5565228"/>
          </a:xfrm>
        </p:spPr>
        <p:txBody>
          <a:bodyPr>
            <a:normAutofit/>
          </a:bodyPr>
          <a:lstStyle/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membandingkan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2 </a:t>
            </a:r>
            <a:r>
              <a:rPr lang="en-US" sz="2400" dirty="0" err="1"/>
              <a:t>variabel</a:t>
            </a:r>
            <a:r>
              <a:rPr lang="en-US" sz="2400" dirty="0"/>
              <a:t>, </a:t>
            </a:r>
            <a:r>
              <a:rPr lang="en-US" sz="2400" dirty="0" err="1"/>
              <a:t>digunakan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salah</a:t>
            </a:r>
            <a:endParaRPr lang="en-US" sz="2400" dirty="0"/>
          </a:p>
          <a:p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  <a:p>
            <a:pPr marL="411480" lvl="1" indent="0">
              <a:buNone/>
            </a:pPr>
            <a:r>
              <a:rPr lang="en-US" sz="2400" b="1" dirty="0"/>
              <a:t>a &gt; b</a:t>
            </a:r>
          </a:p>
          <a:p>
            <a:pPr marL="411480" lvl="1" indent="0">
              <a:buNone/>
            </a:pPr>
            <a:r>
              <a:rPr lang="en-US" sz="2400" b="1" dirty="0"/>
              <a:t>c == d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639844"/>
              </p:ext>
            </p:extLst>
          </p:nvPr>
        </p:nvGraphicFramePr>
        <p:xfrm>
          <a:off x="1676400" y="1844040"/>
          <a:ext cx="609600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Kurang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dari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Kurang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dengan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Lebih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dari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Lebih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dari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dengan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Sama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dengan</a:t>
                      </a:r>
                      <a:r>
                        <a:rPr lang="en-US" sz="20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Tidak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sama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dengan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964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err="1"/>
              <a:t>Pseudocode</a:t>
            </a:r>
            <a:r>
              <a:rPr lang="en-US" sz="4000" b="1" dirty="0"/>
              <a:t> : </a:t>
            </a:r>
            <a:r>
              <a:rPr lang="en-US" sz="4000" b="1" dirty="0" err="1"/>
              <a:t>Operasi</a:t>
            </a:r>
            <a:r>
              <a:rPr lang="en-US" sz="4000" b="1" dirty="0"/>
              <a:t> </a:t>
            </a:r>
            <a:r>
              <a:rPr lang="en-US" sz="4000" b="1" dirty="0" err="1"/>
              <a:t>Relasional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me-</a:t>
            </a:r>
            <a:r>
              <a:rPr lang="en-US" sz="2400" dirty="0" err="1"/>
              <a:t>relasikan</a:t>
            </a:r>
            <a:r>
              <a:rPr lang="en-US" sz="2400" dirty="0"/>
              <a:t> 2 </a:t>
            </a:r>
            <a:r>
              <a:rPr lang="en-US" sz="2400" dirty="0" err="1"/>
              <a:t>keadaan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endParaRPr lang="en-US" sz="2400" dirty="0"/>
          </a:p>
          <a:p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true </a:t>
            </a:r>
            <a:r>
              <a:rPr lang="en-US" sz="2400" dirty="0" err="1"/>
              <a:t>dan</a:t>
            </a:r>
            <a:r>
              <a:rPr lang="en-US" sz="2400" dirty="0"/>
              <a:t> false</a:t>
            </a:r>
          </a:p>
          <a:p>
            <a:r>
              <a:rPr lang="en-US" sz="2400" dirty="0"/>
              <a:t>Kata </a:t>
            </a:r>
            <a:r>
              <a:rPr lang="en-US" sz="2400" dirty="0" err="1"/>
              <a:t>kunci</a:t>
            </a:r>
            <a:r>
              <a:rPr lang="en-US" sz="2400" dirty="0"/>
              <a:t>: AND, OR</a:t>
            </a:r>
          </a:p>
          <a:p>
            <a:r>
              <a:rPr lang="en-US" sz="2400" dirty="0" err="1"/>
              <a:t>Contoh</a:t>
            </a:r>
            <a:r>
              <a:rPr lang="en-US" sz="2400" dirty="0"/>
              <a:t>:</a:t>
            </a:r>
          </a:p>
          <a:p>
            <a:pPr marL="411480" lvl="1" indent="0">
              <a:buNone/>
            </a:pPr>
            <a:r>
              <a:rPr lang="en-US" sz="2400" b="1" dirty="0" err="1"/>
              <a:t>umur</a:t>
            </a:r>
            <a:r>
              <a:rPr lang="en-US" sz="2400" b="1" dirty="0"/>
              <a:t> &lt; 15 AND </a:t>
            </a:r>
            <a:r>
              <a:rPr lang="en-US" sz="2400" b="1" dirty="0" err="1"/>
              <a:t>nilai</a:t>
            </a:r>
            <a:r>
              <a:rPr lang="en-US" sz="2400" b="1" dirty="0"/>
              <a:t> &gt; 70</a:t>
            </a:r>
          </a:p>
          <a:p>
            <a:pPr marL="411480" lvl="1" indent="0">
              <a:buNone/>
            </a:pPr>
            <a:r>
              <a:rPr lang="en-US" sz="2400" b="1" dirty="0" err="1"/>
              <a:t>nilai</a:t>
            </a:r>
            <a:r>
              <a:rPr lang="en-US" sz="2400" b="1" dirty="0"/>
              <a:t> == ‘A’ OR </a:t>
            </a:r>
            <a:r>
              <a:rPr lang="en-US" sz="2400" b="1" dirty="0" err="1"/>
              <a:t>nilai</a:t>
            </a:r>
            <a:r>
              <a:rPr lang="en-US" sz="2400" b="1" dirty="0"/>
              <a:t> == ‘B’</a:t>
            </a:r>
          </a:p>
          <a:p>
            <a:pPr marL="41148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536122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/>
              <a:t>Pseudocode</a:t>
            </a:r>
            <a:r>
              <a:rPr lang="en-US" sz="3600" b="1" dirty="0"/>
              <a:t>: </a:t>
            </a:r>
            <a:r>
              <a:rPr lang="en-US" sz="3600" b="1" dirty="0" err="1"/>
              <a:t>Pemilihan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683" y="1488636"/>
            <a:ext cx="9237427" cy="4124910"/>
          </a:xfrm>
        </p:spPr>
        <p:txBody>
          <a:bodyPr>
            <a:noAutofit/>
          </a:bodyPr>
          <a:lstStyle/>
          <a:p>
            <a:r>
              <a:rPr lang="en-US" sz="2400" dirty="0"/>
              <a:t>Salah </a:t>
            </a:r>
            <a:r>
              <a:rPr lang="tr-TR" sz="2400" dirty="0" err="1"/>
              <a:t>satu</a:t>
            </a:r>
            <a:r>
              <a:rPr lang="tr-TR" sz="2400" dirty="0"/>
              <a:t> </a:t>
            </a:r>
            <a:r>
              <a:rPr lang="tr-TR" sz="2400" dirty="0" err="1"/>
              <a:t>operasi</a:t>
            </a:r>
            <a:r>
              <a:rPr lang="tr-TR" sz="2400" dirty="0"/>
              <a:t> </a:t>
            </a:r>
            <a:r>
              <a:rPr lang="tr-TR" sz="2400" dirty="0" err="1"/>
              <a:t>terpenting</a:t>
            </a:r>
            <a:r>
              <a:rPr lang="tr-TR" sz="2400" dirty="0"/>
              <a:t> </a:t>
            </a:r>
            <a:r>
              <a:rPr lang="tr-TR" sz="2400" dirty="0" err="1"/>
              <a:t>yang</a:t>
            </a:r>
            <a:r>
              <a:rPr lang="tr-TR" sz="2400" dirty="0"/>
              <a:t> </a:t>
            </a:r>
            <a:r>
              <a:rPr lang="tr-TR" sz="2400" dirty="0" err="1"/>
              <a:t>dapat</a:t>
            </a:r>
            <a:r>
              <a:rPr lang="tr-TR" sz="2400" dirty="0"/>
              <a:t> </a:t>
            </a:r>
            <a:r>
              <a:rPr lang="tr-TR" sz="2400" dirty="0" err="1"/>
              <a:t>dilakukan</a:t>
            </a:r>
            <a:r>
              <a:rPr lang="tr-TR" sz="2400" dirty="0"/>
              <a:t> </a:t>
            </a:r>
            <a:r>
              <a:rPr lang="tr-TR" sz="2400" dirty="0" err="1"/>
              <a:t>komputer</a:t>
            </a:r>
            <a:r>
              <a:rPr lang="tr-TR" sz="2400" dirty="0"/>
              <a:t> </a:t>
            </a:r>
            <a:r>
              <a:rPr lang="tr-TR" sz="2400" dirty="0" err="1"/>
              <a:t>adalah</a:t>
            </a:r>
            <a:r>
              <a:rPr lang="tr-TR" sz="2400" dirty="0"/>
              <a:t> </a:t>
            </a:r>
            <a:r>
              <a:rPr lang="tr-TR" sz="2400" dirty="0" err="1"/>
              <a:t>membandingkan</a:t>
            </a:r>
            <a:r>
              <a:rPr lang="tr-TR" sz="2400" dirty="0"/>
              <a:t> dan </a:t>
            </a:r>
            <a:r>
              <a:rPr lang="tr-TR" sz="2400" dirty="0" err="1"/>
              <a:t>memilih</a:t>
            </a:r>
            <a:r>
              <a:rPr lang="tr-TR" sz="2400" dirty="0"/>
              <a:t> salah </a:t>
            </a:r>
            <a:r>
              <a:rPr lang="tr-TR" sz="2400" dirty="0" err="1"/>
              <a:t>satu</a:t>
            </a:r>
            <a:r>
              <a:rPr lang="tr-TR" sz="2400" dirty="0"/>
              <a:t> </a:t>
            </a:r>
            <a:r>
              <a:rPr lang="tr-TR" sz="2400" dirty="0" err="1"/>
              <a:t>alternaaf</a:t>
            </a:r>
            <a:r>
              <a:rPr lang="tr-TR" sz="2400" dirty="0"/>
              <a:t> </a:t>
            </a:r>
            <a:r>
              <a:rPr lang="tr-TR" sz="2400" dirty="0" err="1"/>
              <a:t>solusi</a:t>
            </a:r>
            <a:r>
              <a:rPr lang="tr-TR" sz="2400" dirty="0"/>
              <a:t>. </a:t>
            </a:r>
          </a:p>
          <a:p>
            <a:r>
              <a:rPr lang="nl-NL" sz="2400" dirty="0" err="1"/>
              <a:t>Keyword</a:t>
            </a:r>
            <a:r>
              <a:rPr lang="nl-NL" sz="2400" dirty="0"/>
              <a:t> yang </a:t>
            </a:r>
            <a:r>
              <a:rPr lang="nl-NL" sz="2400" dirty="0" err="1"/>
              <a:t>digunakan</a:t>
            </a:r>
            <a:r>
              <a:rPr lang="nl-NL" sz="2400" dirty="0"/>
              <a:t> </a:t>
            </a:r>
            <a:r>
              <a:rPr lang="nl-NL" sz="2400" b="1" dirty="0"/>
              <a:t>: “IF”, “THEN” </a:t>
            </a:r>
            <a:r>
              <a:rPr lang="nl-NL" sz="2400" dirty="0"/>
              <a:t>dan </a:t>
            </a:r>
            <a:r>
              <a:rPr lang="nl-NL" sz="2400" b="1" dirty="0"/>
              <a:t>“ELSE” </a:t>
            </a:r>
          </a:p>
          <a:p>
            <a:r>
              <a:rPr lang="en-US" sz="2400" dirty="0" err="1"/>
              <a:t>Contoh</a:t>
            </a:r>
            <a:endParaRPr lang="en-US" sz="2400" dirty="0"/>
          </a:p>
          <a:p>
            <a:pPr marL="685800" lvl="2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INPUT 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endParaRPr lang="en-US" sz="2400" b="1" dirty="0">
              <a:solidFill>
                <a:schemeClr val="tx1"/>
              </a:solidFill>
            </a:endParaRPr>
          </a:p>
          <a:p>
            <a:pPr marL="685800" lvl="2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IF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 &gt;100 THEN</a:t>
            </a:r>
          </a:p>
          <a:p>
            <a:pPr marL="685800" lvl="2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	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 = 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-(0.5*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</a:p>
          <a:p>
            <a:pPr marL="685800" lvl="2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ELSE</a:t>
            </a:r>
          </a:p>
          <a:p>
            <a:pPr marL="685800" lvl="2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	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 = 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-(0.1*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)</a:t>
            </a:r>
          </a:p>
          <a:p>
            <a:pPr marL="685800" lvl="2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ENDIF </a:t>
            </a:r>
          </a:p>
          <a:p>
            <a:pPr marL="685800" lvl="2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OUTPUT </a:t>
            </a:r>
            <a:r>
              <a:rPr lang="en-US" sz="2400" b="1" dirty="0" err="1">
                <a:solidFill>
                  <a:schemeClr val="tx1"/>
                </a:solidFill>
              </a:rPr>
              <a:t>harga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6838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/>
              <a:t>Pseudocode</a:t>
            </a:r>
            <a:r>
              <a:rPr lang="en-US" sz="4800" b="1" dirty="0"/>
              <a:t>: </a:t>
            </a:r>
            <a:r>
              <a:rPr lang="en-US" sz="4800" b="1" dirty="0" err="1"/>
              <a:t>Pengulangan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800" dirty="0" err="1"/>
              <a:t>Jika</a:t>
            </a:r>
            <a:r>
              <a:rPr lang="nl-NL" sz="2800" dirty="0"/>
              <a:t> </a:t>
            </a:r>
            <a:r>
              <a:rPr lang="nl-NL" sz="2800" dirty="0" err="1"/>
              <a:t>ada</a:t>
            </a:r>
            <a:r>
              <a:rPr lang="nl-NL" sz="2800" dirty="0"/>
              <a:t> </a:t>
            </a:r>
            <a:r>
              <a:rPr lang="nl-NL" sz="2800" dirty="0" err="1"/>
              <a:t>beberapa</a:t>
            </a:r>
            <a:r>
              <a:rPr lang="nl-NL" sz="2800" dirty="0"/>
              <a:t> </a:t>
            </a:r>
            <a:r>
              <a:rPr lang="nl-NL" sz="2800" dirty="0" err="1"/>
              <a:t>perintah</a:t>
            </a:r>
            <a:r>
              <a:rPr lang="nl-NL" sz="2800" dirty="0"/>
              <a:t> </a:t>
            </a:r>
            <a:r>
              <a:rPr lang="nl-NL" sz="2800" dirty="0" err="1"/>
              <a:t>atau</a:t>
            </a:r>
            <a:r>
              <a:rPr lang="nl-NL" sz="2800" dirty="0"/>
              <a:t> </a:t>
            </a:r>
            <a:r>
              <a:rPr lang="nl-NL" sz="2800" dirty="0" err="1"/>
              <a:t>proses</a:t>
            </a:r>
            <a:r>
              <a:rPr lang="nl-NL" sz="2800" dirty="0"/>
              <a:t> yang </a:t>
            </a:r>
            <a:r>
              <a:rPr lang="nl-NL" sz="2800" dirty="0" err="1"/>
              <a:t>harus</a:t>
            </a:r>
            <a:r>
              <a:rPr lang="nl-NL" sz="2800" dirty="0"/>
              <a:t> </a:t>
            </a:r>
            <a:r>
              <a:rPr lang="nl-NL" sz="2800" dirty="0" err="1"/>
              <a:t>diulang</a:t>
            </a:r>
            <a:r>
              <a:rPr lang="nl-NL" sz="2800" dirty="0"/>
              <a:t>, </a:t>
            </a:r>
            <a:r>
              <a:rPr lang="nl-NL" sz="2800" dirty="0" err="1"/>
              <a:t>maka</a:t>
            </a:r>
            <a:r>
              <a:rPr lang="nl-NL" sz="2800" dirty="0"/>
              <a:t> </a:t>
            </a:r>
            <a:r>
              <a:rPr lang="nl-NL" sz="2800" dirty="0" err="1"/>
              <a:t>dapat</a:t>
            </a:r>
            <a:r>
              <a:rPr lang="nl-NL" sz="2800" dirty="0"/>
              <a:t> </a:t>
            </a:r>
            <a:r>
              <a:rPr lang="nl-NL" sz="2800" dirty="0" err="1"/>
              <a:t>digunakan</a:t>
            </a:r>
            <a:r>
              <a:rPr lang="nl-NL" sz="2800" dirty="0"/>
              <a:t> </a:t>
            </a:r>
            <a:r>
              <a:rPr lang="nl-NL" sz="2800" i="1" dirty="0" err="1"/>
              <a:t>keyword</a:t>
            </a:r>
            <a:r>
              <a:rPr lang="nl-NL" sz="2800" i="1" dirty="0"/>
              <a:t> </a:t>
            </a:r>
            <a:r>
              <a:rPr lang="nl-NL" sz="2800" b="1" dirty="0"/>
              <a:t>“DOWHILE” </a:t>
            </a:r>
            <a:r>
              <a:rPr lang="nl-NL" sz="2800" dirty="0"/>
              <a:t>dan </a:t>
            </a:r>
            <a:r>
              <a:rPr lang="nl-NL" sz="2800" b="1" dirty="0"/>
              <a:t>“ENDDO”</a:t>
            </a:r>
            <a:r>
              <a:rPr lang="nl-NL" sz="2800" dirty="0"/>
              <a:t>. </a:t>
            </a:r>
          </a:p>
          <a:p>
            <a:r>
              <a:rPr lang="en-US" sz="2800" dirty="0" err="1"/>
              <a:t>Contoh</a:t>
            </a:r>
            <a:endParaRPr lang="en-US" sz="2800" dirty="0"/>
          </a:p>
          <a:p>
            <a:pPr marL="365760" lvl="1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</a:t>
            </a:r>
            <a:r>
              <a:rPr lang="tr-TR" sz="2800" b="1" dirty="0">
                <a:solidFill>
                  <a:schemeClr val="tx1"/>
                </a:solidFill>
              </a:rPr>
              <a:t>il </a:t>
            </a:r>
            <a:r>
              <a:rPr lang="en-US" sz="2800" b="1" dirty="0">
                <a:solidFill>
                  <a:schemeClr val="tx1"/>
                </a:solidFill>
                <a:sym typeface="Wingdings"/>
              </a:rPr>
              <a:t></a:t>
            </a:r>
            <a:r>
              <a:rPr lang="tr-TR" sz="2800" b="1" dirty="0">
                <a:solidFill>
                  <a:schemeClr val="tx1"/>
                </a:solidFill>
              </a:rPr>
              <a:t> 0</a:t>
            </a:r>
            <a:br>
              <a:rPr lang="tr-TR" sz="2800" b="1" dirty="0">
                <a:solidFill>
                  <a:schemeClr val="tx1"/>
                </a:solidFill>
              </a:rPr>
            </a:br>
            <a:r>
              <a:rPr lang="tr-TR" sz="2800" b="1" dirty="0">
                <a:solidFill>
                  <a:srgbClr val="FF0000"/>
                </a:solidFill>
              </a:rPr>
              <a:t>DOWHILE</a:t>
            </a:r>
            <a:r>
              <a:rPr lang="tr-TR" sz="2800" b="1" dirty="0">
                <a:solidFill>
                  <a:schemeClr val="tx1"/>
                </a:solidFill>
              </a:rPr>
              <a:t> bil &lt; 10 </a:t>
            </a:r>
          </a:p>
          <a:p>
            <a:pPr marL="365760" lvl="1" indent="0">
              <a:buNone/>
            </a:pPr>
            <a:r>
              <a:rPr lang="tr-TR" sz="2800" b="1" dirty="0">
                <a:solidFill>
                  <a:schemeClr val="tx1"/>
                </a:solidFill>
              </a:rPr>
              <a:t>	OUTPUT bil </a:t>
            </a:r>
          </a:p>
          <a:p>
            <a:pPr marL="365760" lvl="1" indent="0">
              <a:buNone/>
            </a:pPr>
            <a:r>
              <a:rPr lang="tr-TR" sz="2800" b="1" dirty="0">
                <a:solidFill>
                  <a:schemeClr val="tx1"/>
                </a:solidFill>
              </a:rPr>
              <a:t>	bil </a:t>
            </a:r>
            <a:r>
              <a:rPr lang="en-US" sz="2800" b="1" dirty="0">
                <a:solidFill>
                  <a:schemeClr val="tx1"/>
                </a:solidFill>
                <a:sym typeface="Wingdings"/>
              </a:rPr>
              <a:t></a:t>
            </a:r>
            <a:r>
              <a:rPr lang="tr-TR" sz="2800" b="1" dirty="0">
                <a:solidFill>
                  <a:schemeClr val="tx1"/>
                </a:solidFill>
              </a:rPr>
              <a:t> bil +1 </a:t>
            </a:r>
          </a:p>
          <a:p>
            <a:pPr marL="365760" lvl="1" indent="0">
              <a:buNone/>
            </a:pPr>
            <a:r>
              <a:rPr lang="tr-TR" sz="2800" b="1" dirty="0">
                <a:solidFill>
                  <a:srgbClr val="FF0000"/>
                </a:solidFill>
              </a:rPr>
              <a:t>ENDDO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29981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err="1"/>
              <a:t>Buatlah</a:t>
            </a:r>
            <a:r>
              <a:rPr lang="en-US" sz="4000" dirty="0"/>
              <a:t> </a:t>
            </a:r>
            <a:r>
              <a:rPr lang="en-US" sz="4000" dirty="0" err="1"/>
              <a:t>pseudocode</a:t>
            </a:r>
            <a:r>
              <a:rPr lang="en-US" sz="4000" dirty="0"/>
              <a:t> </a:t>
            </a:r>
            <a:r>
              <a:rPr lang="en-US" sz="4000" dirty="0" err="1"/>
              <a:t>untuk</a:t>
            </a:r>
            <a:r>
              <a:rPr lang="en-US" sz="4000" dirty="0"/>
              <a:t> </a:t>
            </a:r>
            <a:r>
              <a:rPr lang="en-US" sz="4000" dirty="0" err="1"/>
              <a:t>menghitung</a:t>
            </a:r>
            <a:r>
              <a:rPr lang="en-US" sz="4000" dirty="0"/>
              <a:t> rata-rata </a:t>
            </a:r>
            <a:r>
              <a:rPr lang="en-US" sz="4000" dirty="0" err="1"/>
              <a:t>tiga</a:t>
            </a:r>
            <a:r>
              <a:rPr lang="en-US" sz="4000" dirty="0"/>
              <a:t> </a:t>
            </a:r>
            <a:r>
              <a:rPr lang="en-US" sz="4000" dirty="0" err="1"/>
              <a:t>bilangan</a:t>
            </a:r>
            <a:r>
              <a:rPr lang="en-US" sz="4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408863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JAWAB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133627"/>
              </p:ext>
            </p:extLst>
          </p:nvPr>
        </p:nvGraphicFramePr>
        <p:xfrm>
          <a:off x="1392621" y="1645920"/>
          <a:ext cx="731520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PROGRAM</a:t>
                      </a:r>
                    </a:p>
                    <a:p>
                      <a:r>
                        <a:rPr lang="en-US" sz="2400" dirty="0" err="1"/>
                        <a:t>Menghitung</a:t>
                      </a:r>
                      <a:r>
                        <a:rPr lang="en-US" sz="2400" dirty="0"/>
                        <a:t> rata-rata </a:t>
                      </a:r>
                      <a:r>
                        <a:rPr lang="en-US" sz="2400" dirty="0" err="1"/>
                        <a:t>tiga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bilangan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DEKLARASI</a:t>
                      </a:r>
                    </a:p>
                    <a:p>
                      <a:r>
                        <a:rPr lang="en-US" sz="2400" dirty="0" err="1"/>
                        <a:t>a,b,c</a:t>
                      </a:r>
                      <a:r>
                        <a:rPr lang="en-US" sz="2400" dirty="0"/>
                        <a:t> ,</a:t>
                      </a:r>
                      <a:r>
                        <a:rPr lang="en-US" sz="2400" dirty="0" err="1"/>
                        <a:t>rata_rata</a:t>
                      </a:r>
                      <a:r>
                        <a:rPr lang="en-US" sz="2400" dirty="0"/>
                        <a:t> : 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ALGORITMA</a:t>
                      </a:r>
                    </a:p>
                    <a:p>
                      <a:r>
                        <a:rPr lang="en-US" sz="2400" b="1" dirty="0"/>
                        <a:t>Input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a,b,c</a:t>
                      </a:r>
                      <a:endParaRPr lang="en-US" sz="2400" dirty="0"/>
                    </a:p>
                    <a:p>
                      <a:r>
                        <a:rPr lang="en-US" sz="2400" dirty="0" err="1"/>
                        <a:t>rata_rata</a:t>
                      </a:r>
                      <a:r>
                        <a:rPr lang="en-US" sz="2400" dirty="0"/>
                        <a:t>= (</a:t>
                      </a:r>
                      <a:r>
                        <a:rPr lang="en-US" sz="2400" dirty="0" err="1"/>
                        <a:t>a+b+c</a:t>
                      </a:r>
                      <a:r>
                        <a:rPr lang="en-US" sz="2400" dirty="0"/>
                        <a:t>)/3</a:t>
                      </a:r>
                    </a:p>
                    <a:p>
                      <a:r>
                        <a:rPr lang="en-US" sz="2400" b="1" dirty="0"/>
                        <a:t>Output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rata_rata</a:t>
                      </a:r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4497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BDDC-5B01-01F6-A519-C6F0CBF0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739A-76E0-90FA-AC38-527E1368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4286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 err="1">
                <a:latin typeface="Amasis MT Pro Medium" panose="02040604050005020304" pitchFamily="18" charset="0"/>
              </a:rPr>
              <a:t>Contoh</a:t>
            </a:r>
            <a:r>
              <a:rPr lang="en-US" sz="8000" b="1" dirty="0">
                <a:latin typeface="Amasis MT Pro Medium" panose="02040604050005020304" pitchFamily="18" charset="0"/>
              </a:rPr>
              <a:t> Soal</a:t>
            </a:r>
            <a:endParaRPr lang="en-GY" sz="8000" b="1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85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A188-8D20-7C3A-1863-EB28C2E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1</a:t>
            </a:r>
            <a:endParaRPr lang="en-GY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11C9-CDBE-F36D-8F12-45A9D55FA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3600" dirty="0" err="1"/>
              <a:t>Polinema</a:t>
            </a:r>
            <a:r>
              <a:rPr lang="en-US" sz="3600" dirty="0"/>
              <a:t> </a:t>
            </a:r>
            <a:r>
              <a:rPr lang="en-US" sz="3600" dirty="0" err="1"/>
              <a:t>mempunyai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</a:t>
            </a:r>
            <a:r>
              <a:rPr lang="en-US" sz="3600" dirty="0" err="1"/>
              <a:t>lapangan</a:t>
            </a:r>
            <a:r>
              <a:rPr lang="en-US" sz="3600" dirty="0"/>
              <a:t> </a:t>
            </a:r>
            <a:r>
              <a:rPr lang="en-US" sz="3600" dirty="0" err="1"/>
              <a:t>sepak</a:t>
            </a:r>
            <a:r>
              <a:rPr lang="en-US" sz="3600" dirty="0"/>
              <a:t> bola </a:t>
            </a:r>
            <a:r>
              <a:rPr lang="en-US" sz="3600" dirty="0" err="1"/>
              <a:t>berbentuk</a:t>
            </a:r>
            <a:r>
              <a:rPr lang="en-US" sz="3600" dirty="0"/>
              <a:t> </a:t>
            </a:r>
            <a:r>
              <a:rPr lang="en-US" sz="3600" dirty="0" err="1"/>
              <a:t>persegi</a:t>
            </a:r>
            <a:r>
              <a:rPr lang="en-US" sz="3600" dirty="0"/>
              <a:t> </a:t>
            </a:r>
            <a:r>
              <a:rPr lang="en-US" sz="3600" dirty="0" err="1"/>
              <a:t>panjang</a:t>
            </a:r>
            <a:r>
              <a:rPr lang="en-US" sz="3600" dirty="0"/>
              <a:t>, </a:t>
            </a:r>
            <a:r>
              <a:rPr lang="en-US" sz="3600" dirty="0" err="1"/>
              <a:t>buatlah</a:t>
            </a:r>
            <a:r>
              <a:rPr lang="en-US" sz="3600" dirty="0"/>
              <a:t> flowchart, pseudocode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menghitung</a:t>
            </a:r>
            <a:r>
              <a:rPr lang="en-US" sz="3600" dirty="0"/>
              <a:t> </a:t>
            </a:r>
            <a:r>
              <a:rPr lang="en-US" sz="3600" dirty="0" err="1"/>
              <a:t>luas</a:t>
            </a:r>
            <a:r>
              <a:rPr lang="en-US" sz="3600" dirty="0"/>
              <a:t> </a:t>
            </a:r>
            <a:r>
              <a:rPr lang="en-US" sz="3600" dirty="0" err="1"/>
              <a:t>lapangan</a:t>
            </a:r>
            <a:r>
              <a:rPr lang="en-US" sz="3600" dirty="0"/>
              <a:t> </a:t>
            </a:r>
            <a:r>
              <a:rPr lang="en-US" sz="3600" dirty="0" err="1"/>
              <a:t>tersebut</a:t>
            </a:r>
            <a:r>
              <a:rPr lang="en-US" sz="3600" dirty="0"/>
              <a:t>! </a:t>
            </a:r>
            <a:endParaRPr lang="en-GY" sz="3600" dirty="0"/>
          </a:p>
        </p:txBody>
      </p:sp>
    </p:spTree>
    <p:extLst>
      <p:ext uri="{BB962C8B-B14F-4D97-AF65-F5344CB8AC3E}">
        <p14:creationId xmlns:p14="http://schemas.microsoft.com/office/powerpoint/2010/main" val="41888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144F-1DA6-CBCD-CDBB-6E62D8350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01521"/>
          </a:xfrm>
        </p:spPr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1</a:t>
            </a:r>
            <a:endParaRPr lang="en-GY" b="1" dirty="0"/>
          </a:p>
        </p:txBody>
      </p:sp>
      <p:sp>
        <p:nvSpPr>
          <p:cNvPr id="4" name="Google Shape;400;p38">
            <a:extLst>
              <a:ext uri="{FF2B5EF4-FFF2-40B4-BE49-F238E27FC236}">
                <a16:creationId xmlns:a16="http://schemas.microsoft.com/office/drawing/2014/main" id="{A4677CB9-9ECB-D6F8-2F9B-C82F109D893D}"/>
              </a:ext>
            </a:extLst>
          </p:cNvPr>
          <p:cNvSpPr txBox="1"/>
          <p:nvPr/>
        </p:nvSpPr>
        <p:spPr>
          <a:xfrm>
            <a:off x="472238" y="1403132"/>
            <a:ext cx="6180811" cy="3191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1.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Menentukan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Algoritma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Input: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panjang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lebar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Output: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luas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Proses: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input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panjang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lebar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luas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 = Panjang x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lebar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Output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luas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A67DEE9-333D-A46E-DC73-ABCE01D3E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461641"/>
            <a:ext cx="5883166" cy="4572028"/>
          </a:xfrm>
        </p:spPr>
        <p:txBody>
          <a:bodyPr/>
          <a:lstStyle/>
          <a:p>
            <a:pPr marL="361950" indent="-247650">
              <a:buNone/>
            </a:pPr>
            <a:r>
              <a:rPr lang="en-US" b="1" dirty="0"/>
              <a:t>2. </a:t>
            </a:r>
            <a:r>
              <a:rPr lang="en-US" b="1" dirty="0" err="1"/>
              <a:t>Mengindentifikasi</a:t>
            </a:r>
            <a:r>
              <a:rPr lang="en-US" b="1" dirty="0"/>
              <a:t> variable dan </a:t>
            </a:r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tipe</a:t>
            </a:r>
            <a:r>
              <a:rPr lang="en-US" b="1" dirty="0"/>
              <a:t> data </a:t>
            </a:r>
            <a:r>
              <a:rPr lang="en-US" b="1" dirty="0" err="1"/>
              <a:t>berdasarkan</a:t>
            </a:r>
            <a:r>
              <a:rPr lang="en-US" b="1" dirty="0"/>
              <a:t> </a:t>
            </a:r>
            <a:r>
              <a:rPr lang="en-US" b="1" dirty="0" err="1"/>
              <a:t>algoritma</a:t>
            </a:r>
            <a:endParaRPr lang="en-US" b="1" dirty="0"/>
          </a:p>
          <a:p>
            <a:pPr marL="361950" indent="-247650">
              <a:buNone/>
            </a:pPr>
            <a:endParaRPr lang="en-US" dirty="0"/>
          </a:p>
          <a:p>
            <a:pPr marL="114300" indent="0">
              <a:buNone/>
            </a:pPr>
            <a:endParaRPr lang="en-GY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949A739-F57C-C614-AC61-3318A634C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164750"/>
              </p:ext>
            </p:extLst>
          </p:nvPr>
        </p:nvGraphicFramePr>
        <p:xfrm>
          <a:off x="2004109" y="5264295"/>
          <a:ext cx="3436884" cy="1483360"/>
        </p:xfrm>
        <a:graphic>
          <a:graphicData uri="http://schemas.openxmlformats.org/drawingml/2006/table">
            <a:tbl>
              <a:tblPr firstRow="1" bandRow="1">
                <a:tableStyleId>{C0A8305F-99F8-489D-A558-1B7DF76EFC55}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3654242400"/>
                    </a:ext>
                  </a:extLst>
                </a:gridCol>
                <a:gridCol w="1718442">
                  <a:extLst>
                    <a:ext uri="{9D8B030D-6E8A-4147-A177-3AD203B41FA5}">
                      <a16:colId xmlns:a16="http://schemas.microsoft.com/office/drawing/2014/main" val="3173567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6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panjang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06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lebar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95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luas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913779"/>
                  </a:ext>
                </a:extLst>
              </a:tr>
            </a:tbl>
          </a:graphicData>
        </a:graphic>
      </p:graphicFrame>
      <p:pic>
        <p:nvPicPr>
          <p:cNvPr id="10" name="Picture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7E518D10-0D1A-C9B5-31D0-D998FA5FB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157" y="0"/>
            <a:ext cx="1648282" cy="6674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63155A-8DF7-2CCA-977A-EB654DFF79AD}"/>
              </a:ext>
            </a:extLst>
          </p:cNvPr>
          <p:cNvSpPr txBox="1"/>
          <p:nvPr/>
        </p:nvSpPr>
        <p:spPr>
          <a:xfrm>
            <a:off x="9898140" y="1300942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7599F-FCCC-D00C-514E-1060FA6FCFE7}"/>
              </a:ext>
            </a:extLst>
          </p:cNvPr>
          <p:cNvSpPr txBox="1"/>
          <p:nvPr/>
        </p:nvSpPr>
        <p:spPr>
          <a:xfrm>
            <a:off x="10050540" y="2619990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53DC1-96BF-FB1A-8F44-84F6442591FD}"/>
              </a:ext>
            </a:extLst>
          </p:cNvPr>
          <p:cNvSpPr txBox="1"/>
          <p:nvPr/>
        </p:nvSpPr>
        <p:spPr>
          <a:xfrm>
            <a:off x="10092578" y="3797153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E415F-1B4F-EBC3-21FF-371298308070}"/>
              </a:ext>
            </a:extLst>
          </p:cNvPr>
          <p:cNvSpPr txBox="1"/>
          <p:nvPr/>
        </p:nvSpPr>
        <p:spPr>
          <a:xfrm>
            <a:off x="10040023" y="4990081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5A7B2-DB79-697F-627D-4CD37BE417E5}"/>
              </a:ext>
            </a:extLst>
          </p:cNvPr>
          <p:cNvSpPr txBox="1"/>
          <p:nvPr/>
        </p:nvSpPr>
        <p:spPr>
          <a:xfrm>
            <a:off x="5765648" y="5775142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32EF79-6326-DA0C-7346-93BF77DD355E}"/>
              </a:ext>
            </a:extLst>
          </p:cNvPr>
          <p:cNvSpPr txBox="1"/>
          <p:nvPr/>
        </p:nvSpPr>
        <p:spPr>
          <a:xfrm>
            <a:off x="3582945" y="3057011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3569E-9944-D01B-4307-3FF2E33E2B60}"/>
              </a:ext>
            </a:extLst>
          </p:cNvPr>
          <p:cNvSpPr txBox="1"/>
          <p:nvPr/>
        </p:nvSpPr>
        <p:spPr>
          <a:xfrm>
            <a:off x="3679791" y="3622796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42C3A-0BCD-CFD4-44EA-2AE110B2BC1D}"/>
              </a:ext>
            </a:extLst>
          </p:cNvPr>
          <p:cNvSpPr txBox="1"/>
          <p:nvPr/>
        </p:nvSpPr>
        <p:spPr>
          <a:xfrm>
            <a:off x="2450962" y="4132725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</p:spTree>
    <p:extLst>
      <p:ext uri="{BB962C8B-B14F-4D97-AF65-F5344CB8AC3E}">
        <p14:creationId xmlns:p14="http://schemas.microsoft.com/office/powerpoint/2010/main" val="30010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DE74-3E6C-218E-4078-16DC7BF5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1</a:t>
            </a:r>
            <a:endParaRPr lang="en-GY" b="1" dirty="0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E01EC7A-F67D-C087-839F-EE4FDA0F0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895" y="91521"/>
            <a:ext cx="1648282" cy="667495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66B58E-CC45-44BD-1E36-043B91024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895983"/>
              </p:ext>
            </p:extLst>
          </p:nvPr>
        </p:nvGraphicFramePr>
        <p:xfrm>
          <a:off x="2741448" y="91519"/>
          <a:ext cx="8128000" cy="6674956"/>
        </p:xfrm>
        <a:graphic>
          <a:graphicData uri="http://schemas.openxmlformats.org/drawingml/2006/table">
            <a:tbl>
              <a:tblPr firstRow="1" bandRow="1">
                <a:tableStyleId>{C0A8305F-99F8-489D-A558-1B7DF76EFC55}</a:tableStyleId>
              </a:tblPr>
              <a:tblGrid>
                <a:gridCol w="2934138">
                  <a:extLst>
                    <a:ext uri="{9D8B030D-6E8A-4147-A177-3AD203B41FA5}">
                      <a16:colId xmlns:a16="http://schemas.microsoft.com/office/drawing/2014/main" val="4044761485"/>
                    </a:ext>
                  </a:extLst>
                </a:gridCol>
                <a:gridCol w="5193862">
                  <a:extLst>
                    <a:ext uri="{9D8B030D-6E8A-4147-A177-3AD203B41FA5}">
                      <a16:colId xmlns:a16="http://schemas.microsoft.com/office/drawing/2014/main" val="3090245208"/>
                    </a:ext>
                  </a:extLst>
                </a:gridCol>
              </a:tblGrid>
              <a:tr h="1668739">
                <a:tc rowSpan="3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PROGRAM</a:t>
                      </a:r>
                    </a:p>
                    <a:p>
                      <a:r>
                        <a:rPr lang="en-US" sz="2400" dirty="0" err="1"/>
                        <a:t>Menghitung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LuasPersegiPanjang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32218"/>
                  </a:ext>
                </a:extLst>
              </a:tr>
              <a:tr h="1668739">
                <a:tc vMerge="1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DEKLARASI</a:t>
                      </a:r>
                    </a:p>
                    <a:p>
                      <a:r>
                        <a:rPr lang="en-US" sz="2400" dirty="0" err="1"/>
                        <a:t>panjang:int</a:t>
                      </a:r>
                      <a:endParaRPr lang="en-US" sz="2400" dirty="0"/>
                    </a:p>
                    <a:p>
                      <a:r>
                        <a:rPr lang="en-US" sz="2400" dirty="0" err="1"/>
                        <a:t>lebar:int</a:t>
                      </a:r>
                      <a:endParaRPr lang="en-US" sz="2400" dirty="0"/>
                    </a:p>
                    <a:p>
                      <a:r>
                        <a:rPr lang="en-US" sz="2400" dirty="0" err="1"/>
                        <a:t>luas:int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935261"/>
                  </a:ext>
                </a:extLst>
              </a:tr>
              <a:tr h="3337478">
                <a:tc vMerge="1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ALGORITMA</a:t>
                      </a:r>
                    </a:p>
                    <a:p>
                      <a:r>
                        <a:rPr lang="en-US" sz="2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panjang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2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Input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lebar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luas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&lt;-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panjang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*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lebar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2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Output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luas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732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517A39-6056-ED35-9FBF-EF8B283DC70F}"/>
              </a:ext>
            </a:extLst>
          </p:cNvPr>
          <p:cNvSpPr txBox="1"/>
          <p:nvPr/>
        </p:nvSpPr>
        <p:spPr>
          <a:xfrm>
            <a:off x="4749313" y="1459857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D6F58-E70D-23BC-B821-779855F36BAA}"/>
              </a:ext>
            </a:extLst>
          </p:cNvPr>
          <p:cNvSpPr txBox="1"/>
          <p:nvPr/>
        </p:nvSpPr>
        <p:spPr>
          <a:xfrm>
            <a:off x="7755272" y="2353237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C74D4-1D75-1B6A-67BF-4960B51FE145}"/>
              </a:ext>
            </a:extLst>
          </p:cNvPr>
          <p:cNvSpPr txBox="1"/>
          <p:nvPr/>
        </p:nvSpPr>
        <p:spPr>
          <a:xfrm>
            <a:off x="4886406" y="2584069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41CE3-11D3-1285-A29A-ECBEFB8F09B5}"/>
              </a:ext>
            </a:extLst>
          </p:cNvPr>
          <p:cNvSpPr txBox="1"/>
          <p:nvPr/>
        </p:nvSpPr>
        <p:spPr>
          <a:xfrm>
            <a:off x="7755272" y="3997750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61114-6773-4FF3-982F-3D187846ECE8}"/>
              </a:ext>
            </a:extLst>
          </p:cNvPr>
          <p:cNvSpPr txBox="1"/>
          <p:nvPr/>
        </p:nvSpPr>
        <p:spPr>
          <a:xfrm>
            <a:off x="9067049" y="4459415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26F28-4F01-5125-39F1-E9814DF2D014}"/>
              </a:ext>
            </a:extLst>
          </p:cNvPr>
          <p:cNvSpPr txBox="1"/>
          <p:nvPr/>
        </p:nvSpPr>
        <p:spPr>
          <a:xfrm>
            <a:off x="4749313" y="3997749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F3556-802B-11FF-A82C-4EB33B0EDB8A}"/>
              </a:ext>
            </a:extLst>
          </p:cNvPr>
          <p:cNvSpPr txBox="1"/>
          <p:nvPr/>
        </p:nvSpPr>
        <p:spPr>
          <a:xfrm>
            <a:off x="4613008" y="5192911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3D1EC-0ABB-5875-F91D-159171683960}"/>
              </a:ext>
            </a:extLst>
          </p:cNvPr>
          <p:cNvSpPr txBox="1"/>
          <p:nvPr/>
        </p:nvSpPr>
        <p:spPr>
          <a:xfrm>
            <a:off x="7741228" y="4962078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</p:spTree>
    <p:extLst>
      <p:ext uri="{BB962C8B-B14F-4D97-AF65-F5344CB8AC3E}">
        <p14:creationId xmlns:p14="http://schemas.microsoft.com/office/powerpoint/2010/main" val="11532067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8DF6-7E6A-8138-7D6C-FFAE12C0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2</a:t>
            </a:r>
            <a:endParaRPr lang="en-GY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C1B49-0C45-B7EF-516D-C2B95AC3B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031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Ibu Lani </a:t>
            </a:r>
            <a:r>
              <a:rPr lang="en-US" sz="3200" dirty="0" err="1"/>
              <a:t>berbelanja</a:t>
            </a:r>
            <a:r>
              <a:rPr lang="en-US" sz="3200" dirty="0"/>
              <a:t> di </a:t>
            </a:r>
            <a:r>
              <a:rPr lang="en-US" sz="3200" dirty="0" err="1"/>
              <a:t>sebuah</a:t>
            </a:r>
            <a:r>
              <a:rPr lang="en-US" sz="3200" dirty="0"/>
              <a:t> </a:t>
            </a:r>
            <a:r>
              <a:rPr lang="en-US" sz="3200" dirty="0" err="1"/>
              <a:t>toko</a:t>
            </a:r>
            <a:r>
              <a:rPr lang="en-US" sz="3200" dirty="0"/>
              <a:t> dan </a:t>
            </a:r>
            <a:r>
              <a:rPr lang="en-US" sz="3200" dirty="0" err="1"/>
              <a:t>membeli</a:t>
            </a:r>
            <a:r>
              <a:rPr lang="en-US" sz="3200" dirty="0"/>
              <a:t> </a:t>
            </a:r>
            <a:r>
              <a:rPr lang="en-US" sz="3200" dirty="0" err="1"/>
              <a:t>pakaian</a:t>
            </a:r>
            <a:r>
              <a:rPr lang="en-US" sz="3200" dirty="0"/>
              <a:t> </a:t>
            </a:r>
            <a:r>
              <a:rPr lang="en-US" sz="3200" dirty="0" err="1"/>
              <a:t>seharga</a:t>
            </a:r>
            <a:r>
              <a:rPr lang="en-US" sz="3200" dirty="0"/>
              <a:t> </a:t>
            </a:r>
            <a:r>
              <a:rPr lang="en-US" sz="3200" b="1" dirty="0"/>
              <a:t>Rp. xxx</a:t>
            </a:r>
            <a:r>
              <a:rPr lang="en-US" sz="3200" dirty="0"/>
              <a:t>. Toko </a:t>
            </a:r>
            <a:r>
              <a:rPr lang="en-US" sz="3200" dirty="0" err="1"/>
              <a:t>tersebut</a:t>
            </a:r>
            <a:r>
              <a:rPr lang="en-US" sz="3200" dirty="0"/>
              <a:t> </a:t>
            </a:r>
            <a:r>
              <a:rPr lang="en-US" sz="3200" dirty="0" err="1"/>
              <a:t>memberikan</a:t>
            </a:r>
            <a:r>
              <a:rPr lang="en-US" sz="3200" dirty="0"/>
              <a:t> </a:t>
            </a:r>
            <a:r>
              <a:rPr lang="en-US" sz="3200" b="1" dirty="0" err="1"/>
              <a:t>diskon</a:t>
            </a:r>
            <a:r>
              <a:rPr lang="en-US" sz="3200" b="1" dirty="0"/>
              <a:t> 15%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</a:t>
            </a:r>
            <a:r>
              <a:rPr lang="en-US" sz="3200" dirty="0" err="1"/>
              <a:t>pembelian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b="1" dirty="0" err="1"/>
              <a:t>Berapakah</a:t>
            </a:r>
            <a:r>
              <a:rPr lang="en-US" sz="3200" b="1" dirty="0"/>
              <a:t> </a:t>
            </a:r>
            <a:r>
              <a:rPr lang="en-US" sz="3200" b="1" dirty="0" err="1"/>
              <a:t>besar</a:t>
            </a:r>
            <a:r>
              <a:rPr lang="en-US" sz="3200" b="1" dirty="0"/>
              <a:t> </a:t>
            </a:r>
            <a:r>
              <a:rPr lang="en-US" sz="3200" b="1" dirty="0" err="1"/>
              <a:t>diskon</a:t>
            </a:r>
            <a:r>
              <a:rPr lang="en-US" sz="3200" b="1" dirty="0"/>
              <a:t> dan </a:t>
            </a:r>
            <a:r>
              <a:rPr lang="en-US" sz="3200" b="1" dirty="0" err="1"/>
              <a:t>jumlah</a:t>
            </a:r>
            <a:r>
              <a:rPr lang="en-US" sz="3200" b="1" dirty="0"/>
              <a:t> yang </a:t>
            </a:r>
            <a:r>
              <a:rPr lang="en-US" sz="3200" b="1" dirty="0" err="1"/>
              <a:t>harus</a:t>
            </a:r>
            <a:r>
              <a:rPr lang="en-US" sz="3200" b="1" dirty="0"/>
              <a:t> </a:t>
            </a:r>
            <a:r>
              <a:rPr lang="en-US" sz="3200" b="1" dirty="0" err="1"/>
              <a:t>dibayar</a:t>
            </a:r>
            <a:r>
              <a:rPr lang="en-US" sz="3200" b="1" dirty="0"/>
              <a:t> Ibu Lani? </a:t>
            </a:r>
            <a:r>
              <a:rPr lang="en-US" sz="3200" dirty="0" err="1"/>
              <a:t>buatlah</a:t>
            </a:r>
            <a:r>
              <a:rPr lang="en-US" sz="3200" dirty="0"/>
              <a:t> flowchart, pseudocode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menghitung</a:t>
            </a:r>
            <a:r>
              <a:rPr lang="en-US" sz="3200" dirty="0"/>
              <a:t> </a:t>
            </a:r>
            <a:r>
              <a:rPr lang="en-US" sz="3200" dirty="0" err="1"/>
              <a:t>luas</a:t>
            </a:r>
            <a:r>
              <a:rPr lang="en-US" sz="3200" dirty="0"/>
              <a:t> </a:t>
            </a:r>
            <a:r>
              <a:rPr lang="en-US" sz="3200" dirty="0" err="1"/>
              <a:t>lapangan</a:t>
            </a:r>
            <a:r>
              <a:rPr lang="en-US" sz="3200" dirty="0"/>
              <a:t> </a:t>
            </a:r>
            <a:r>
              <a:rPr lang="en-US" sz="3200" dirty="0" err="1"/>
              <a:t>tersebut</a:t>
            </a:r>
            <a:r>
              <a:rPr lang="en-US" sz="3200" dirty="0"/>
              <a:t>!</a:t>
            </a:r>
            <a:endParaRPr lang="en-GY" sz="3200" dirty="0"/>
          </a:p>
        </p:txBody>
      </p:sp>
    </p:spTree>
    <p:extLst>
      <p:ext uri="{BB962C8B-B14F-4D97-AF65-F5344CB8AC3E}">
        <p14:creationId xmlns:p14="http://schemas.microsoft.com/office/powerpoint/2010/main" val="2416619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84F5-94D4-E2C9-F77D-AC6FD52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9E92-EEC9-A451-6B98-EDC08E81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801521"/>
          </a:xfrm>
        </p:spPr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2</a:t>
            </a:r>
            <a:endParaRPr lang="en-GY" b="1" dirty="0"/>
          </a:p>
        </p:txBody>
      </p:sp>
      <p:sp>
        <p:nvSpPr>
          <p:cNvPr id="4" name="Google Shape;400;p38">
            <a:extLst>
              <a:ext uri="{FF2B5EF4-FFF2-40B4-BE49-F238E27FC236}">
                <a16:creationId xmlns:a16="http://schemas.microsoft.com/office/drawing/2014/main" id="{1D7704D3-6E91-F3E7-3C16-C576899F1F18}"/>
              </a:ext>
            </a:extLst>
          </p:cNvPr>
          <p:cNvSpPr txBox="1"/>
          <p:nvPr/>
        </p:nvSpPr>
        <p:spPr>
          <a:xfrm>
            <a:off x="472238" y="1403132"/>
            <a:ext cx="6180811" cy="3191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1.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Menentukan</a:t>
            </a: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Algoritma</a:t>
            </a:r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Input: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harga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Output: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potongan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jml_bayar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Data Lain: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diskon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=0.15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Proses: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input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harga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potongan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=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diskon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 x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harga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jml_bayar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=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harga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 –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potongan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Output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potongan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jml_bayar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113574E-8A7E-4207-AE0F-E45FBDF75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398579"/>
            <a:ext cx="5883166" cy="4635089"/>
          </a:xfrm>
        </p:spPr>
        <p:txBody>
          <a:bodyPr/>
          <a:lstStyle/>
          <a:p>
            <a:pPr marL="361950" indent="-247650">
              <a:buNone/>
            </a:pPr>
            <a:r>
              <a:rPr lang="en-US" b="1" dirty="0"/>
              <a:t>2. </a:t>
            </a:r>
            <a:r>
              <a:rPr lang="en-US" b="1" dirty="0" err="1"/>
              <a:t>Mengindentifikasi</a:t>
            </a:r>
            <a:r>
              <a:rPr lang="en-US" b="1" dirty="0"/>
              <a:t> variable dan </a:t>
            </a:r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tipe</a:t>
            </a:r>
            <a:r>
              <a:rPr lang="en-US" b="1" dirty="0"/>
              <a:t> data </a:t>
            </a:r>
            <a:r>
              <a:rPr lang="en-US" b="1" dirty="0" err="1"/>
              <a:t>berdasarkan</a:t>
            </a:r>
            <a:r>
              <a:rPr lang="en-US" b="1" dirty="0"/>
              <a:t> </a:t>
            </a:r>
            <a:r>
              <a:rPr lang="en-US" b="1" dirty="0" err="1"/>
              <a:t>algoritma</a:t>
            </a:r>
            <a:endParaRPr lang="en-US" b="1" dirty="0"/>
          </a:p>
          <a:p>
            <a:pPr marL="361950" indent="-247650">
              <a:buNone/>
            </a:pPr>
            <a:endParaRPr lang="en-US" dirty="0"/>
          </a:p>
          <a:p>
            <a:pPr marL="114300" indent="0">
              <a:buNone/>
            </a:pPr>
            <a:endParaRPr lang="en-GY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5DAE4FE-261A-ECB4-3AB1-7D30D9756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102748"/>
              </p:ext>
            </p:extLst>
          </p:nvPr>
        </p:nvGraphicFramePr>
        <p:xfrm>
          <a:off x="3129912" y="4990081"/>
          <a:ext cx="3436884" cy="1483360"/>
        </p:xfrm>
        <a:graphic>
          <a:graphicData uri="http://schemas.openxmlformats.org/drawingml/2006/table">
            <a:tbl>
              <a:tblPr firstRow="1" bandRow="1">
                <a:tableStyleId>{C0A8305F-99F8-489D-A558-1B7DF76EFC55}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3654242400"/>
                    </a:ext>
                  </a:extLst>
                </a:gridCol>
                <a:gridCol w="1718442">
                  <a:extLst>
                    <a:ext uri="{9D8B030D-6E8A-4147-A177-3AD203B41FA5}">
                      <a16:colId xmlns:a16="http://schemas.microsoft.com/office/drawing/2014/main" val="3173567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Variabel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Tipe</a:t>
                      </a:r>
                      <a:r>
                        <a:rPr lang="en-US" dirty="0"/>
                        <a:t> data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622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harga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069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potongan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95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jml_bayar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dpuble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9137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16429F0-7DF0-0F49-9CAE-BE4F234355FC}"/>
              </a:ext>
            </a:extLst>
          </p:cNvPr>
          <p:cNvSpPr txBox="1"/>
          <p:nvPr/>
        </p:nvSpPr>
        <p:spPr>
          <a:xfrm>
            <a:off x="10337888" y="973280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43234E-0240-1F6B-96CE-2385B0A1A597}"/>
              </a:ext>
            </a:extLst>
          </p:cNvPr>
          <p:cNvSpPr txBox="1"/>
          <p:nvPr/>
        </p:nvSpPr>
        <p:spPr>
          <a:xfrm>
            <a:off x="10006325" y="2166208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3C6BF-20F9-3CFB-4564-7DB9D7F156A2}"/>
              </a:ext>
            </a:extLst>
          </p:cNvPr>
          <p:cNvSpPr txBox="1"/>
          <p:nvPr/>
        </p:nvSpPr>
        <p:spPr>
          <a:xfrm>
            <a:off x="10112486" y="3155453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965E28-9E31-0E37-5CF0-EDAC6034C2CF}"/>
              </a:ext>
            </a:extLst>
          </p:cNvPr>
          <p:cNvSpPr txBox="1"/>
          <p:nvPr/>
        </p:nvSpPr>
        <p:spPr>
          <a:xfrm>
            <a:off x="10084525" y="4067742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4C05E-9C34-4221-2B7B-5240F021DCED}"/>
              </a:ext>
            </a:extLst>
          </p:cNvPr>
          <p:cNvSpPr txBox="1"/>
          <p:nvPr/>
        </p:nvSpPr>
        <p:spPr>
          <a:xfrm>
            <a:off x="6821433" y="5644886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AE15A2-E70B-9B4B-E664-44FB3C4486A6}"/>
              </a:ext>
            </a:extLst>
          </p:cNvPr>
          <p:cNvSpPr txBox="1"/>
          <p:nvPr/>
        </p:nvSpPr>
        <p:spPr>
          <a:xfrm>
            <a:off x="2461692" y="2924621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54CF-EA9D-6D25-0191-EFE84DA7C569}"/>
              </a:ext>
            </a:extLst>
          </p:cNvPr>
          <p:cNvSpPr txBox="1"/>
          <p:nvPr/>
        </p:nvSpPr>
        <p:spPr>
          <a:xfrm>
            <a:off x="4122471" y="3288483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B82076-09C7-D863-0690-37FC8136B6C1}"/>
              </a:ext>
            </a:extLst>
          </p:cNvPr>
          <p:cNvSpPr txBox="1"/>
          <p:nvPr/>
        </p:nvSpPr>
        <p:spPr>
          <a:xfrm>
            <a:off x="4613092" y="3748103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BE9EB5-71A7-C8CB-E5B0-14458CB2E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13817"/>
              </p:ext>
            </p:extLst>
          </p:nvPr>
        </p:nvGraphicFramePr>
        <p:xfrm>
          <a:off x="3129911" y="6489537"/>
          <a:ext cx="3436884" cy="370840"/>
        </p:xfrm>
        <a:graphic>
          <a:graphicData uri="http://schemas.openxmlformats.org/drawingml/2006/table">
            <a:tbl>
              <a:tblPr firstRow="1" bandRow="1">
                <a:tableStyleId>{C0A8305F-99F8-489D-A558-1B7DF76EFC55}</a:tableStyleId>
              </a:tblPr>
              <a:tblGrid>
                <a:gridCol w="1718442">
                  <a:extLst>
                    <a:ext uri="{9D8B030D-6E8A-4147-A177-3AD203B41FA5}">
                      <a16:colId xmlns:a16="http://schemas.microsoft.com/office/drawing/2014/main" val="4116160744"/>
                    </a:ext>
                  </a:extLst>
                </a:gridCol>
                <a:gridCol w="1718442">
                  <a:extLst>
                    <a:ext uri="{9D8B030D-6E8A-4147-A177-3AD203B41FA5}">
                      <a16:colId xmlns:a16="http://schemas.microsoft.com/office/drawing/2014/main" val="2226158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Diskon</a:t>
                      </a:r>
                      <a:r>
                        <a:rPr lang="en-US" dirty="0"/>
                        <a:t>=0.15</a:t>
                      </a:r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  <a:endParaRPr lang="en-G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59392"/>
                  </a:ext>
                </a:extLst>
              </a:tr>
            </a:tbl>
          </a:graphicData>
        </a:graphic>
      </p:graphicFrame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333575DA-9F38-A199-63C6-6FEC6F2E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362" y="146023"/>
            <a:ext cx="2108963" cy="6284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3E4B5-E0E5-FFDD-9603-DEAEAE4F7112}"/>
              </a:ext>
            </a:extLst>
          </p:cNvPr>
          <p:cNvSpPr txBox="1"/>
          <p:nvPr/>
        </p:nvSpPr>
        <p:spPr>
          <a:xfrm>
            <a:off x="9926796" y="4990081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en-GY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F67DD-71F8-5C09-8689-9225D6499107}"/>
              </a:ext>
            </a:extLst>
          </p:cNvPr>
          <p:cNvSpPr txBox="1"/>
          <p:nvPr/>
        </p:nvSpPr>
        <p:spPr>
          <a:xfrm>
            <a:off x="4450898" y="4149253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en-GY" sz="2400" b="1" dirty="0"/>
          </a:p>
        </p:txBody>
      </p:sp>
    </p:spTree>
    <p:extLst>
      <p:ext uri="{BB962C8B-B14F-4D97-AF65-F5344CB8AC3E}">
        <p14:creationId xmlns:p14="http://schemas.microsoft.com/office/powerpoint/2010/main" val="212621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EC58-A0A4-D713-D86C-B0490432D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A4168FEA-3CBB-4468-A594-200FB282A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129" y="362055"/>
            <a:ext cx="2108963" cy="62849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818285-6EEB-A56F-7355-9215DB56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2</a:t>
            </a:r>
            <a:endParaRPr lang="en-GY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A59A89-2F20-D5DF-B665-ACFB06CB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30326"/>
              </p:ext>
            </p:extLst>
          </p:nvPr>
        </p:nvGraphicFramePr>
        <p:xfrm>
          <a:off x="3406472" y="91524"/>
          <a:ext cx="8669512" cy="6627453"/>
        </p:xfrm>
        <a:graphic>
          <a:graphicData uri="http://schemas.openxmlformats.org/drawingml/2006/table">
            <a:tbl>
              <a:tblPr firstRow="1" bandRow="1">
                <a:tableStyleId>{C0A8305F-99F8-489D-A558-1B7DF76EFC55}</a:tableStyleId>
              </a:tblPr>
              <a:tblGrid>
                <a:gridCol w="3483059">
                  <a:extLst>
                    <a:ext uri="{9D8B030D-6E8A-4147-A177-3AD203B41FA5}">
                      <a16:colId xmlns:a16="http://schemas.microsoft.com/office/drawing/2014/main" val="4044761485"/>
                    </a:ext>
                  </a:extLst>
                </a:gridCol>
                <a:gridCol w="5186453">
                  <a:extLst>
                    <a:ext uri="{9D8B030D-6E8A-4147-A177-3AD203B41FA5}">
                      <a16:colId xmlns:a16="http://schemas.microsoft.com/office/drawing/2014/main" val="3090245208"/>
                    </a:ext>
                  </a:extLst>
                </a:gridCol>
              </a:tblGrid>
              <a:tr h="1569071">
                <a:tc rowSpan="3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PROGRAM</a:t>
                      </a:r>
                    </a:p>
                    <a:p>
                      <a:r>
                        <a:rPr lang="en-US" sz="2400" dirty="0" err="1"/>
                        <a:t>MenghitungTotalBayar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32218"/>
                  </a:ext>
                </a:extLst>
              </a:tr>
              <a:tr h="1848239">
                <a:tc vMerge="1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DEKLARASI</a:t>
                      </a:r>
                    </a:p>
                    <a:p>
                      <a:r>
                        <a:rPr lang="en-US" sz="2400" dirty="0" err="1"/>
                        <a:t>harga:int</a:t>
                      </a:r>
                      <a:endParaRPr lang="en-US" sz="2400" dirty="0"/>
                    </a:p>
                    <a:p>
                      <a:r>
                        <a:rPr lang="en-US" sz="2400" dirty="0" err="1"/>
                        <a:t>potongan</a:t>
                      </a:r>
                      <a:r>
                        <a:rPr lang="en-US" sz="2400" dirty="0"/>
                        <a:t>: double</a:t>
                      </a:r>
                    </a:p>
                    <a:p>
                      <a:r>
                        <a:rPr lang="en-US" sz="2400" dirty="0" err="1"/>
                        <a:t>jml_bayar</a:t>
                      </a:r>
                      <a:r>
                        <a:rPr lang="en-US" sz="2400" dirty="0"/>
                        <a:t>: double</a:t>
                      </a:r>
                    </a:p>
                    <a:p>
                      <a:r>
                        <a:rPr lang="en-US" sz="2400" dirty="0" err="1"/>
                        <a:t>diskon</a:t>
                      </a:r>
                      <a:r>
                        <a:rPr lang="en-US" sz="2400" dirty="0"/>
                        <a:t>=0.15: double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935261"/>
                  </a:ext>
                </a:extLst>
              </a:tr>
              <a:tr h="3138142">
                <a:tc vMerge="1">
                  <a:txBody>
                    <a:bodyPr/>
                    <a:lstStyle/>
                    <a:p>
                      <a:endParaRPr lang="en-G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ALGORITMA</a:t>
                      </a:r>
                    </a:p>
                    <a:p>
                      <a:r>
                        <a:rPr lang="en-US" sz="2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Input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harga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potongan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&lt;-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diskon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*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harga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Jml_bayar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&lt;-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harga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potongan</a:t>
                      </a:r>
                      <a:endParaRPr lang="en-US" sz="2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lang="en-US" sz="2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Output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potongan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jml_bayar</a:t>
                      </a:r>
                      <a:r>
                        <a:rPr lang="en-US" sz="2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)</a:t>
                      </a:r>
                      <a:endParaRPr lang="en-G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732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CFA62A-BBC1-3EDA-12F9-1BFA507F8784}"/>
              </a:ext>
            </a:extLst>
          </p:cNvPr>
          <p:cNvSpPr txBox="1"/>
          <p:nvPr/>
        </p:nvSpPr>
        <p:spPr>
          <a:xfrm>
            <a:off x="5984562" y="1229025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1036C-68BC-CCC5-5A28-2E6E8F513271}"/>
              </a:ext>
            </a:extLst>
          </p:cNvPr>
          <p:cNvSpPr txBox="1"/>
          <p:nvPr/>
        </p:nvSpPr>
        <p:spPr>
          <a:xfrm>
            <a:off x="10596303" y="2348787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</a:t>
            </a:r>
            <a:endParaRPr lang="en-GY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20CE3-3FD8-4E9C-3535-07B9ACA227A9}"/>
              </a:ext>
            </a:extLst>
          </p:cNvPr>
          <p:cNvSpPr txBox="1"/>
          <p:nvPr/>
        </p:nvSpPr>
        <p:spPr>
          <a:xfrm>
            <a:off x="5980515" y="2323755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4F3AEE-6189-FDC0-6677-F2EC475D045D}"/>
              </a:ext>
            </a:extLst>
          </p:cNvPr>
          <p:cNvSpPr txBox="1"/>
          <p:nvPr/>
        </p:nvSpPr>
        <p:spPr>
          <a:xfrm>
            <a:off x="8704904" y="3983475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</a:t>
            </a:r>
            <a:endParaRPr lang="en-GY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6FFD1-859F-740E-DA1E-FC74BDFAF4BF}"/>
              </a:ext>
            </a:extLst>
          </p:cNvPr>
          <p:cNvSpPr txBox="1"/>
          <p:nvPr/>
        </p:nvSpPr>
        <p:spPr>
          <a:xfrm>
            <a:off x="10777062" y="4254531"/>
            <a:ext cx="490621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3C892-4423-056F-8CA1-F26D86E33894}"/>
              </a:ext>
            </a:extLst>
          </p:cNvPr>
          <p:cNvSpPr txBox="1"/>
          <p:nvPr/>
        </p:nvSpPr>
        <p:spPr>
          <a:xfrm>
            <a:off x="6161586" y="3273682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</a:t>
            </a:r>
            <a:endParaRPr lang="en-GY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3CB302-D79F-B29F-FA4C-FD49C9CA1145}"/>
              </a:ext>
            </a:extLst>
          </p:cNvPr>
          <p:cNvSpPr txBox="1"/>
          <p:nvPr/>
        </p:nvSpPr>
        <p:spPr>
          <a:xfrm>
            <a:off x="6156552" y="4254532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5E3599-72EA-779C-4064-1B838D295189}"/>
              </a:ext>
            </a:extLst>
          </p:cNvPr>
          <p:cNvSpPr txBox="1"/>
          <p:nvPr/>
        </p:nvSpPr>
        <p:spPr>
          <a:xfrm>
            <a:off x="11348193" y="4780780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4</a:t>
            </a:r>
            <a:endParaRPr lang="en-GY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0A069-7B9A-85BF-A243-38C744037D73}"/>
              </a:ext>
            </a:extLst>
          </p:cNvPr>
          <p:cNvSpPr txBox="1"/>
          <p:nvPr/>
        </p:nvSpPr>
        <p:spPr>
          <a:xfrm>
            <a:off x="5912362" y="5242445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en-GY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7AC7D-A814-6ED8-246A-E254042802DF}"/>
              </a:ext>
            </a:extLst>
          </p:cNvPr>
          <p:cNvSpPr txBox="1"/>
          <p:nvPr/>
        </p:nvSpPr>
        <p:spPr>
          <a:xfrm>
            <a:off x="11143398" y="5242445"/>
            <a:ext cx="62692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5</a:t>
            </a:r>
            <a:endParaRPr lang="en-GY" sz="2400" b="1" dirty="0"/>
          </a:p>
        </p:txBody>
      </p:sp>
    </p:spTree>
    <p:extLst>
      <p:ext uri="{BB962C8B-B14F-4D97-AF65-F5344CB8AC3E}">
        <p14:creationId xmlns:p14="http://schemas.microsoft.com/office/powerpoint/2010/main" val="3551886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3"/>
          <p:cNvSpPr txBox="1">
            <a:spLocks noGrp="1"/>
          </p:cNvSpPr>
          <p:nvPr>
            <p:ph type="title"/>
          </p:nvPr>
        </p:nvSpPr>
        <p:spPr>
          <a:xfrm>
            <a:off x="2927350" y="274638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Tugas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…(1)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433" name="Google Shape;433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3350" lvl="0" indent="0">
              <a:buSzPts val="2100"/>
              <a:buNone/>
            </a:pPr>
            <a:r>
              <a:rPr lang="en-GY" sz="2800" dirty="0"/>
              <a:t>Rina </a:t>
            </a:r>
            <a:r>
              <a:rPr lang="en-GY" sz="2800" dirty="0" err="1"/>
              <a:t>membeli</a:t>
            </a:r>
            <a:r>
              <a:rPr lang="en-GY" sz="2800" dirty="0"/>
              <a:t> </a:t>
            </a:r>
            <a:r>
              <a:rPr lang="en-GY" sz="2800" dirty="0" err="1"/>
              <a:t>sebuah</a:t>
            </a:r>
            <a:r>
              <a:rPr lang="en-GY" sz="2800" dirty="0"/>
              <a:t> laptop </a:t>
            </a:r>
            <a:r>
              <a:rPr lang="en-GY" sz="2800" dirty="0" err="1"/>
              <a:t>dengan</a:t>
            </a:r>
            <a:r>
              <a:rPr lang="en-GY" sz="2800" dirty="0"/>
              <a:t> </a:t>
            </a:r>
            <a:r>
              <a:rPr lang="en-GY" sz="2800" dirty="0" err="1"/>
              <a:t>harga</a:t>
            </a:r>
            <a:r>
              <a:rPr lang="en-GY" sz="2800" dirty="0"/>
              <a:t> </a:t>
            </a:r>
            <a:r>
              <a:rPr lang="en-GY" sz="2800" b="1" dirty="0"/>
              <a:t>Rp. x</a:t>
            </a:r>
            <a:r>
              <a:rPr lang="en-GY" sz="2800" dirty="0"/>
              <a:t> </a:t>
            </a:r>
            <a:r>
              <a:rPr lang="en-GY" sz="2800" dirty="0" err="1"/>
              <a:t>secara</a:t>
            </a:r>
            <a:r>
              <a:rPr lang="en-GY" sz="2800" dirty="0"/>
              <a:t> </a:t>
            </a:r>
            <a:r>
              <a:rPr lang="en-GY" sz="2800" dirty="0" err="1"/>
              <a:t>kredit</a:t>
            </a:r>
            <a:r>
              <a:rPr lang="en-GY" sz="2800" dirty="0"/>
              <a:t>. Ia </a:t>
            </a:r>
            <a:r>
              <a:rPr lang="en-GY" sz="2800" dirty="0" err="1"/>
              <a:t>membayar</a:t>
            </a:r>
            <a:r>
              <a:rPr lang="en-GY" sz="2800" dirty="0"/>
              <a:t> uang </a:t>
            </a:r>
            <a:r>
              <a:rPr lang="en-GY" sz="2800" dirty="0" err="1"/>
              <a:t>muka</a:t>
            </a:r>
            <a:r>
              <a:rPr lang="en-GY" sz="2800" dirty="0"/>
              <a:t> </a:t>
            </a:r>
            <a:r>
              <a:rPr lang="en-GY" sz="2800" dirty="0" err="1"/>
              <a:t>sebesar</a:t>
            </a:r>
            <a:r>
              <a:rPr lang="en-GY" sz="2800" dirty="0"/>
              <a:t> </a:t>
            </a:r>
            <a:r>
              <a:rPr lang="en-GY" sz="2800" b="1" dirty="0"/>
              <a:t>Rp. y</a:t>
            </a:r>
            <a:r>
              <a:rPr lang="en-GY" sz="2800" dirty="0"/>
              <a:t>. Sisa </a:t>
            </a:r>
            <a:r>
              <a:rPr lang="en-GY" sz="2800" dirty="0" err="1"/>
              <a:t>harga</a:t>
            </a:r>
            <a:r>
              <a:rPr lang="en-GY" sz="2800" dirty="0"/>
              <a:t> laptop </a:t>
            </a:r>
            <a:r>
              <a:rPr lang="en-GY" sz="2800" dirty="0" err="1"/>
              <a:t>akan</a:t>
            </a:r>
            <a:r>
              <a:rPr lang="en-GY" sz="2800" dirty="0"/>
              <a:t> </a:t>
            </a:r>
            <a:r>
              <a:rPr lang="en-GY" sz="2800" dirty="0" err="1"/>
              <a:t>dicicil</a:t>
            </a:r>
            <a:r>
              <a:rPr lang="en-GY" sz="2800" dirty="0"/>
              <a:t> </a:t>
            </a:r>
            <a:r>
              <a:rPr lang="en-GY" sz="2800" dirty="0" err="1"/>
              <a:t>selama</a:t>
            </a:r>
            <a:r>
              <a:rPr lang="en-GY" sz="2800" dirty="0"/>
              <a:t> </a:t>
            </a:r>
            <a:r>
              <a:rPr lang="en-GY" sz="2800" b="1" dirty="0"/>
              <a:t>z </a:t>
            </a:r>
            <a:r>
              <a:rPr lang="en-GY" sz="2800" b="1" dirty="0" err="1"/>
              <a:t>bulan</a:t>
            </a:r>
            <a:r>
              <a:rPr lang="en-GY" sz="2800" dirty="0"/>
              <a:t>. </a:t>
            </a:r>
            <a:r>
              <a:rPr lang="en-GY" sz="2800" dirty="0" err="1"/>
              <a:t>Setiap</a:t>
            </a:r>
            <a:r>
              <a:rPr lang="en-GY" sz="2800" dirty="0"/>
              <a:t> </a:t>
            </a:r>
            <a:r>
              <a:rPr lang="en-GY" sz="2800" dirty="0" err="1"/>
              <a:t>bulan</a:t>
            </a:r>
            <a:r>
              <a:rPr lang="en-GY" sz="2800" dirty="0"/>
              <a:t> </a:t>
            </a:r>
            <a:r>
              <a:rPr lang="en-GY" sz="2800" dirty="0" err="1"/>
              <a:t>dikenakan</a:t>
            </a:r>
            <a:r>
              <a:rPr lang="en-GY" sz="2800" dirty="0"/>
              <a:t> bunga </a:t>
            </a:r>
            <a:r>
              <a:rPr lang="en-GY" sz="2800" dirty="0" err="1"/>
              <a:t>tetap</a:t>
            </a:r>
            <a:r>
              <a:rPr lang="en-GY" sz="2800" dirty="0"/>
              <a:t> </a:t>
            </a:r>
            <a:r>
              <a:rPr lang="en-GY" sz="2800" dirty="0" err="1"/>
              <a:t>sebesar</a:t>
            </a:r>
            <a:r>
              <a:rPr lang="en-GY" sz="2800" dirty="0"/>
              <a:t> </a:t>
            </a:r>
            <a:r>
              <a:rPr lang="en-GY" sz="2800" b="1" dirty="0"/>
              <a:t>2%</a:t>
            </a:r>
            <a:r>
              <a:rPr lang="en-GY" sz="2800" dirty="0"/>
              <a:t> </a:t>
            </a:r>
            <a:r>
              <a:rPr lang="en-GY" sz="2800" dirty="0" err="1"/>
              <a:t>dari</a:t>
            </a:r>
            <a:r>
              <a:rPr lang="en-GY" sz="2800" dirty="0"/>
              <a:t> </a:t>
            </a:r>
            <a:r>
              <a:rPr lang="en-GY" sz="2800" dirty="0" err="1"/>
              <a:t>sisa</a:t>
            </a:r>
            <a:r>
              <a:rPr lang="en-GY" sz="2800" dirty="0"/>
              <a:t> </a:t>
            </a:r>
            <a:r>
              <a:rPr lang="en-GY" sz="2800" dirty="0" err="1"/>
              <a:t>harga</a:t>
            </a:r>
            <a:r>
              <a:rPr lang="en-GY" sz="2800" dirty="0"/>
              <a:t> </a:t>
            </a:r>
            <a:r>
              <a:rPr lang="en-GY" sz="2800" dirty="0" err="1"/>
              <a:t>setelah</a:t>
            </a:r>
            <a:r>
              <a:rPr lang="en-GY" sz="2800" dirty="0"/>
              <a:t> uang </a:t>
            </a:r>
            <a:r>
              <a:rPr lang="en-GY" sz="2800" dirty="0" err="1"/>
              <a:t>muka</a:t>
            </a:r>
            <a:r>
              <a:rPr lang="en-GY" sz="2800" dirty="0"/>
              <a:t>.</a:t>
            </a:r>
            <a:br>
              <a:rPr lang="en-US" sz="2800" dirty="0"/>
            </a:br>
            <a:r>
              <a:rPr lang="en-GY" sz="2800" dirty="0" err="1"/>
              <a:t>Berapakah</a:t>
            </a:r>
            <a:r>
              <a:rPr lang="en-GY" sz="2800" dirty="0"/>
              <a:t> </a:t>
            </a:r>
            <a:r>
              <a:rPr lang="en-GY" sz="2800" dirty="0" err="1"/>
              <a:t>jumlah</a:t>
            </a:r>
            <a:r>
              <a:rPr lang="en-GY" sz="2800" dirty="0"/>
              <a:t> </a:t>
            </a:r>
            <a:r>
              <a:rPr lang="en-GY" sz="2800" dirty="0" err="1"/>
              <a:t>cicilan</a:t>
            </a:r>
            <a:r>
              <a:rPr lang="en-GY" sz="2800" dirty="0"/>
              <a:t> yang </a:t>
            </a:r>
            <a:r>
              <a:rPr lang="en-GY" sz="2800" dirty="0" err="1"/>
              <a:t>harus</a:t>
            </a:r>
            <a:r>
              <a:rPr lang="en-GY" sz="2800" dirty="0"/>
              <a:t> </a:t>
            </a:r>
            <a:r>
              <a:rPr lang="en-GY" sz="2800" dirty="0" err="1"/>
              <a:t>dibayar</a:t>
            </a:r>
            <a:r>
              <a:rPr lang="en-GY" sz="2800" dirty="0"/>
              <a:t> Rina </a:t>
            </a:r>
            <a:r>
              <a:rPr lang="en-GY" sz="2800" dirty="0" err="1"/>
              <a:t>setiap</a:t>
            </a:r>
            <a:r>
              <a:rPr lang="en-GY" sz="2800" dirty="0"/>
              <a:t> </a:t>
            </a:r>
            <a:r>
              <a:rPr lang="en-GY" sz="2800" dirty="0" err="1"/>
              <a:t>bulan</a:t>
            </a:r>
            <a:r>
              <a:rPr lang="en-GY" sz="2800" dirty="0"/>
              <a:t>?</a:t>
            </a:r>
            <a:endParaRPr lang="en-US" sz="2800" b="1" dirty="0"/>
          </a:p>
          <a:p>
            <a:pPr marL="590550" lvl="0" indent="-457200">
              <a:buSzPts val="2100"/>
              <a:buAutoNum type="alphaLcPeriod"/>
            </a:pPr>
            <a:r>
              <a:rPr lang="en-US" sz="2800" dirty="0" err="1">
                <a:latin typeface="+mn-lt"/>
              </a:rPr>
              <a:t>Buatlah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algoritma</a:t>
            </a:r>
            <a:r>
              <a:rPr lang="en-US" sz="2800" dirty="0">
                <a:latin typeface="+mn-lt"/>
              </a:rPr>
              <a:t> flowchart </a:t>
            </a:r>
            <a:r>
              <a:rPr lang="en-US" sz="2800" dirty="0" err="1">
                <a:latin typeface="+mn-lt"/>
              </a:rPr>
              <a:t>dari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studi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kasus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tersebut</a:t>
            </a:r>
            <a:r>
              <a:rPr lang="en-US" sz="2800" dirty="0">
                <a:latin typeface="+mn-lt"/>
              </a:rPr>
              <a:t>!</a:t>
            </a:r>
          </a:p>
          <a:p>
            <a:pPr marL="590550" lvl="0" indent="-457200">
              <a:buSzPts val="2100"/>
              <a:buAutoNum type="alphaLcPeriod"/>
            </a:pPr>
            <a:r>
              <a:rPr lang="en-US" sz="2800" dirty="0" err="1">
                <a:latin typeface="+mn-lt"/>
              </a:rPr>
              <a:t>Buatlah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algoritma</a:t>
            </a:r>
            <a:r>
              <a:rPr lang="en-US" sz="2800" dirty="0">
                <a:latin typeface="+mn-lt"/>
              </a:rPr>
              <a:t> pseudocode </a:t>
            </a:r>
            <a:r>
              <a:rPr lang="en-US" sz="2800" dirty="0" err="1">
                <a:latin typeface="+mn-lt"/>
              </a:rPr>
              <a:t>dari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studi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kasus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tersebut</a:t>
            </a:r>
            <a:r>
              <a:rPr lang="en-US" sz="2800" dirty="0">
                <a:latin typeface="+mn-lt"/>
              </a:rPr>
              <a:t>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515E9A-5DEC-B396-8BC8-FA95594ED762}"/>
              </a:ext>
            </a:extLst>
          </p:cNvPr>
          <p:cNvCxnSpPr>
            <a:cxnSpLocks/>
          </p:cNvCxnSpPr>
          <p:nvPr/>
        </p:nvCxnSpPr>
        <p:spPr>
          <a:xfrm>
            <a:off x="1983782" y="3676973"/>
            <a:ext cx="7749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7035A3BD-0F28-6614-84AB-6FD316A5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3">
            <a:extLst>
              <a:ext uri="{FF2B5EF4-FFF2-40B4-BE49-F238E27FC236}">
                <a16:creationId xmlns:a16="http://schemas.microsoft.com/office/drawing/2014/main" id="{28378EDB-71DF-B77A-28A3-C566A87A9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7350" y="274638"/>
            <a:ext cx="7283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choolbell"/>
              <a:buNone/>
            </a:pPr>
            <a:r>
              <a:rPr lang="en-US" sz="4000" b="1" dirty="0" err="1">
                <a:latin typeface="+mj-lt"/>
                <a:ea typeface="Schoolbell"/>
                <a:cs typeface="Schoolbell"/>
                <a:sym typeface="Schoolbell"/>
              </a:rPr>
              <a:t>Tugas</a:t>
            </a:r>
            <a:r>
              <a:rPr lang="en-US" sz="4000" b="1" dirty="0">
                <a:latin typeface="+mj-lt"/>
                <a:ea typeface="Schoolbell"/>
                <a:cs typeface="Schoolbell"/>
                <a:sym typeface="Schoolbell"/>
              </a:rPr>
              <a:t>…(2)</a:t>
            </a:r>
            <a:endParaRPr sz="4000" dirty="0">
              <a:latin typeface="+mj-lt"/>
              <a:ea typeface="Schoolbell"/>
              <a:cs typeface="Schoolbell"/>
              <a:sym typeface="Schoolbell"/>
            </a:endParaRPr>
          </a:p>
        </p:txBody>
      </p:sp>
      <p:sp>
        <p:nvSpPr>
          <p:cNvPr id="433" name="Google Shape;433;p43">
            <a:extLst>
              <a:ext uri="{FF2B5EF4-FFF2-40B4-BE49-F238E27FC236}">
                <a16:creationId xmlns:a16="http://schemas.microsoft.com/office/drawing/2014/main" id="{97DCAA17-DEE6-709C-0D92-DDDC6C4553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51</a:t>
            </a:fld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3">
            <a:extLst>
              <a:ext uri="{FF2B5EF4-FFF2-40B4-BE49-F238E27FC236}">
                <a16:creationId xmlns:a16="http://schemas.microsoft.com/office/drawing/2014/main" id="{F1A2A947-5012-FF74-DE48-055C42BD2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GY" sz="2800" dirty="0" err="1"/>
              <a:t>Seorang</a:t>
            </a:r>
            <a:r>
              <a:rPr lang="en-GY" sz="2800" dirty="0"/>
              <a:t> </a:t>
            </a:r>
            <a:r>
              <a:rPr lang="en-GY" sz="2800" dirty="0" err="1"/>
              <a:t>mahasiswa</a:t>
            </a:r>
            <a:r>
              <a:rPr lang="en-GY" sz="2800" dirty="0"/>
              <a:t> </a:t>
            </a:r>
            <a:r>
              <a:rPr lang="en-GY" sz="2800" dirty="0" err="1"/>
              <a:t>mencetak</a:t>
            </a:r>
            <a:r>
              <a:rPr lang="en-GY" sz="2800" dirty="0"/>
              <a:t> </a:t>
            </a:r>
            <a:r>
              <a:rPr lang="en-GY" sz="2800" dirty="0" err="1"/>
              <a:t>sebanyak</a:t>
            </a:r>
            <a:r>
              <a:rPr lang="en-GY" sz="2800" dirty="0"/>
              <a:t> </a:t>
            </a:r>
            <a:r>
              <a:rPr lang="en-GY" sz="2800" b="1" dirty="0"/>
              <a:t>x </a:t>
            </a:r>
            <a:r>
              <a:rPr lang="en-GY" sz="2800" b="1" dirty="0" err="1"/>
              <a:t>lembar</a:t>
            </a:r>
            <a:r>
              <a:rPr lang="en-GY" sz="2800" dirty="0"/>
              <a:t> </a:t>
            </a:r>
            <a:r>
              <a:rPr lang="en-GY" sz="2800" dirty="0" err="1"/>
              <a:t>dokumen</a:t>
            </a:r>
            <a:r>
              <a:rPr lang="en-GY" sz="2800" dirty="0"/>
              <a:t>. </a:t>
            </a:r>
            <a:r>
              <a:rPr lang="en-GY" sz="2800" dirty="0" err="1"/>
              <a:t>Biaya</a:t>
            </a:r>
            <a:r>
              <a:rPr lang="en-GY" sz="2800" dirty="0"/>
              <a:t> </a:t>
            </a:r>
            <a:r>
              <a:rPr lang="en-GY" sz="2800" dirty="0" err="1"/>
              <a:t>cetak</a:t>
            </a:r>
            <a:r>
              <a:rPr lang="en-GY" sz="2800" dirty="0"/>
              <a:t> </a:t>
            </a:r>
            <a:r>
              <a:rPr lang="en-GY" sz="2800" dirty="0" err="1"/>
              <a:t>adalah</a:t>
            </a:r>
            <a:r>
              <a:rPr lang="en-GY" sz="2800" dirty="0"/>
              <a:t> </a:t>
            </a:r>
            <a:r>
              <a:rPr lang="en-GY" sz="2800" b="1" dirty="0"/>
              <a:t>Rp500 per </a:t>
            </a:r>
            <a:r>
              <a:rPr lang="en-GY" sz="2800" b="1" dirty="0" err="1"/>
              <a:t>lembar</a:t>
            </a:r>
            <a:r>
              <a:rPr lang="en-GY" sz="2800" dirty="0"/>
              <a:t>. Ia juga </a:t>
            </a:r>
            <a:r>
              <a:rPr lang="en-GY" sz="2800" dirty="0" err="1"/>
              <a:t>harus</a:t>
            </a:r>
            <a:r>
              <a:rPr lang="en-GY" sz="2800" dirty="0"/>
              <a:t> </a:t>
            </a:r>
            <a:r>
              <a:rPr lang="en-GY" sz="2800" dirty="0" err="1"/>
              <a:t>membayar</a:t>
            </a:r>
            <a:r>
              <a:rPr lang="en-GY" sz="2800" dirty="0"/>
              <a:t> </a:t>
            </a:r>
            <a:r>
              <a:rPr lang="en-GY" sz="2800" dirty="0" err="1"/>
              <a:t>biaya</a:t>
            </a:r>
            <a:r>
              <a:rPr lang="en-GY" sz="2800" dirty="0"/>
              <a:t> </a:t>
            </a:r>
            <a:r>
              <a:rPr lang="en-GY" sz="2800" dirty="0" err="1"/>
              <a:t>penjilidan</a:t>
            </a:r>
            <a:r>
              <a:rPr lang="en-GY" sz="2800" dirty="0"/>
              <a:t> </a:t>
            </a:r>
            <a:r>
              <a:rPr lang="en-GY" sz="2800" dirty="0" err="1"/>
              <a:t>sebesar</a:t>
            </a:r>
            <a:r>
              <a:rPr lang="en-GY" sz="2800" dirty="0"/>
              <a:t> </a:t>
            </a:r>
            <a:r>
              <a:rPr lang="en-GY" sz="2800" b="1" dirty="0"/>
              <a:t>Rp5.000</a:t>
            </a:r>
            <a:r>
              <a:rPr lang="en-GY" sz="2800" dirty="0"/>
              <a:t>.</a:t>
            </a:r>
          </a:p>
          <a:p>
            <a:pPr marL="114300" indent="0">
              <a:buNone/>
            </a:pPr>
            <a:r>
              <a:rPr lang="en-GY" sz="2800" b="1" dirty="0" err="1"/>
              <a:t>Berapakah</a:t>
            </a:r>
            <a:r>
              <a:rPr lang="en-GY" sz="2800" b="1" dirty="0"/>
              <a:t> total </a:t>
            </a:r>
            <a:r>
              <a:rPr lang="en-GY" sz="2800" b="1" dirty="0" err="1"/>
              <a:t>biaya</a:t>
            </a:r>
            <a:r>
              <a:rPr lang="en-GY" sz="2800" b="1" dirty="0"/>
              <a:t> yang </a:t>
            </a:r>
            <a:r>
              <a:rPr lang="en-GY" sz="2800" b="1" dirty="0" err="1"/>
              <a:t>harus</a:t>
            </a:r>
            <a:r>
              <a:rPr lang="en-GY" sz="2800" b="1" dirty="0"/>
              <a:t> </a:t>
            </a:r>
            <a:r>
              <a:rPr lang="en-GY" sz="2800" b="1" dirty="0" err="1"/>
              <a:t>dibayar</a:t>
            </a:r>
            <a:r>
              <a:rPr lang="en-GY" sz="2800" b="1" dirty="0"/>
              <a:t> </a:t>
            </a:r>
            <a:r>
              <a:rPr lang="en-GY" sz="2800" b="1" dirty="0" err="1"/>
              <a:t>mahasiswa</a:t>
            </a:r>
            <a:r>
              <a:rPr lang="en-GY" sz="2800" b="1" dirty="0"/>
              <a:t> </a:t>
            </a:r>
            <a:r>
              <a:rPr lang="en-GY" sz="2800" b="1" dirty="0" err="1"/>
              <a:t>tersebut</a:t>
            </a:r>
            <a:r>
              <a:rPr lang="en-GY" sz="2800" b="1" dirty="0"/>
              <a:t>?</a:t>
            </a:r>
            <a:endParaRPr lang="en-GY" sz="2800" dirty="0"/>
          </a:p>
          <a:p>
            <a:pPr marL="647700" lvl="0" indent="-514350">
              <a:buSzPts val="2100"/>
              <a:buFont typeface="+mj-lt"/>
              <a:buAutoNum type="alphaLcPeriod"/>
            </a:pPr>
            <a:r>
              <a:rPr lang="en-US" sz="2800" dirty="0" err="1">
                <a:latin typeface="+mn-lt"/>
              </a:rPr>
              <a:t>Buatlah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algoritma</a:t>
            </a:r>
            <a:r>
              <a:rPr lang="en-US" sz="2800" dirty="0">
                <a:latin typeface="+mn-lt"/>
              </a:rPr>
              <a:t> flowchart </a:t>
            </a:r>
            <a:r>
              <a:rPr lang="en-US" sz="2800" dirty="0" err="1">
                <a:latin typeface="+mn-lt"/>
              </a:rPr>
              <a:t>dari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studi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kasus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tersebut</a:t>
            </a:r>
            <a:r>
              <a:rPr lang="en-US" sz="2800" dirty="0">
                <a:latin typeface="+mn-lt"/>
              </a:rPr>
              <a:t>!</a:t>
            </a:r>
          </a:p>
          <a:p>
            <a:pPr marL="647700" lvl="0" indent="-514350">
              <a:buSzPts val="2100"/>
              <a:buFont typeface="+mj-lt"/>
              <a:buAutoNum type="alphaLcPeriod"/>
            </a:pPr>
            <a:r>
              <a:rPr lang="en-US" sz="2800" dirty="0" err="1">
                <a:latin typeface="+mn-lt"/>
              </a:rPr>
              <a:t>Buatlah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algoritma</a:t>
            </a:r>
            <a:r>
              <a:rPr lang="en-US" sz="2800" dirty="0">
                <a:latin typeface="+mn-lt"/>
              </a:rPr>
              <a:t> pseudocode </a:t>
            </a:r>
            <a:r>
              <a:rPr lang="en-US" sz="2800" dirty="0" err="1">
                <a:latin typeface="+mn-lt"/>
              </a:rPr>
              <a:t>dari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studi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kasus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tersebut</a:t>
            </a:r>
            <a:r>
              <a:rPr lang="en-US" sz="2800" dirty="0">
                <a:latin typeface="+mn-lt"/>
              </a:rPr>
              <a:t>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84A3DF-7238-8C11-417A-E0EA48A272FC}"/>
              </a:ext>
            </a:extLst>
          </p:cNvPr>
          <p:cNvCxnSpPr>
            <a:cxnSpLocks/>
          </p:cNvCxnSpPr>
          <p:nvPr/>
        </p:nvCxnSpPr>
        <p:spPr>
          <a:xfrm>
            <a:off x="1983782" y="3676973"/>
            <a:ext cx="7749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104528"/>
      </p:ext>
    </p:extLst>
  </p:cSld>
  <p:clrMapOvr>
    <a:masterClrMapping/>
  </p:clrMapOvr>
</p:sld>
</file>

<file path=ppt/theme/theme1.xml><?xml version="1.0" encoding="utf-8"?>
<a:theme xmlns:a="http://schemas.openxmlformats.org/drawingml/2006/main" name="daspr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asp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pro" id="{E46B8016-6252-41C8-9ABE-427633246C4D}" vid="{3DB2AD0D-9733-4AED-9F5A-74A06DF2325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3295</TotalTime>
  <Words>1981</Words>
  <Application>Microsoft Office PowerPoint</Application>
  <PresentationFormat>Widescreen</PresentationFormat>
  <Paragraphs>363</Paragraphs>
  <Slides>51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5" baseType="lpstr">
      <vt:lpstr>Arial Rounded MT Bold</vt:lpstr>
      <vt:lpstr>Times New Roman</vt:lpstr>
      <vt:lpstr>Consolas</vt:lpstr>
      <vt:lpstr>Arial</vt:lpstr>
      <vt:lpstr>Courier New</vt:lpstr>
      <vt:lpstr>Amasis MT Pro Medium</vt:lpstr>
      <vt:lpstr>Wingdings</vt:lpstr>
      <vt:lpstr>Google Sans</vt:lpstr>
      <vt:lpstr>Schoolbell</vt:lpstr>
      <vt:lpstr>Cambria</vt:lpstr>
      <vt:lpstr>Calibri</vt:lpstr>
      <vt:lpstr>daspro</vt:lpstr>
      <vt:lpstr>1_daspro</vt:lpstr>
      <vt:lpstr>Document</vt:lpstr>
      <vt:lpstr>Pertemuan 3 Operator, Sequence, Flowchart, Pseudocode</vt:lpstr>
      <vt:lpstr>Tujuan</vt:lpstr>
      <vt:lpstr>OPERATOR</vt:lpstr>
      <vt:lpstr>Jenis operator</vt:lpstr>
      <vt:lpstr>PowerPoint Presentation</vt:lpstr>
      <vt:lpstr>PowerPoint Presentation</vt:lpstr>
      <vt:lpstr>PowerPoint Presentation</vt:lpstr>
      <vt:lpstr>Contoh</vt:lpstr>
      <vt:lpstr>3.Operator Assignment</vt:lpstr>
      <vt:lpstr>Contoh kode program</vt:lpstr>
      <vt:lpstr>Contoh kode program</vt:lpstr>
      <vt:lpstr>4. Operator Relasi </vt:lpstr>
      <vt:lpstr>PowerPoint Presentation</vt:lpstr>
      <vt:lpstr>5. Operator Logika</vt:lpstr>
      <vt:lpstr>Contoh kode program</vt:lpstr>
      <vt:lpstr>6. Operator Bitwise</vt:lpstr>
      <vt:lpstr>6. Operator Bitwise(2)</vt:lpstr>
      <vt:lpstr>6. Operator Bitwise(3)</vt:lpstr>
      <vt:lpstr>6. Operator Bitwise(4)</vt:lpstr>
      <vt:lpstr>SEQUENCE</vt:lpstr>
      <vt:lpstr>Sequence…(1)</vt:lpstr>
      <vt:lpstr>Sequence…(2)</vt:lpstr>
      <vt:lpstr>Sequence…(3)</vt:lpstr>
      <vt:lpstr>Sequence…(4)</vt:lpstr>
      <vt:lpstr>FLOWCHART</vt:lpstr>
      <vt:lpstr>Flowchart</vt:lpstr>
      <vt:lpstr>Simbol-simbol Flowchart…(1)</vt:lpstr>
      <vt:lpstr>Simbol-simbol Flowchart…(2)</vt:lpstr>
      <vt:lpstr>Contoh Penggunaan On Page Connector</vt:lpstr>
      <vt:lpstr>Contoh Penggunaan Off Page Connector</vt:lpstr>
      <vt:lpstr>PSEUDOCODE</vt:lpstr>
      <vt:lpstr>DEFINISI PSEUDOCODE</vt:lpstr>
      <vt:lpstr>Pseudocode: Masukan</vt:lpstr>
      <vt:lpstr>Pseudocode: Keluaran</vt:lpstr>
      <vt:lpstr>Pseudocode: Perhitungan Aritmatika</vt:lpstr>
      <vt:lpstr>Pseudocode: Memberikan Nilai</vt:lpstr>
      <vt:lpstr>Pseudocode : Operasi Pembandingan</vt:lpstr>
      <vt:lpstr>Pseudocode : Operasi Relasional</vt:lpstr>
      <vt:lpstr>Pseudocode: Pemilihan</vt:lpstr>
      <vt:lpstr>Pseudocode: Pengulangan</vt:lpstr>
      <vt:lpstr>CONTOH</vt:lpstr>
      <vt:lpstr>JAWAB</vt:lpstr>
      <vt:lpstr>Contoh Soal</vt:lpstr>
      <vt:lpstr>Contoh 1</vt:lpstr>
      <vt:lpstr>Contoh 1</vt:lpstr>
      <vt:lpstr>Contoh 1</vt:lpstr>
      <vt:lpstr>Contoh 2</vt:lpstr>
      <vt:lpstr>Contoh 2</vt:lpstr>
      <vt:lpstr>Contoh 2</vt:lpstr>
      <vt:lpstr>Tugas…(1)</vt:lpstr>
      <vt:lpstr>Tugas…(2)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 Variabel, Tipe Data, Operator dan Input-Output</dc:title>
  <dc:creator>akun 62</dc:creator>
  <cp:lastModifiedBy>vivinanindito</cp:lastModifiedBy>
  <cp:revision>33</cp:revision>
  <dcterms:created xsi:type="dcterms:W3CDTF">2020-07-25T22:42:29Z</dcterms:created>
  <dcterms:modified xsi:type="dcterms:W3CDTF">2026-09-06T10:20:12Z</dcterms:modified>
</cp:coreProperties>
</file>