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Lst>
  <p:sldSz cy="6858000" cx="12192000"/>
  <p:notesSz cx="6858000" cy="9144000"/>
  <p:embeddedFontLst>
    <p:embeddedFont>
      <p:font typeface="Helvetica Neue"/>
      <p:regular r:id="rId47"/>
      <p:bold r:id="rId48"/>
      <p:italic r:id="rId49"/>
      <p:boldItalic r:id="rId50"/>
    </p:embeddedFont>
    <p:embeddedFont>
      <p:font typeface="Arial Black"/>
      <p:regular r:id="rId51"/>
    </p:embeddedFont>
    <p:embeddedFont>
      <p:font typeface="Federo"/>
      <p:regular r:id="rId52"/>
    </p:embeddedFont>
    <p:embeddedFont>
      <p:font typeface="Bell MT"/>
      <p:regular r:id="rId53"/>
      <p:bold r:id="rId54"/>
      <p:italic r:id="rId55"/>
      <p:boldItalic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57" roundtripDataSignature="AMtx7mgufD8C5nnPpmnRVclkfJ8cMQe8K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8AE8AB1-2594-43BC-BC1B-8C5409C14ECE}">
  <a:tblStyle styleId="{C8AE8AB1-2594-43BC-BC1B-8C5409C14ECE}"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12700">
              <a:solidFill>
                <a:schemeClr val="accent5"/>
              </a:solidFill>
              <a:prstDash val="solid"/>
              <a:round/>
              <a:headEnd len="sm" w="sm" type="none"/>
              <a:tailEnd len="sm" w="sm" type="none"/>
            </a:ln>
          </a:top>
          <a:bottom>
            <a:ln cap="flat" cmpd="sng" w="12700">
              <a:solidFill>
                <a:schemeClr val="accent5"/>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tcStyle>
        <a:fill>
          <a:solidFill>
            <a:schemeClr val="accent5">
              <a:alpha val="20000"/>
            </a:schemeClr>
          </a:solidFill>
        </a:fill>
      </a:tcStyle>
    </a:band1H>
    <a:band2H>
      <a:tcTxStyle b="off" i="off"/>
    </a:band2H>
    <a:band1V>
      <a:tcTxStyle b="off" i="off"/>
      <a:tcStyle>
        <a:fill>
          <a:solidFill>
            <a:schemeClr val="accent5">
              <a:alpha val="20000"/>
            </a:schemeClr>
          </a:solidFill>
        </a:fill>
      </a:tcStyle>
    </a:band1V>
    <a:band2V>
      <a:tcTxStyle b="off" i="off"/>
    </a:band2V>
    <a:lastCol>
      <a:tcTxStyle b="on" i="off"/>
    </a:lastCol>
    <a:firstCol>
      <a:tcTxStyle b="on" i="off"/>
    </a:firstCol>
    <a:lastRow>
      <a:tcTxStyle b="on" i="off"/>
      <a:tcStyle>
        <a:tcBdr>
          <a:top>
            <a:ln cap="flat" cmpd="sng" w="12700">
              <a:solidFill>
                <a:schemeClr val="accent5"/>
              </a:solidFill>
              <a:prstDash val="solid"/>
              <a:round/>
              <a:headEnd len="sm" w="sm" type="none"/>
              <a:tailEnd len="sm" w="sm" type="none"/>
            </a:ln>
          </a:top>
        </a:tcBdr>
        <a:fill>
          <a:solidFill>
            <a:srgbClr val="FFFFFF">
              <a:alpha val="0"/>
            </a:srgbClr>
          </a:solidFill>
        </a:fill>
      </a:tcStyle>
    </a:lastRow>
    <a:seCell>
      <a:tcTxStyle b="off" i="off"/>
    </a:seCell>
    <a:swCell>
      <a:tcTxStyle b="off" i="off"/>
    </a:swCell>
    <a:firstRow>
      <a:tcTxStyle b="on" i="off"/>
      <a:tcStyle>
        <a:tcBdr>
          <a:bottom>
            <a:ln cap="flat" cmpd="sng" w="12700">
              <a:solidFill>
                <a:schemeClr val="accent5"/>
              </a:solidFill>
              <a:prstDash val="solid"/>
              <a:round/>
              <a:headEnd len="sm" w="sm" type="none"/>
              <a:tailEnd len="sm" w="sm" type="none"/>
            </a:ln>
          </a:bottom>
        </a:tcBdr>
        <a:fill>
          <a:solidFill>
            <a:srgbClr val="FFFFFF">
              <a:alpha val="0"/>
            </a:srgbClr>
          </a:solidFill>
        </a:fill>
      </a:tcStyle>
    </a:firstRow>
    <a:neCell>
      <a:tcTxStyle b="off" i="off"/>
    </a:neCell>
    <a:nwCell>
      <a:tcTxStyle b="off" i="off"/>
    </a:nwCell>
  </a:tblStyle>
  <a:tblStyle styleId="{FC948880-5758-411F-B326-821F47AD938B}" styleName="Table_1">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9EFF7"/>
          </a:solidFill>
        </a:fill>
      </a:tcStyle>
    </a:wholeTbl>
    <a:band1H>
      <a:tcTxStyle b="off" i="off"/>
      <a:tcStyle>
        <a:fill>
          <a:solidFill>
            <a:srgbClr val="D0DEEF"/>
          </a:solidFill>
        </a:fill>
      </a:tcStyle>
    </a:band1H>
    <a:band2H>
      <a:tcTxStyle b="off" i="off"/>
    </a:band2H>
    <a:band1V>
      <a:tcTxStyle b="off" i="off"/>
      <a:tcStyle>
        <a:fill>
          <a:solidFill>
            <a:srgbClr val="D0DEEF"/>
          </a:solidFill>
        </a:fill>
      </a:tcStyle>
    </a:band1V>
    <a:band2V>
      <a:tcTxStyle b="off" i="off"/>
    </a:band2V>
    <a:lastCol>
      <a:tcTxStyle b="on" i="off">
        <a:font>
          <a:latin typeface="Calibri"/>
          <a:ea typeface="Calibri"/>
          <a:cs typeface="Calibri"/>
        </a:font>
        <a:schemeClr val="lt1"/>
      </a:tcTxStyle>
      <a:tcStyle>
        <a:fill>
          <a:solidFill>
            <a:schemeClr val="accent5"/>
          </a:solidFill>
        </a:fill>
      </a:tcStyle>
    </a:lastCol>
    <a:firstCol>
      <a:tcTxStyle b="on" i="off">
        <a:font>
          <a:latin typeface="Calibri"/>
          <a:ea typeface="Calibri"/>
          <a:cs typeface="Calibri"/>
        </a:font>
        <a:schemeClr val="lt1"/>
      </a:tcTxStyle>
      <a:tcStyle>
        <a:fill>
          <a:solidFill>
            <a:schemeClr val="accent5"/>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5"/>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5"/>
          </a:solidFill>
        </a:fill>
      </a:tcStyle>
    </a:firstRow>
    <a:neCell>
      <a:tcTxStyle b="off" i="off"/>
    </a:neCell>
    <a:nwCell>
      <a:tcTxStyle b="off" i="off"/>
    </a:nwCell>
  </a:tblStyle>
  <a:tblStyle styleId="{5E3A9CBF-5860-4AEE-B7D5-FF78217091C9}" styleName="Table_2">
    <a:wholeTbl>
      <a:tcTxStyle b="off" i="off">
        <a:font>
          <a:latin typeface="Arial"/>
          <a:ea typeface="Arial"/>
          <a:cs typeface="Arial"/>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A6EAE1E4-ED47-401D-BB08-45F530BB24D2}" styleName="Table_3">
    <a:wholeTbl>
      <a:tcTxStyle b="off" i="off">
        <a:font>
          <a:latin typeface="Arial"/>
          <a:ea typeface="Arial"/>
          <a:cs typeface="Arial"/>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HelveticaNeue-bold.fntdata"/><Relationship Id="rId47" Type="http://schemas.openxmlformats.org/officeDocument/2006/relationships/font" Target="fonts/HelveticaNeue-regular.fntdata"/><Relationship Id="rId49" Type="http://schemas.openxmlformats.org/officeDocument/2006/relationships/font" Target="fonts/HelveticaNeue-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ArialBlack-regular.fntdata"/><Relationship Id="rId50" Type="http://schemas.openxmlformats.org/officeDocument/2006/relationships/font" Target="fonts/HelveticaNeue-boldItalic.fntdata"/><Relationship Id="rId53" Type="http://schemas.openxmlformats.org/officeDocument/2006/relationships/font" Target="fonts/BellMT-regular.fntdata"/><Relationship Id="rId52" Type="http://schemas.openxmlformats.org/officeDocument/2006/relationships/font" Target="fonts/Federo-regular.fntdata"/><Relationship Id="rId11" Type="http://schemas.openxmlformats.org/officeDocument/2006/relationships/slide" Target="slides/slide5.xml"/><Relationship Id="rId55" Type="http://schemas.openxmlformats.org/officeDocument/2006/relationships/font" Target="fonts/BellMT-italic.fntdata"/><Relationship Id="rId10" Type="http://schemas.openxmlformats.org/officeDocument/2006/relationships/slide" Target="slides/slide4.xml"/><Relationship Id="rId54" Type="http://schemas.openxmlformats.org/officeDocument/2006/relationships/font" Target="fonts/BellMT-bold.fntdata"/><Relationship Id="rId13" Type="http://schemas.openxmlformats.org/officeDocument/2006/relationships/slide" Target="slides/slide7.xml"/><Relationship Id="rId57" Type="http://customschemas.google.com/relationships/presentationmetadata" Target="metadata"/><Relationship Id="rId12" Type="http://schemas.openxmlformats.org/officeDocument/2006/relationships/slide" Target="slides/slide6.xml"/><Relationship Id="rId56" Type="http://schemas.openxmlformats.org/officeDocument/2006/relationships/font" Target="fonts/BellMT-bold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6" name="Google Shape;76;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8" name="Google Shape;88;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5" name="Google Shape;95;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1" name="Google Shape;101;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 name="Google Shape;107;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3" name="Google Shape;113;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Berang-berang sedang mengurutkan sekumpulan kayu dengan cara membandingkan dua batang kayu yang berdekatan. Dia membandingkan kayu pertama dengan yang kedua, jika kayu pertama lebih kecil, maka berang-berang menukar kedua kayu ini. Kemudian berang-berang membandingkan kayu kedua dengan yang ketiga, dst. Jika terjadi pertukaran, maka ia mencari posisi yang benar untuk kayu yang ditukar dalam urutan kayu yang diurutkan pertama dan meletakkannya di sana. Ini bisa diulang sampai semua kayu diurutkan (katakanlah, dari yang terpendek ke yang terpanjang)..</a:t>
            </a:r>
            <a:endParaRPr/>
          </a:p>
        </p:txBody>
      </p:sp>
      <p:sp>
        <p:nvSpPr>
          <p:cNvPr id="120" name="Google Shape;120;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6" name="Google Shape;126;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2" name="Google Shape;132;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2" name="Google Shape;202;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i="1" lang="en-US"/>
              <a:t>Slide ini bertujuan membangun motivasi mahasiswa belajar JAVA </a:t>
            </a:r>
            <a:endParaRPr/>
          </a:p>
          <a:p>
            <a:pPr indent="-298450" lvl="0" marL="457200" rtl="0" algn="l">
              <a:lnSpc>
                <a:spcPct val="100000"/>
              </a:lnSpc>
              <a:spcBef>
                <a:spcPts val="0"/>
              </a:spcBef>
              <a:spcAft>
                <a:spcPts val="0"/>
              </a:spcAft>
              <a:buSzPts val="1100"/>
              <a:buChar char="●"/>
            </a:pPr>
            <a:r>
              <a:rPr i="1" lang="en-US"/>
              <a:t>di startup, kemungkinan backend pakai </a:t>
            </a:r>
            <a:r>
              <a:rPr b="1" i="1" lang="en-US"/>
              <a:t>Spring Boot (Java)</a:t>
            </a:r>
            <a:r>
              <a:rPr i="1" lang="en-US"/>
              <a:t>. </a:t>
            </a:r>
            <a:br>
              <a:rPr i="1" lang="en-US"/>
            </a:br>
            <a:r>
              <a:rPr i="1" lang="en-US"/>
              <a:t>perbankan, sistem core banking-nya </a:t>
            </a:r>
            <a:r>
              <a:rPr b="1" i="1" lang="en-US"/>
              <a:t>Java</a:t>
            </a:r>
            <a:r>
              <a:rPr i="1" lang="en-US"/>
              <a:t>. </a:t>
            </a:r>
            <a:br>
              <a:rPr i="1" lang="en-US"/>
            </a:br>
            <a:r>
              <a:rPr i="1" lang="en-US"/>
              <a:t>Kalau bikin Android app, dulu pasti pakai </a:t>
            </a:r>
            <a:r>
              <a:rPr b="1" i="1" lang="en-US"/>
              <a:t>Java</a:t>
            </a:r>
            <a:r>
              <a:rPr i="1" lang="en-US"/>
              <a:t>, sekarang Kotlin tapi masih jalan di atas JVM.”</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8" name="Google Shape;208;p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3" name="Google Shape;213;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9" name="Google Shape;219;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7" name="Google Shape;237;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4" name="Google Shape;244;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0" name="Google Shape;250;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6" name="Google Shape;256;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2" name="Google Shape;262;p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1" marL="914400" rtl="0" algn="l">
              <a:lnSpc>
                <a:spcPct val="100000"/>
              </a:lnSpc>
              <a:spcBef>
                <a:spcPts val="0"/>
              </a:spcBef>
              <a:spcAft>
                <a:spcPts val="0"/>
              </a:spcAft>
              <a:buSzPts val="1100"/>
              <a:buChar char="○"/>
            </a:pPr>
            <a:r>
              <a:rPr lang="en-US"/>
              <a:t>Bot menjalankan "Maju ×3, Kanan" → kini di sudut kiri atas, menghadap timur</a:t>
            </a:r>
            <a:endParaRPr/>
          </a:p>
          <a:p>
            <a:pPr indent="-298450" lvl="1" marL="914400" rtl="0" algn="l">
              <a:lnSpc>
                <a:spcPct val="100000"/>
              </a:lnSpc>
              <a:spcBef>
                <a:spcPts val="0"/>
              </a:spcBef>
              <a:spcAft>
                <a:spcPts val="0"/>
              </a:spcAft>
              <a:buSzPts val="1100"/>
              <a:buChar char="○"/>
            </a:pPr>
            <a:r>
              <a:rPr lang="en-US"/>
              <a:t>Tombol Ulang pertama mengulang urutan tsb → bot pindah ke sudut kanan atas, menghadap selatan</a:t>
            </a:r>
            <a:endParaRPr/>
          </a:p>
          <a:p>
            <a:pPr indent="-298450" lvl="1" marL="914400" rtl="0" algn="l">
              <a:lnSpc>
                <a:spcPct val="100000"/>
              </a:lnSpc>
              <a:spcBef>
                <a:spcPts val="0"/>
              </a:spcBef>
              <a:spcAft>
                <a:spcPts val="0"/>
              </a:spcAft>
              <a:buSzPts val="1100"/>
              <a:buChar char="○"/>
            </a:pPr>
            <a:r>
              <a:rPr lang="en-US"/>
              <a:t>Tombol Ulang kedua mengulang lagi → bot pindah ke sudut kanan bawah, menghadap barat</a:t>
            </a:r>
            <a:endParaRPr/>
          </a:p>
          <a:p>
            <a:pPr indent="-298450" lvl="1" marL="914400" rtl="0" algn="l">
              <a:lnSpc>
                <a:spcPct val="100000"/>
              </a:lnSpc>
              <a:spcBef>
                <a:spcPts val="0"/>
              </a:spcBef>
              <a:spcAft>
                <a:spcPts val="0"/>
              </a:spcAft>
              <a:buSzPts val="1100"/>
              <a:buChar char="○"/>
            </a:pPr>
            <a:r>
              <a:rPr lang="en-US"/>
              <a:t>Tombol "Maju" terakhir membawa bot tepat ke ubin keju</a:t>
            </a:r>
            <a:endParaRPr/>
          </a:p>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0" name="Google Shape;270;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5" name="Google Shape;275;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1" name="Google Shape;281;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3" name="Google Shape;303;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0" name="Google Shape;310;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9" name="Google Shape;319;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x → x → + x → x → + x →</a:t>
            </a:r>
            <a:endParaRPr/>
          </a:p>
          <a:p>
            <a:pPr indent="0" lvl="0" marL="0" rtl="0" algn="l">
              <a:lnSpc>
                <a:spcPct val="100000"/>
              </a:lnSpc>
              <a:spcBef>
                <a:spcPts val="0"/>
              </a:spcBef>
              <a:spcAft>
                <a:spcPts val="0"/>
              </a:spcAft>
              <a:buSzPts val="1100"/>
              <a:buNone/>
            </a:pPr>
            <a:r>
              <a:t/>
            </a:r>
            <a:endParaRPr/>
          </a:p>
        </p:txBody>
      </p:sp>
      <p:sp>
        <p:nvSpPr>
          <p:cNvPr id="329" name="Google Shape;329;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9" name="Google Shape;339;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US"/>
              <a:t>Penjelasan</a:t>
            </a:r>
            <a:endParaRPr/>
          </a:p>
          <a:p>
            <a:pPr indent="-298450" lvl="1" marL="914400" rtl="0" algn="l">
              <a:lnSpc>
                <a:spcPct val="100000"/>
              </a:lnSpc>
              <a:spcBef>
                <a:spcPts val="0"/>
              </a:spcBef>
              <a:spcAft>
                <a:spcPts val="0"/>
              </a:spcAft>
              <a:buSzPts val="1100"/>
              <a:buChar char="○"/>
            </a:pPr>
            <a:r>
              <a:rPr lang="en-US"/>
              <a:t>Isi penuh Kotak 2 (menjadi 1000ml)</a:t>
            </a:r>
            <a:endParaRPr/>
          </a:p>
          <a:p>
            <a:pPr indent="-298450" lvl="1" marL="914400" rtl="0" algn="l">
              <a:lnSpc>
                <a:spcPct val="100000"/>
              </a:lnSpc>
              <a:spcBef>
                <a:spcPts val="0"/>
              </a:spcBef>
              <a:spcAft>
                <a:spcPts val="0"/>
              </a:spcAft>
              <a:buSzPts val="1100"/>
              <a:buChar char="○"/>
            </a:pPr>
            <a:r>
              <a:rPr lang="en-US"/>
              <a:t>Tuang Kotak 2 → Botol (wadah 3) sampai botol penuh → Kotak 2 tersisa 500ml, Botol = 500ml</a:t>
            </a:r>
            <a:endParaRPr/>
          </a:p>
          <a:p>
            <a:pPr indent="-298450" lvl="1" marL="914400" rtl="0" algn="l">
              <a:lnSpc>
                <a:spcPct val="100000"/>
              </a:lnSpc>
              <a:spcBef>
                <a:spcPts val="0"/>
              </a:spcBef>
              <a:spcAft>
                <a:spcPts val="0"/>
              </a:spcAft>
              <a:buSzPts val="1100"/>
              <a:buChar char="○"/>
            </a:pPr>
            <a:r>
              <a:rPr lang="en-US"/>
              <a:t>Tuang Botol → Gelas (wadah 4) sampai penuh (100ml), lalu tuang isi Gelas ke Kotak 2 → Kotak 2 = 600ml</a:t>
            </a:r>
            <a:endParaRPr/>
          </a:p>
          <a:p>
            <a:pPr indent="-298450" lvl="1" marL="914400" rtl="0" algn="l">
              <a:lnSpc>
                <a:spcPct val="100000"/>
              </a:lnSpc>
              <a:spcBef>
                <a:spcPts val="0"/>
              </a:spcBef>
              <a:spcAft>
                <a:spcPts val="0"/>
              </a:spcAft>
              <a:buSzPts val="1100"/>
              <a:buChar char="○"/>
            </a:pPr>
            <a:r>
              <a:rPr lang="en-US"/>
              <a:t>Ulangi sekali lagi: Botol → Gelas (100ml), lalu Gelas → Kotak 2 → Kotak 2 = 700ml</a:t>
            </a:r>
            <a:endParaRPr/>
          </a:p>
          <a:p>
            <a:pPr indent="-298450" lvl="1" marL="914400" rtl="0" algn="l">
              <a:lnSpc>
                <a:spcPct val="100000"/>
              </a:lnSpc>
              <a:spcBef>
                <a:spcPts val="0"/>
              </a:spcBef>
              <a:spcAft>
                <a:spcPts val="0"/>
              </a:spcAft>
              <a:buSzPts val="1100"/>
              <a:buChar char="○"/>
            </a:pPr>
            <a:r>
              <a:rPr lang="en-US"/>
              <a:t>Total 6 kali tuang — lebih sedikit dibanding urutan lain yang butuh 7 tuang atau hasilnya tidak pasti</a:t>
            </a:r>
            <a:endParaRPr/>
          </a:p>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5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2" name="Google Shape;352;p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5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5" name="Google Shape;365;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1" name="Google Shape;371;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5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3" name="Google Shape;383;p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3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3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3" name="Shape 23"/>
        <p:cNvGrpSpPr/>
        <p:nvPr/>
      </p:nvGrpSpPr>
      <p:grpSpPr>
        <a:xfrm>
          <a:off x="0" y="0"/>
          <a:ext cx="0" cy="0"/>
          <a:chOff x="0" y="0"/>
          <a:chExt cx="0" cy="0"/>
        </a:xfrm>
      </p:grpSpPr>
      <p:sp>
        <p:nvSpPr>
          <p:cNvPr id="24" name="Google Shape;24;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3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0" name="Shape 30"/>
        <p:cNvGrpSpPr/>
        <p:nvPr/>
      </p:nvGrpSpPr>
      <p:grpSpPr>
        <a:xfrm>
          <a:off x="0" y="0"/>
          <a:ext cx="0" cy="0"/>
          <a:chOff x="0" y="0"/>
          <a:chExt cx="0" cy="0"/>
        </a:xfrm>
      </p:grpSpPr>
      <p:sp>
        <p:nvSpPr>
          <p:cNvPr id="31" name="Google Shape;31;p35"/>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35"/>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3" name="Google Shape;33;p35"/>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35"/>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5" name="Google Shape;35;p35"/>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4" name="Shape 44"/>
        <p:cNvGrpSpPr/>
        <p:nvPr/>
      </p:nvGrpSpPr>
      <p:grpSpPr>
        <a:xfrm>
          <a:off x="0" y="0"/>
          <a:ext cx="0" cy="0"/>
          <a:chOff x="0" y="0"/>
          <a:chExt cx="0" cy="0"/>
        </a:xfrm>
      </p:grpSpPr>
      <p:sp>
        <p:nvSpPr>
          <p:cNvPr id="45" name="Google Shape;45;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8" name="Shape 48"/>
        <p:cNvGrpSpPr/>
        <p:nvPr/>
      </p:nvGrpSpPr>
      <p:grpSpPr>
        <a:xfrm>
          <a:off x="0" y="0"/>
          <a:ext cx="0" cy="0"/>
          <a:chOff x="0" y="0"/>
          <a:chExt cx="0" cy="0"/>
        </a:xfrm>
      </p:grpSpPr>
      <p:sp>
        <p:nvSpPr>
          <p:cNvPr id="49" name="Google Shape;49;p3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38"/>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1" name="Google Shape;51;p38"/>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2" name="Google Shape;52;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5" name="Shape 55"/>
        <p:cNvGrpSpPr/>
        <p:nvPr/>
      </p:nvGrpSpPr>
      <p:grpSpPr>
        <a:xfrm>
          <a:off x="0" y="0"/>
          <a:ext cx="0" cy="0"/>
          <a:chOff x="0" y="0"/>
          <a:chExt cx="0" cy="0"/>
        </a:xfrm>
      </p:grpSpPr>
      <p:sp>
        <p:nvSpPr>
          <p:cNvPr id="56" name="Google Shape;56;p3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9"/>
          <p:cNvSpPr/>
          <p:nvPr>
            <p:ph idx="2" type="pic"/>
          </p:nvPr>
        </p:nvSpPr>
        <p:spPr>
          <a:xfrm>
            <a:off x="5183188" y="987425"/>
            <a:ext cx="6172200" cy="4873625"/>
          </a:xfrm>
          <a:prstGeom prst="rect">
            <a:avLst/>
          </a:prstGeom>
          <a:noFill/>
          <a:ln>
            <a:noFill/>
          </a:ln>
        </p:spPr>
      </p:sp>
      <p:sp>
        <p:nvSpPr>
          <p:cNvPr id="58" name="Google Shape;58;p39"/>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9" name="Google Shape;59;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2" name="Shape 62"/>
        <p:cNvGrpSpPr/>
        <p:nvPr/>
      </p:nvGrpSpPr>
      <p:grpSpPr>
        <a:xfrm>
          <a:off x="0" y="0"/>
          <a:ext cx="0" cy="0"/>
          <a:chOff x="0" y="0"/>
          <a:chExt cx="0" cy="0"/>
        </a:xfrm>
      </p:grpSpPr>
      <p:sp>
        <p:nvSpPr>
          <p:cNvPr id="63" name="Google Shape;63;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40"/>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8" name="Shape 68"/>
        <p:cNvGrpSpPr/>
        <p:nvPr/>
      </p:nvGrpSpPr>
      <p:grpSpPr>
        <a:xfrm>
          <a:off x="0" y="0"/>
          <a:ext cx="0" cy="0"/>
          <a:chOff x="0" y="0"/>
          <a:chExt cx="0" cy="0"/>
        </a:xfrm>
      </p:grpSpPr>
      <p:sp>
        <p:nvSpPr>
          <p:cNvPr id="69" name="Google Shape;69;p4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4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2" Type="http://schemas.openxmlformats.org/officeDocument/2006/relationships/theme" Target="../theme/theme2.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6.png"/><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1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Arial"/>
              <a:buNone/>
            </a:pPr>
            <a:r>
              <a:rPr b="1" lang="en-US">
                <a:latin typeface="Arial"/>
                <a:ea typeface="Arial"/>
                <a:cs typeface="Arial"/>
                <a:sym typeface="Arial"/>
              </a:rPr>
              <a:t>Dasar Pemrograman</a:t>
            </a:r>
            <a:endParaRPr b="1">
              <a:latin typeface="Arial"/>
              <a:ea typeface="Arial"/>
              <a:cs typeface="Arial"/>
              <a:sym typeface="Arial"/>
            </a:endParaRPr>
          </a:p>
        </p:txBody>
      </p:sp>
      <p:sp>
        <p:nvSpPr>
          <p:cNvPr id="79" name="Google Shape;79;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800"/>
              <a:buNone/>
            </a:pPr>
            <a:r>
              <a:rPr lang="en-US" sz="2800"/>
              <a:t>Tim Ajar Dasar Pemrograman 2026</a:t>
            </a:r>
            <a:endParaRPr sz="2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Arial Black"/>
              <a:buNone/>
            </a:pPr>
            <a:r>
              <a:rPr b="1" lang="en-US">
                <a:latin typeface="Arial Black"/>
                <a:ea typeface="Arial Black"/>
                <a:cs typeface="Arial Black"/>
                <a:sym typeface="Arial Black"/>
              </a:rPr>
              <a:t>Pengantar</a:t>
            </a:r>
            <a:endParaRPr b="1">
              <a:latin typeface="Arial Black"/>
              <a:ea typeface="Arial Black"/>
              <a:cs typeface="Arial Black"/>
              <a:sym typeface="Arial Black"/>
            </a:endParaRPr>
          </a:p>
        </p:txBody>
      </p:sp>
      <p:sp>
        <p:nvSpPr>
          <p:cNvPr id="85" name="Google Shape;85;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3"/>
          <p:cNvSpPr/>
          <p:nvPr/>
        </p:nvSpPr>
        <p:spPr>
          <a:xfrm>
            <a:off x="873457" y="2715904"/>
            <a:ext cx="9894627" cy="2183642"/>
          </a:xfrm>
          <a:prstGeom prst="roundRect">
            <a:avLst>
              <a:gd fmla="val 16667" name="adj"/>
            </a:avLst>
          </a:prstGeom>
          <a:solidFill>
            <a:schemeClr val="lt2"/>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1" name="Google Shape;91;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Rounded"/>
              <a:buNone/>
            </a:pPr>
            <a:r>
              <a:rPr b="1" lang="en-US">
                <a:latin typeface="Arial Rounded"/>
                <a:ea typeface="Arial Rounded"/>
                <a:cs typeface="Arial Rounded"/>
                <a:sym typeface="Arial Rounded"/>
              </a:rPr>
              <a:t>Deskripsi MK</a:t>
            </a:r>
            <a:endParaRPr b="1">
              <a:latin typeface="Arial Rounded"/>
              <a:ea typeface="Arial Rounded"/>
              <a:cs typeface="Arial Rounded"/>
              <a:sym typeface="Arial Rounded"/>
            </a:endParaRPr>
          </a:p>
        </p:txBody>
      </p:sp>
      <p:sp>
        <p:nvSpPr>
          <p:cNvPr id="92" name="Google Shape;92;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en-US">
                <a:latin typeface="Federo"/>
                <a:ea typeface="Federo"/>
                <a:cs typeface="Federo"/>
                <a:sym typeface="Federo"/>
              </a:rPr>
              <a:t>Deskripsi Mata Kuliah Dasar Pemrograman</a:t>
            </a:r>
            <a:endParaRPr b="1">
              <a:latin typeface="Federo"/>
              <a:ea typeface="Federo"/>
              <a:cs typeface="Federo"/>
              <a:sym typeface="Federo"/>
            </a:endParaRPr>
          </a:p>
          <a:p>
            <a:pPr indent="0" lvl="0" marL="0" rtl="0" algn="l">
              <a:lnSpc>
                <a:spcPct val="90000"/>
              </a:lnSpc>
              <a:spcBef>
                <a:spcPts val="1000"/>
              </a:spcBef>
              <a:spcAft>
                <a:spcPts val="0"/>
              </a:spcAft>
              <a:buClr>
                <a:schemeClr val="dk1"/>
              </a:buClr>
              <a:buSzPts val="2800"/>
              <a:buNone/>
            </a:pPr>
            <a:r>
              <a:t/>
            </a:r>
            <a:endParaRPr b="1">
              <a:latin typeface="Federo"/>
              <a:ea typeface="Federo"/>
              <a:cs typeface="Federo"/>
              <a:sym typeface="Federo"/>
            </a:endParaRPr>
          </a:p>
          <a:p>
            <a:pPr indent="0" lvl="1" marL="457200" rtl="0" algn="l">
              <a:lnSpc>
                <a:spcPct val="90000"/>
              </a:lnSpc>
              <a:spcBef>
                <a:spcPts val="500"/>
              </a:spcBef>
              <a:spcAft>
                <a:spcPts val="0"/>
              </a:spcAft>
              <a:buClr>
                <a:schemeClr val="dk1"/>
              </a:buClr>
              <a:buSzPts val="2800"/>
              <a:buNone/>
            </a:pPr>
            <a:r>
              <a:rPr lang="en-US" sz="2800"/>
              <a:t>Dasar Pemrograman memberikan </a:t>
            </a:r>
            <a:r>
              <a:rPr b="1" lang="en-US" sz="2800">
                <a:solidFill>
                  <a:srgbClr val="FF0000"/>
                </a:solidFill>
              </a:rPr>
              <a:t>pengetahuan dan pemahaman</a:t>
            </a:r>
            <a:r>
              <a:rPr b="1" lang="en-US" sz="2800"/>
              <a:t> </a:t>
            </a:r>
            <a:r>
              <a:rPr lang="en-US" sz="2800"/>
              <a:t>konsep dasar algoritma dan dasar pemrograman sehingga dalam mata kuliah ini mahasiswa </a:t>
            </a:r>
            <a:r>
              <a:rPr b="1" lang="en-US" sz="2800">
                <a:solidFill>
                  <a:srgbClr val="FF0000"/>
                </a:solidFill>
              </a:rPr>
              <a:t>memiliki dasar untuk menyelesaikan permasalahan-permasalahan logika </a:t>
            </a:r>
            <a:r>
              <a:rPr lang="en-US" sz="2800"/>
              <a:t>dengan menggunakan flowchart dan pseudocode.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Rounded"/>
              <a:buNone/>
            </a:pPr>
            <a:r>
              <a:rPr b="1" lang="en-US">
                <a:latin typeface="Arial Rounded"/>
                <a:ea typeface="Arial Rounded"/>
                <a:cs typeface="Arial Rounded"/>
                <a:sym typeface="Arial Rounded"/>
              </a:rPr>
              <a:t>Tujuan MK</a:t>
            </a:r>
            <a:endParaRPr b="1">
              <a:latin typeface="Arial Rounded"/>
              <a:ea typeface="Arial Rounded"/>
              <a:cs typeface="Arial Rounded"/>
              <a:sym typeface="Arial Rounded"/>
            </a:endParaRPr>
          </a:p>
        </p:txBody>
      </p:sp>
      <p:sp>
        <p:nvSpPr>
          <p:cNvPr id="98" name="Google Shape;98;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chemeClr val="dk1"/>
              </a:buClr>
              <a:buSzPts val="2800"/>
              <a:buNone/>
            </a:pPr>
            <a:r>
              <a:rPr b="1" lang="en-US">
                <a:latin typeface="Federo"/>
                <a:ea typeface="Federo"/>
                <a:cs typeface="Federo"/>
                <a:sym typeface="Federo"/>
              </a:rPr>
              <a:t>Di akhir kuliah mahasiswa mampu: </a:t>
            </a:r>
            <a:endParaRPr/>
          </a:p>
          <a:p>
            <a:pPr indent="-457200" lvl="0" marL="457200" rtl="0" algn="l">
              <a:lnSpc>
                <a:spcPct val="90000"/>
              </a:lnSpc>
              <a:spcBef>
                <a:spcPts val="0"/>
              </a:spcBef>
              <a:spcAft>
                <a:spcPts val="0"/>
              </a:spcAft>
              <a:buSzPts val="2800"/>
              <a:buChar char="•"/>
            </a:pPr>
            <a:r>
              <a:rPr lang="en-US"/>
              <a:t>Mahasiswa mengenal konsep dasar algoritma serta mampu menganalisis permasalahan sederhana ke dalam bentuk algoritma</a:t>
            </a:r>
            <a:endParaRPr/>
          </a:p>
          <a:p>
            <a:pPr indent="-457200" lvl="0" marL="457200" rtl="0" algn="l">
              <a:lnSpc>
                <a:spcPct val="90000"/>
              </a:lnSpc>
              <a:spcBef>
                <a:spcPts val="0"/>
              </a:spcBef>
              <a:spcAft>
                <a:spcPts val="0"/>
              </a:spcAft>
              <a:buSzPts val="2800"/>
              <a:buChar char="•"/>
            </a:pPr>
            <a:r>
              <a:rPr lang="en-US"/>
              <a:t>Mahasiswa mampu memahami dan menerapkan konsep-konsep dasar pemrograman seperti tipe data, variabel, dan struktur dasar dalam pemrograman.</a:t>
            </a:r>
            <a:endParaRPr/>
          </a:p>
          <a:p>
            <a:pPr indent="-457200" lvl="0" marL="457200" rtl="0" algn="l">
              <a:lnSpc>
                <a:spcPct val="90000"/>
              </a:lnSpc>
              <a:spcBef>
                <a:spcPts val="0"/>
              </a:spcBef>
              <a:spcAft>
                <a:spcPts val="0"/>
              </a:spcAft>
              <a:buSzPts val="2800"/>
              <a:buChar char="•"/>
            </a:pPr>
            <a:r>
              <a:rPr lang="en-US"/>
              <a:t>Mahasiswa mampu memahami manajemen kontrol versi serta struktur pemilihan dan perulangan untuk menyelesaikan permasalahan sederhana.</a:t>
            </a:r>
            <a:endParaRPr/>
          </a:p>
          <a:p>
            <a:pPr indent="-457200" lvl="0" marL="457200" rtl="0" algn="l">
              <a:lnSpc>
                <a:spcPct val="90000"/>
              </a:lnSpc>
              <a:spcBef>
                <a:spcPts val="0"/>
              </a:spcBef>
              <a:spcAft>
                <a:spcPts val="0"/>
              </a:spcAft>
              <a:buSzPts val="2800"/>
              <a:buChar char="•"/>
            </a:pPr>
            <a:r>
              <a:rPr lang="en-US"/>
              <a:t>Mahasiswa mampu memahami pengolahan data dengan array</a:t>
            </a:r>
            <a:endParaRPr/>
          </a:p>
          <a:p>
            <a:pPr indent="-457200" lvl="0" marL="457200" rtl="0" algn="l">
              <a:lnSpc>
                <a:spcPct val="90000"/>
              </a:lnSpc>
              <a:spcBef>
                <a:spcPts val="0"/>
              </a:spcBef>
              <a:spcAft>
                <a:spcPts val="0"/>
              </a:spcAft>
              <a:buSzPts val="2800"/>
              <a:buChar char="•"/>
            </a:pPr>
            <a:r>
              <a:rPr lang="en-US"/>
              <a:t>Mahasiswa mampu memahami penggunaan fungsi untuk modularitas dalam pemrograman</a:t>
            </a:r>
            <a:endParaRPr/>
          </a:p>
          <a:p>
            <a:pPr indent="0" lvl="0" marL="0" rtl="0" algn="l">
              <a:lnSpc>
                <a:spcPct val="90000"/>
              </a:lnSpc>
              <a:spcBef>
                <a:spcPts val="0"/>
              </a:spcBef>
              <a:spcAft>
                <a:spcPts val="0"/>
              </a:spcAft>
              <a:buClr>
                <a:schemeClr val="dk1"/>
              </a:buClr>
              <a:buSzPts val="2800"/>
              <a:buNone/>
            </a:pPr>
            <a:r>
              <a:t/>
            </a:r>
            <a:endParaRPr/>
          </a:p>
          <a:p>
            <a:pPr indent="0" lvl="0" marL="0" rtl="0" algn="l">
              <a:lnSpc>
                <a:spcPct val="90000"/>
              </a:lnSpc>
              <a:spcBef>
                <a:spcPts val="0"/>
              </a:spcBef>
              <a:spcAft>
                <a:spcPts val="0"/>
              </a:spcAft>
              <a:buClr>
                <a:schemeClr val="dk1"/>
              </a:buClr>
              <a:buSzPts val="28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Rounded"/>
              <a:buNone/>
            </a:pPr>
            <a:r>
              <a:rPr b="1" lang="en-US">
                <a:latin typeface="Arial Rounded"/>
                <a:ea typeface="Arial Rounded"/>
                <a:cs typeface="Arial Rounded"/>
                <a:sym typeface="Arial Rounded"/>
              </a:rPr>
              <a:t>Pokok Bahasan</a:t>
            </a:r>
            <a:endParaRPr b="1">
              <a:latin typeface="Arial Rounded"/>
              <a:ea typeface="Arial Rounded"/>
              <a:cs typeface="Arial Rounded"/>
              <a:sym typeface="Arial Rounded"/>
            </a:endParaRPr>
          </a:p>
        </p:txBody>
      </p:sp>
      <p:sp>
        <p:nvSpPr>
          <p:cNvPr id="104" name="Google Shape;104;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14350" lvl="0" marL="514350" rtl="0" algn="l">
              <a:lnSpc>
                <a:spcPct val="90000"/>
              </a:lnSpc>
              <a:spcBef>
                <a:spcPts val="0"/>
              </a:spcBef>
              <a:spcAft>
                <a:spcPts val="0"/>
              </a:spcAft>
              <a:buClr>
                <a:schemeClr val="dk1"/>
              </a:buClr>
              <a:buSzPts val="2800"/>
              <a:buFont typeface="Calibri"/>
              <a:buAutoNum type="arabicPeriod"/>
            </a:pPr>
            <a:r>
              <a:rPr lang="en-US"/>
              <a:t>Dasar Pemrograman (Konsep Algoritma)</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Tipe Data, Variabel, Konstanta, Input-Output</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Operator, Input-Output</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Git</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Pemilihan</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Perulangan</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Array</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Fungsi/Prosedur</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6"/>
          <p:cNvSpPr txBox="1"/>
          <p:nvPr>
            <p:ph type="title"/>
          </p:nvPr>
        </p:nvSpPr>
        <p:spPr>
          <a:xfrm>
            <a:off x="851847" y="528900"/>
            <a:ext cx="10515600" cy="80249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Rounded"/>
              <a:buNone/>
            </a:pPr>
            <a:r>
              <a:rPr b="1" lang="en-US">
                <a:latin typeface="Arial Rounded"/>
                <a:ea typeface="Arial Rounded"/>
                <a:cs typeface="Arial Rounded"/>
                <a:sym typeface="Arial Rounded"/>
              </a:rPr>
              <a:t>Pengantar – Kontrak Kuliah…(1)</a:t>
            </a:r>
            <a:endParaRPr b="1">
              <a:latin typeface="Arial Rounded"/>
              <a:ea typeface="Arial Rounded"/>
              <a:cs typeface="Arial Rounded"/>
              <a:sym typeface="Arial Rounded"/>
            </a:endParaRPr>
          </a:p>
        </p:txBody>
      </p:sp>
      <p:graphicFrame>
        <p:nvGraphicFramePr>
          <p:cNvPr id="110" name="Google Shape;110;p6"/>
          <p:cNvGraphicFramePr/>
          <p:nvPr/>
        </p:nvGraphicFramePr>
        <p:xfrm>
          <a:off x="838200" y="1374578"/>
          <a:ext cx="3000000" cy="3000000"/>
        </p:xfrm>
        <a:graphic>
          <a:graphicData uri="http://schemas.openxmlformats.org/drawingml/2006/table">
            <a:tbl>
              <a:tblPr bandRow="1" firstRow="1">
                <a:noFill/>
                <a:tableStyleId>{C8AE8AB1-2594-43BC-BC1B-8C5409C14ECE}</a:tableStyleId>
              </a:tblPr>
              <a:tblGrid>
                <a:gridCol w="5257800"/>
                <a:gridCol w="5257800"/>
              </a:tblGrid>
              <a:tr h="3708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Pertemuan</a:t>
                      </a:r>
                      <a:endParaRPr sz="1800" u="none" cap="none" strike="noStrike"/>
                    </a:p>
                  </a:txBody>
                  <a:tcPr marT="45725" marB="45725" marR="121925" marL="121925"/>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Materi</a:t>
                      </a:r>
                      <a:endParaRPr sz="1800" u="none" cap="none" strike="noStrike"/>
                    </a:p>
                  </a:txBody>
                  <a:tcPr marT="45725" marB="45725" marR="121925" marL="121925"/>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Minggu – 1 </a:t>
                      </a:r>
                      <a:endParaRPr sz="1800" u="none" cap="none" strike="noStrike"/>
                    </a:p>
                  </a:txBody>
                  <a:tcPr marT="45725" marB="45725" marR="121925" marL="121925"/>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Dasar Pemrograman (Konsep Algoritma)</a:t>
                      </a:r>
                      <a:endParaRPr sz="1800" u="none" cap="none" strike="noStrike"/>
                    </a:p>
                  </a:txBody>
                  <a:tcPr marT="45725" marB="45725" marR="121925" marL="121925"/>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Minggu – 2</a:t>
                      </a:r>
                      <a:endParaRPr sz="1800" u="none" cap="none" strike="noStrike"/>
                    </a:p>
                  </a:txBody>
                  <a:tcPr marT="45725" marB="45725" marR="121925" marL="121925"/>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Tipe Data, Variabel, Input-Output, Operator (Aritmatika)</a:t>
                      </a:r>
                      <a:endParaRPr/>
                    </a:p>
                  </a:txBody>
                  <a:tcPr marT="45725" marB="45725" marR="121925" marL="121925"/>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Minggu – 3</a:t>
                      </a:r>
                      <a:endParaRPr sz="1800" u="none" cap="none" strike="noStrike"/>
                    </a:p>
                  </a:txBody>
                  <a:tcPr marT="45725" marB="45725" marR="121925" marL="121925"/>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Operator (Lanjutan), Sequence, Flowchart &amp; Pseudocode</a:t>
                      </a:r>
                      <a:endParaRPr sz="1800" u="none" cap="none" strike="noStrike"/>
                    </a:p>
                  </a:txBody>
                  <a:tcPr marT="45725" marB="45725" marR="121925" marL="121925"/>
                </a:tc>
              </a:tr>
              <a:tr h="37085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rgbClr val="FF0000"/>
                          </a:solidFill>
                        </a:rPr>
                        <a:t>Minggu - 4</a:t>
                      </a:r>
                      <a:endParaRPr b="1" sz="1800" u="none" cap="none" strike="noStrike">
                        <a:solidFill>
                          <a:srgbClr val="FF0000"/>
                        </a:solidFill>
                      </a:endParaRPr>
                    </a:p>
                  </a:txBody>
                  <a:tcPr marT="45725" marB="45725" marR="121925" marL="121925"/>
                </a:tc>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rgbClr val="FF0000"/>
                          </a:solidFill>
                        </a:rPr>
                        <a:t>Kuis 1 (Materi Minggu 1–3)</a:t>
                      </a:r>
                      <a:endParaRPr b="1" sz="1800" u="none" cap="none" strike="noStrike">
                        <a:solidFill>
                          <a:srgbClr val="FF0000"/>
                        </a:solidFill>
                      </a:endParaRPr>
                    </a:p>
                  </a:txBody>
                  <a:tcPr marT="45725" marB="45725" marR="121925" marL="121925"/>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Minggu – 5</a:t>
                      </a:r>
                      <a:endParaRPr sz="1800" u="none" cap="none" strike="noStrike"/>
                    </a:p>
                  </a:txBody>
                  <a:tcPr marT="45725" marB="45725" marR="121925" marL="121925"/>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Pemilihan 1 (if, if-else, if-else if, switch-case)</a:t>
                      </a:r>
                      <a:endParaRPr sz="1800" u="none" cap="none" strike="noStrike"/>
                    </a:p>
                  </a:txBody>
                  <a:tcPr marT="45725" marB="45725" marR="121925" marL="121925"/>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Minggu – 6 </a:t>
                      </a:r>
                      <a:endParaRPr sz="1800" u="none" cap="none" strike="noStrike"/>
                    </a:p>
                  </a:txBody>
                  <a:tcPr marT="45725" marB="45725" marR="121925" marL="121925"/>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Pemilihan Bersarang; Ekspresi Logika</a:t>
                      </a:r>
                      <a:endParaRPr sz="1800" u="none" cap="none" strike="noStrike"/>
                    </a:p>
                  </a:txBody>
                  <a:tcPr marT="45725" marB="45725" marR="121925" marL="121925"/>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Minggu – 7</a:t>
                      </a:r>
                      <a:endParaRPr sz="1800" u="none" cap="none" strike="noStrike"/>
                    </a:p>
                  </a:txBody>
                  <a:tcPr marT="45725" marB="45725" marR="121925" marL="121925"/>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Latihan Studi Kasus (Pemilihan)</a:t>
                      </a:r>
                      <a:endParaRPr sz="1800" u="none" cap="none" strike="noStrike"/>
                    </a:p>
                  </a:txBody>
                  <a:tcPr marT="45725" marB="45725" marR="121925" marL="121925"/>
                </a:tc>
              </a:tr>
              <a:tr h="37085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rgbClr val="FF0000"/>
                          </a:solidFill>
                        </a:rPr>
                        <a:t>Minggu – 8 </a:t>
                      </a:r>
                      <a:endParaRPr b="1" sz="1800" u="none" cap="none" strike="noStrike">
                        <a:solidFill>
                          <a:srgbClr val="FF0000"/>
                        </a:solidFill>
                      </a:endParaRPr>
                    </a:p>
                  </a:txBody>
                  <a:tcPr marT="45725" marB="45725" marR="121925" marL="121925"/>
                </a:tc>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rgbClr val="FF0000"/>
                          </a:solidFill>
                        </a:rPr>
                        <a:t>UTS (Materi Minggu 5–7)</a:t>
                      </a:r>
                      <a:endParaRPr b="1" sz="1800" u="none" cap="none" strike="noStrike">
                        <a:solidFill>
                          <a:srgbClr val="FF0000"/>
                        </a:solidFill>
                      </a:endParaRPr>
                    </a:p>
                  </a:txBody>
                  <a:tcPr marT="45725" marB="45725" marR="121925" marL="121925"/>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Minggu – 9</a:t>
                      </a:r>
                      <a:endParaRPr sz="1800" u="none" cap="none" strike="noStrike"/>
                    </a:p>
                  </a:txBody>
                  <a:tcPr marT="45725" marB="45725" marR="121925" marL="121925"/>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Perulangan Sederhana</a:t>
                      </a:r>
                      <a:endParaRPr sz="1800" u="none" cap="none" strike="noStrike"/>
                    </a:p>
                  </a:txBody>
                  <a:tcPr marT="45725" marB="45725" marR="121925" marL="121925"/>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Minggu – 10 </a:t>
                      </a:r>
                      <a:endParaRPr sz="1800" u="none" cap="none" strike="noStrike"/>
                    </a:p>
                  </a:txBody>
                  <a:tcPr marT="45725" marB="45725" marR="121925" marL="121925"/>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Perulangan Bersarang</a:t>
                      </a:r>
                      <a:endParaRPr/>
                    </a:p>
                  </a:txBody>
                  <a:tcPr marT="45725" marB="45725" marR="121925" marL="121925"/>
                </a:tc>
              </a:tr>
              <a:tr h="37085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rgbClr val="FF0000"/>
                          </a:solidFill>
                        </a:rPr>
                        <a:t>Minggu – 11 </a:t>
                      </a:r>
                      <a:endParaRPr b="1" sz="1800" u="none" cap="none" strike="noStrike">
                        <a:solidFill>
                          <a:srgbClr val="FF0000"/>
                        </a:solidFill>
                      </a:endParaRPr>
                    </a:p>
                  </a:txBody>
                  <a:tcPr marT="45725" marB="45725" marR="121925" marL="121925"/>
                </a:tc>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rgbClr val="FF0000"/>
                          </a:solidFill>
                        </a:rPr>
                        <a:t>Kuis 2 (Materi Minggu 9–10)</a:t>
                      </a:r>
                      <a:endParaRPr b="1" sz="1800" u="none" cap="none" strike="noStrike">
                        <a:solidFill>
                          <a:srgbClr val="FF0000"/>
                        </a:solidFill>
                      </a:endParaRPr>
                    </a:p>
                  </a:txBody>
                  <a:tcPr marT="45725" marB="45725" marR="121925" marL="121925"/>
                </a:tc>
              </a:tr>
              <a:tr h="370850">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rPr>
                        <a:t>Minggu – 12 </a:t>
                      </a:r>
                      <a:endParaRPr b="0" sz="1800" u="none" cap="none" strike="noStrike">
                        <a:solidFill>
                          <a:schemeClr val="dk1"/>
                        </a:solidFill>
                      </a:endParaRPr>
                    </a:p>
                  </a:txBody>
                  <a:tcPr marT="45725" marB="45725" marR="121925" marL="121925"/>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chemeClr val="dk1"/>
                          </a:solidFill>
                        </a:rPr>
                        <a:t>Array 1 Dimensi</a:t>
                      </a:r>
                      <a:endParaRPr b="0" sz="1800" u="none" cap="none" strike="noStrike">
                        <a:solidFill>
                          <a:schemeClr val="dk1"/>
                        </a:solidFill>
                      </a:endParaRPr>
                    </a:p>
                  </a:txBody>
                  <a:tcPr marT="45725" marB="45725" marR="121925" marL="121925"/>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7"/>
          <p:cNvSpPr txBox="1"/>
          <p:nvPr>
            <p:ph type="title"/>
          </p:nvPr>
        </p:nvSpPr>
        <p:spPr>
          <a:xfrm>
            <a:off x="879143" y="556195"/>
            <a:ext cx="10515600" cy="83062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Rounded"/>
              <a:buNone/>
            </a:pPr>
            <a:r>
              <a:rPr b="1" lang="en-US">
                <a:latin typeface="Arial Rounded"/>
                <a:ea typeface="Arial Rounded"/>
                <a:cs typeface="Arial Rounded"/>
                <a:sym typeface="Arial Rounded"/>
              </a:rPr>
              <a:t>Pengantar – Kontrak Kuliah…(2)</a:t>
            </a:r>
            <a:endParaRPr/>
          </a:p>
        </p:txBody>
      </p:sp>
      <p:sp>
        <p:nvSpPr>
          <p:cNvPr id="116" name="Google Shape;116;p7"/>
          <p:cNvSpPr txBox="1"/>
          <p:nvPr>
            <p:ph idx="1" type="body"/>
          </p:nvPr>
        </p:nvSpPr>
        <p:spPr>
          <a:xfrm>
            <a:off x="974677" y="4694829"/>
            <a:ext cx="9684224" cy="1798045"/>
          </a:xfrm>
          <a:prstGeom prst="rect">
            <a:avLst/>
          </a:prstGeom>
          <a:solidFill>
            <a:srgbClr val="DBDBDB"/>
          </a:solid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b="1" lang="en-US" sz="2000">
                <a:latin typeface="Arial"/>
                <a:ea typeface="Arial"/>
                <a:cs typeface="Arial"/>
                <a:sym typeface="Arial"/>
              </a:rPr>
              <a:t>Bobot Kuis : 35%</a:t>
            </a:r>
            <a:endParaRPr/>
          </a:p>
          <a:p>
            <a:pPr indent="-228600" lvl="0" marL="228600" rtl="0" algn="l">
              <a:lnSpc>
                <a:spcPct val="90000"/>
              </a:lnSpc>
              <a:spcBef>
                <a:spcPts val="1000"/>
              </a:spcBef>
              <a:spcAft>
                <a:spcPts val="0"/>
              </a:spcAft>
              <a:buClr>
                <a:schemeClr val="dk1"/>
              </a:buClr>
              <a:buSzPts val="2000"/>
              <a:buChar char="•"/>
            </a:pPr>
            <a:r>
              <a:rPr b="1" lang="en-US" sz="2000">
                <a:latin typeface="Arial"/>
                <a:ea typeface="Arial"/>
                <a:cs typeface="Arial"/>
                <a:sym typeface="Arial"/>
              </a:rPr>
              <a:t>Bobot Tugas : 20%</a:t>
            </a:r>
            <a:endParaRPr/>
          </a:p>
          <a:p>
            <a:pPr indent="-228600" lvl="0" marL="228600" rtl="0" algn="l">
              <a:lnSpc>
                <a:spcPct val="90000"/>
              </a:lnSpc>
              <a:spcBef>
                <a:spcPts val="1000"/>
              </a:spcBef>
              <a:spcAft>
                <a:spcPts val="0"/>
              </a:spcAft>
              <a:buClr>
                <a:schemeClr val="dk1"/>
              </a:buClr>
              <a:buSzPts val="2000"/>
              <a:buChar char="•"/>
            </a:pPr>
            <a:r>
              <a:rPr b="1" lang="en-US" sz="2000">
                <a:latin typeface="Arial"/>
                <a:ea typeface="Arial"/>
                <a:cs typeface="Arial"/>
                <a:sym typeface="Arial"/>
              </a:rPr>
              <a:t>Bobot UTS : 15%</a:t>
            </a:r>
            <a:endParaRPr/>
          </a:p>
          <a:p>
            <a:pPr indent="-228600" lvl="0" marL="228600" rtl="0" algn="l">
              <a:lnSpc>
                <a:spcPct val="90000"/>
              </a:lnSpc>
              <a:spcBef>
                <a:spcPts val="1000"/>
              </a:spcBef>
              <a:spcAft>
                <a:spcPts val="0"/>
              </a:spcAft>
              <a:buClr>
                <a:schemeClr val="dk1"/>
              </a:buClr>
              <a:buSzPts val="2000"/>
              <a:buChar char="•"/>
            </a:pPr>
            <a:r>
              <a:rPr b="1" lang="en-US" sz="2000">
                <a:latin typeface="Arial"/>
                <a:ea typeface="Arial"/>
                <a:cs typeface="Arial"/>
                <a:sym typeface="Arial"/>
              </a:rPr>
              <a:t>Bobot UAS : 30%</a:t>
            </a:r>
            <a:endParaRPr b="1" sz="2000">
              <a:latin typeface="Arial"/>
              <a:ea typeface="Arial"/>
              <a:cs typeface="Arial"/>
              <a:sym typeface="Arial"/>
            </a:endParaRPr>
          </a:p>
        </p:txBody>
      </p:sp>
      <p:graphicFrame>
        <p:nvGraphicFramePr>
          <p:cNvPr id="117" name="Google Shape;117;p7"/>
          <p:cNvGraphicFramePr/>
          <p:nvPr/>
        </p:nvGraphicFramePr>
        <p:xfrm>
          <a:off x="906439" y="1645571"/>
          <a:ext cx="3000000" cy="3000000"/>
        </p:xfrm>
        <a:graphic>
          <a:graphicData uri="http://schemas.openxmlformats.org/drawingml/2006/table">
            <a:tbl>
              <a:tblPr bandRow="1" firstRow="1">
                <a:noFill/>
                <a:tableStyleId>{FC948880-5758-411F-B326-821F47AD938B}</a:tableStyleId>
              </a:tblPr>
              <a:tblGrid>
                <a:gridCol w="5257800"/>
                <a:gridCol w="5257800"/>
              </a:tblGrid>
              <a:tr h="3708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Pertemuan</a:t>
                      </a:r>
                      <a:endParaRPr sz="1800" u="none" cap="none" strike="noStrike"/>
                    </a:p>
                  </a:txBody>
                  <a:tcPr marT="45725" marB="45725" marR="121925" marL="121925"/>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Materi</a:t>
                      </a:r>
                      <a:endParaRPr sz="1800" u="none" cap="none" strike="noStrike"/>
                    </a:p>
                  </a:txBody>
                  <a:tcPr marT="45725" marB="45725" marR="121925" marL="121925"/>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Minggu – 13 </a:t>
                      </a:r>
                      <a:endParaRPr sz="1800" u="none" cap="none" strike="noStrike"/>
                    </a:p>
                  </a:txBody>
                  <a:tcPr marT="45725" marB="45725" marR="121925" marL="121925"/>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Array 2 Dimensi</a:t>
                      </a:r>
                      <a:endParaRPr sz="1800" u="none" cap="none" strike="noStrike"/>
                    </a:p>
                  </a:txBody>
                  <a:tcPr marT="45725" marB="45725" marR="121925" marL="121925"/>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Minggu – 14</a:t>
                      </a:r>
                      <a:endParaRPr sz="1800" u="none" cap="none" strike="noStrike"/>
                    </a:p>
                  </a:txBody>
                  <a:tcPr marT="45725" marB="45725" marR="121925" marL="121925"/>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Fungsi</a:t>
                      </a:r>
                      <a:endParaRPr sz="1800" u="none" cap="none" strike="noStrike"/>
                    </a:p>
                  </a:txBody>
                  <a:tcPr marT="45725" marB="45725" marR="121925" marL="121925"/>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Minggu – 15</a:t>
                      </a:r>
                      <a:endParaRPr sz="1800" u="none" cap="none" strike="noStrike"/>
                    </a:p>
                  </a:txBody>
                  <a:tcPr marT="45725" marB="45725" marR="121925" marL="121925"/>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Latihan Studi Kasus (Array &amp; Fungsi)</a:t>
                      </a:r>
                      <a:endParaRPr sz="1800" u="none" cap="none" strike="noStrike"/>
                    </a:p>
                  </a:txBody>
                  <a:tcPr marT="45725" marB="45725" marR="121925" marL="121925"/>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Minggu – 16</a:t>
                      </a:r>
                      <a:endParaRPr sz="1800" u="none" cap="none" strike="noStrike"/>
                    </a:p>
                  </a:txBody>
                  <a:tcPr marT="45725" marB="45725" marR="121925" marL="121925"/>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Fungsi Rekursif</a:t>
                      </a:r>
                      <a:endParaRPr sz="1800" u="none" cap="none" strike="noStrike"/>
                    </a:p>
                  </a:txBody>
                  <a:tcPr marT="45725" marB="45725" marR="121925" marL="121925"/>
                </a:tc>
              </a:tr>
              <a:tr h="37085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rgbClr val="FF0000"/>
                          </a:solidFill>
                        </a:rPr>
                        <a:t>Minggu – 17 </a:t>
                      </a:r>
                      <a:endParaRPr b="1" sz="1800" u="none" cap="none" strike="noStrike">
                        <a:solidFill>
                          <a:srgbClr val="FF0000"/>
                        </a:solidFill>
                      </a:endParaRPr>
                    </a:p>
                  </a:txBody>
                  <a:tcPr marT="45725" marB="45725" marR="121925" marL="121925"/>
                </a:tc>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rgbClr val="FF0000"/>
                          </a:solidFill>
                        </a:rPr>
                        <a:t>UAS (Materi Pertemuan 12–16)</a:t>
                      </a:r>
                      <a:endParaRPr b="1" sz="1800" u="none" cap="none" strike="noStrike">
                        <a:solidFill>
                          <a:srgbClr val="FF0000"/>
                        </a:solidFill>
                      </a:endParaRPr>
                    </a:p>
                  </a:txBody>
                  <a:tcPr marT="45725" marB="45725" marR="121925" marL="12192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Arial Black"/>
              <a:buNone/>
            </a:pPr>
            <a:r>
              <a:rPr b="1" lang="en-US">
                <a:latin typeface="Arial Black"/>
                <a:ea typeface="Arial Black"/>
                <a:cs typeface="Arial Black"/>
                <a:sym typeface="Arial Black"/>
              </a:rPr>
              <a:t>Pertemuan 1</a:t>
            </a:r>
            <a:endParaRPr b="1">
              <a:latin typeface="Arial Black"/>
              <a:ea typeface="Arial Black"/>
              <a:cs typeface="Arial Black"/>
              <a:sym typeface="Arial Black"/>
            </a:endParaRPr>
          </a:p>
        </p:txBody>
      </p:sp>
      <p:sp>
        <p:nvSpPr>
          <p:cNvPr id="123" name="Google Shape;123;p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002060"/>
              </a:buClr>
              <a:buSzPts val="5400"/>
              <a:buNone/>
            </a:pPr>
            <a:r>
              <a:rPr b="1" lang="en-US" sz="5400">
                <a:solidFill>
                  <a:srgbClr val="002060"/>
                </a:solidFill>
                <a:latin typeface="Arial"/>
                <a:ea typeface="Arial"/>
                <a:cs typeface="Arial"/>
                <a:sym typeface="Arial"/>
              </a:rPr>
              <a:t>DASAR PEMROGRAMAN</a:t>
            </a:r>
            <a:endParaRPr b="1" sz="5400">
              <a:solidFill>
                <a:srgbClr val="00206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Rounded"/>
              <a:buNone/>
            </a:pPr>
            <a:r>
              <a:rPr b="1" lang="en-US">
                <a:latin typeface="Arial Rounded"/>
                <a:ea typeface="Arial Rounded"/>
                <a:cs typeface="Arial Rounded"/>
                <a:sym typeface="Arial Rounded"/>
              </a:rPr>
              <a:t>Tujuan </a:t>
            </a:r>
            <a:endParaRPr b="1">
              <a:latin typeface="Arial Rounded"/>
              <a:ea typeface="Arial Rounded"/>
              <a:cs typeface="Arial Rounded"/>
              <a:sym typeface="Arial Rounded"/>
            </a:endParaRPr>
          </a:p>
        </p:txBody>
      </p:sp>
      <p:sp>
        <p:nvSpPr>
          <p:cNvPr id="129" name="Google Shape;129;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en-US">
                <a:latin typeface="Federo"/>
                <a:ea typeface="Federo"/>
                <a:cs typeface="Federo"/>
                <a:sym typeface="Federo"/>
              </a:rPr>
              <a:t>Setelah menempuh materi ini, mahasiswa hendaknya mampu: </a:t>
            </a:r>
            <a:endParaRPr b="1">
              <a:latin typeface="Federo"/>
              <a:ea typeface="Federo"/>
              <a:cs typeface="Federo"/>
              <a:sym typeface="Federo"/>
            </a:endParaRPr>
          </a:p>
          <a:p>
            <a:pPr indent="0" lvl="0" marL="0" rtl="0" algn="l">
              <a:lnSpc>
                <a:spcPct val="90000"/>
              </a:lnSpc>
              <a:spcBef>
                <a:spcPts val="1000"/>
              </a:spcBef>
              <a:spcAft>
                <a:spcPts val="0"/>
              </a:spcAft>
              <a:buSzPts val="2800"/>
              <a:buNone/>
            </a:pPr>
            <a:r>
              <a:rPr lang="en-US"/>
              <a:t>Mahasiswa mengenal konsep dasar algoritma serta mampu menganalisis permasalahan sederhana ke dalam bentuk algoritma</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Rounded"/>
              <a:buNone/>
            </a:pPr>
            <a:r>
              <a:rPr b="1" lang="en-US">
                <a:latin typeface="Arial Rounded"/>
                <a:ea typeface="Arial Rounded"/>
                <a:cs typeface="Arial Rounded"/>
                <a:sym typeface="Arial Rounded"/>
              </a:rPr>
              <a:t>Introduction - What Is a Computer?</a:t>
            </a:r>
            <a:endParaRPr b="1">
              <a:latin typeface="Arial Rounded"/>
              <a:ea typeface="Arial Rounded"/>
              <a:cs typeface="Arial Rounded"/>
              <a:sym typeface="Arial Rounded"/>
            </a:endParaRPr>
          </a:p>
        </p:txBody>
      </p:sp>
      <p:grpSp>
        <p:nvGrpSpPr>
          <p:cNvPr id="135" name="Google Shape;135;p10"/>
          <p:cNvGrpSpPr/>
          <p:nvPr/>
        </p:nvGrpSpPr>
        <p:grpSpPr>
          <a:xfrm>
            <a:off x="1031632" y="1824018"/>
            <a:ext cx="9688919" cy="4682089"/>
            <a:chOff x="69850" y="1395413"/>
            <a:chExt cx="7359650" cy="5048250"/>
          </a:xfrm>
        </p:grpSpPr>
        <p:sp>
          <p:nvSpPr>
            <p:cNvPr id="136" name="Google Shape;136;p10"/>
            <p:cNvSpPr txBox="1"/>
            <p:nvPr/>
          </p:nvSpPr>
          <p:spPr>
            <a:xfrm>
              <a:off x="5643563" y="5572125"/>
              <a:ext cx="1524000" cy="457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1" i="0" lang="en-US" sz="1000" u="none" cap="none" strike="noStrike">
                  <a:solidFill>
                    <a:schemeClr val="dk1"/>
                  </a:solidFill>
                  <a:latin typeface="Calibri"/>
                  <a:ea typeface="Calibri"/>
                  <a:cs typeface="Calibri"/>
                  <a:sym typeface="Calibri"/>
                </a:rPr>
                <a:t>‹#›</a:t>
              </a:fld>
              <a:endParaRPr b="1" i="0" sz="1000" u="none" cap="none" strike="noStrike">
                <a:solidFill>
                  <a:schemeClr val="dk1"/>
                </a:solidFill>
                <a:latin typeface="Calibri"/>
                <a:ea typeface="Calibri"/>
                <a:cs typeface="Calibri"/>
                <a:sym typeface="Calibri"/>
              </a:endParaRPr>
            </a:p>
          </p:txBody>
        </p:sp>
        <p:sp>
          <p:nvSpPr>
            <p:cNvPr id="137" name="Google Shape;137;p10"/>
            <p:cNvSpPr/>
            <p:nvPr/>
          </p:nvSpPr>
          <p:spPr>
            <a:xfrm>
              <a:off x="2357406" y="3352832"/>
              <a:ext cx="3000412" cy="1790680"/>
            </a:xfrm>
            <a:prstGeom prst="rect">
              <a:avLst/>
            </a:prstGeom>
            <a:solidFill>
              <a:srgbClr val="2F5496"/>
            </a:solid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8" name="Google Shape;138;p10"/>
            <p:cNvSpPr/>
            <p:nvPr/>
          </p:nvSpPr>
          <p:spPr>
            <a:xfrm>
              <a:off x="5548313" y="4000500"/>
              <a:ext cx="1881187" cy="285750"/>
            </a:xfrm>
            <a:prstGeom prst="rightArrow">
              <a:avLst>
                <a:gd fmla="val 50000" name="adj1"/>
                <a:gd fmla="val 50000" name="adj2"/>
              </a:avLst>
            </a:prstGeom>
            <a:solidFill>
              <a:schemeClr val="accen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9" name="Google Shape;139;p10"/>
            <p:cNvSpPr txBox="1"/>
            <p:nvPr/>
          </p:nvSpPr>
          <p:spPr>
            <a:xfrm>
              <a:off x="2281238" y="3481388"/>
              <a:ext cx="3124200" cy="49776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Calibri"/>
                  <a:ea typeface="Calibri"/>
                  <a:cs typeface="Calibri"/>
                  <a:sym typeface="Calibri"/>
                </a:rPr>
                <a:t>Pengolah Data (Processor)</a:t>
              </a:r>
              <a:endParaRPr b="0" i="0" sz="1400" u="none" cap="none" strike="noStrike">
                <a:solidFill>
                  <a:srgbClr val="000000"/>
                </a:solidFill>
                <a:latin typeface="Arial"/>
                <a:ea typeface="Arial"/>
                <a:cs typeface="Arial"/>
                <a:sym typeface="Arial"/>
              </a:endParaRPr>
            </a:p>
          </p:txBody>
        </p:sp>
        <p:sp>
          <p:nvSpPr>
            <p:cNvPr id="140" name="Google Shape;140;p10"/>
            <p:cNvSpPr/>
            <p:nvPr/>
          </p:nvSpPr>
          <p:spPr>
            <a:xfrm>
              <a:off x="2071688" y="4364038"/>
              <a:ext cx="3429000" cy="76324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Calibri"/>
                  <a:ea typeface="Calibri"/>
                  <a:cs typeface="Calibri"/>
                  <a:sym typeface="Calibri"/>
                </a:rPr>
                <a:t>(berbasis Aritmatika </a:t>
              </a:r>
              <a:br>
                <a:rPr b="1" i="0" lang="en-US" sz="2000" u="none" cap="none" strike="noStrike">
                  <a:solidFill>
                    <a:schemeClr val="lt1"/>
                  </a:solidFill>
                  <a:latin typeface="Calibri"/>
                  <a:ea typeface="Calibri"/>
                  <a:cs typeface="Calibri"/>
                  <a:sym typeface="Calibri"/>
                </a:rPr>
              </a:br>
              <a:r>
                <a:rPr b="1" i="0" lang="en-US" sz="2000" u="none" cap="none" strike="noStrike">
                  <a:solidFill>
                    <a:schemeClr val="lt1"/>
                  </a:solidFill>
                  <a:latin typeface="Calibri"/>
                  <a:ea typeface="Calibri"/>
                  <a:cs typeface="Calibri"/>
                  <a:sym typeface="Calibri"/>
                </a:rPr>
                <a:t>dan Logika)</a:t>
              </a:r>
              <a:endParaRPr b="1" i="0" sz="2000" u="none" cap="none" strike="noStrike">
                <a:solidFill>
                  <a:schemeClr val="lt1"/>
                </a:solidFill>
                <a:latin typeface="Calibri"/>
                <a:ea typeface="Calibri"/>
                <a:cs typeface="Calibri"/>
                <a:sym typeface="Calibri"/>
              </a:endParaRPr>
            </a:p>
          </p:txBody>
        </p:sp>
        <p:cxnSp>
          <p:nvCxnSpPr>
            <p:cNvPr id="141" name="Google Shape;141;p10"/>
            <p:cNvCxnSpPr/>
            <p:nvPr/>
          </p:nvCxnSpPr>
          <p:spPr>
            <a:xfrm rot="5400000">
              <a:off x="2848769" y="5366544"/>
              <a:ext cx="304800" cy="1588"/>
            </a:xfrm>
            <a:prstGeom prst="straightConnector1">
              <a:avLst/>
            </a:prstGeom>
            <a:noFill/>
            <a:ln cap="flat" cmpd="sng" w="47625">
              <a:solidFill>
                <a:schemeClr val="dk1"/>
              </a:solidFill>
              <a:prstDash val="solid"/>
              <a:miter lim="8000"/>
              <a:headEnd len="sm" w="sm" type="none"/>
              <a:tailEnd len="med" w="med" type="stealth"/>
            </a:ln>
          </p:spPr>
        </p:cxnSp>
        <p:cxnSp>
          <p:nvCxnSpPr>
            <p:cNvPr id="142" name="Google Shape;142;p10"/>
            <p:cNvCxnSpPr/>
            <p:nvPr/>
          </p:nvCxnSpPr>
          <p:spPr>
            <a:xfrm rot="5400000">
              <a:off x="4491832" y="5366544"/>
              <a:ext cx="304800" cy="1587"/>
            </a:xfrm>
            <a:prstGeom prst="straightConnector1">
              <a:avLst/>
            </a:prstGeom>
            <a:noFill/>
            <a:ln cap="flat" cmpd="sng" w="47625">
              <a:solidFill>
                <a:schemeClr val="dk1"/>
              </a:solidFill>
              <a:prstDash val="solid"/>
              <a:miter lim="8000"/>
              <a:headEnd len="med" w="med" type="stealth"/>
              <a:tailEnd len="sm" w="sm" type="none"/>
            </a:ln>
          </p:spPr>
        </p:cxnSp>
        <p:sp>
          <p:nvSpPr>
            <p:cNvPr id="143" name="Google Shape;143;p10"/>
            <p:cNvSpPr txBox="1"/>
            <p:nvPr/>
          </p:nvSpPr>
          <p:spPr>
            <a:xfrm>
              <a:off x="5357813" y="4273550"/>
              <a:ext cx="1943975" cy="4977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libri"/>
                  <a:ea typeface="Calibri"/>
                  <a:cs typeface="Calibri"/>
                  <a:sym typeface="Calibri"/>
                </a:rPr>
                <a:t>(Keluaran/Output)</a:t>
              </a:r>
              <a:endParaRPr b="0" i="0" sz="1400" u="none" cap="none" strike="noStrike">
                <a:solidFill>
                  <a:srgbClr val="000000"/>
                </a:solidFill>
                <a:latin typeface="Arial"/>
                <a:ea typeface="Arial"/>
                <a:cs typeface="Arial"/>
                <a:sym typeface="Arial"/>
              </a:endParaRPr>
            </a:p>
          </p:txBody>
        </p:sp>
        <p:sp>
          <p:nvSpPr>
            <p:cNvPr id="144" name="Google Shape;144;p10"/>
            <p:cNvSpPr txBox="1"/>
            <p:nvPr/>
          </p:nvSpPr>
          <p:spPr>
            <a:xfrm>
              <a:off x="317500" y="1395413"/>
              <a:ext cx="1449664" cy="5641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Calibri"/>
                  <a:ea typeface="Calibri"/>
                  <a:cs typeface="Calibri"/>
                  <a:sym typeface="Calibri"/>
                </a:rPr>
                <a:t>COMPUTER</a:t>
              </a:r>
              <a:endParaRPr b="0" i="0" sz="1400" u="none" cap="none" strike="noStrike">
                <a:solidFill>
                  <a:srgbClr val="000000"/>
                </a:solidFill>
                <a:latin typeface="Arial"/>
                <a:ea typeface="Arial"/>
                <a:cs typeface="Arial"/>
                <a:sym typeface="Arial"/>
              </a:endParaRPr>
            </a:p>
          </p:txBody>
        </p:sp>
        <p:sp>
          <p:nvSpPr>
            <p:cNvPr id="145" name="Google Shape;145;p10"/>
            <p:cNvSpPr txBox="1"/>
            <p:nvPr/>
          </p:nvSpPr>
          <p:spPr>
            <a:xfrm>
              <a:off x="2928938" y="1395413"/>
              <a:ext cx="2601544" cy="5641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Calibri"/>
                  <a:ea typeface="Calibri"/>
                  <a:cs typeface="Calibri"/>
                  <a:sym typeface="Calibri"/>
                </a:rPr>
                <a:t>TO – COMPUTE  +  ER </a:t>
              </a:r>
              <a:endParaRPr b="0" i="0" sz="1400" u="none" cap="none" strike="noStrike">
                <a:solidFill>
                  <a:srgbClr val="000000"/>
                </a:solidFill>
                <a:latin typeface="Arial"/>
                <a:ea typeface="Arial"/>
                <a:cs typeface="Arial"/>
                <a:sym typeface="Arial"/>
              </a:endParaRPr>
            </a:p>
          </p:txBody>
        </p:sp>
        <p:sp>
          <p:nvSpPr>
            <p:cNvPr id="146" name="Google Shape;146;p10"/>
            <p:cNvSpPr/>
            <p:nvPr/>
          </p:nvSpPr>
          <p:spPr>
            <a:xfrm>
              <a:off x="2357438" y="1500188"/>
              <a:ext cx="457200" cy="304800"/>
            </a:xfrm>
            <a:prstGeom prst="rightArrow">
              <a:avLst>
                <a:gd fmla="val 50000" name="adj1"/>
                <a:gd fmla="val 50000" name="adj2"/>
              </a:avLst>
            </a:prstGeom>
            <a:solidFill>
              <a:schemeClr val="dk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7" name="Google Shape;147;p10"/>
            <p:cNvSpPr txBox="1"/>
            <p:nvPr/>
          </p:nvSpPr>
          <p:spPr>
            <a:xfrm>
              <a:off x="2857500" y="2038350"/>
              <a:ext cx="2467702" cy="3982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Bell MT"/>
                  <a:ea typeface="Bell MT"/>
                  <a:cs typeface="Bell MT"/>
                  <a:sym typeface="Bell MT"/>
                </a:rPr>
                <a:t>menghitung/mengolah bilangan</a:t>
              </a:r>
              <a:endParaRPr b="0" i="0" sz="1800" u="none" cap="none" strike="noStrike">
                <a:solidFill>
                  <a:schemeClr val="dk1"/>
                </a:solidFill>
                <a:latin typeface="Bell MT"/>
                <a:ea typeface="Bell MT"/>
                <a:cs typeface="Bell MT"/>
                <a:sym typeface="Bell MT"/>
              </a:endParaRPr>
            </a:p>
          </p:txBody>
        </p:sp>
        <p:sp>
          <p:nvSpPr>
            <p:cNvPr id="148" name="Google Shape;148;p10"/>
            <p:cNvSpPr txBox="1"/>
            <p:nvPr/>
          </p:nvSpPr>
          <p:spPr>
            <a:xfrm>
              <a:off x="3589338" y="2681288"/>
              <a:ext cx="1592225" cy="4977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libri"/>
                  <a:ea typeface="Calibri"/>
                  <a:cs typeface="Calibri"/>
                  <a:sym typeface="Calibri"/>
                </a:rPr>
                <a:t>mengolah data</a:t>
              </a:r>
              <a:endParaRPr b="0" i="0" sz="1400" u="none" cap="none" strike="noStrike">
                <a:solidFill>
                  <a:srgbClr val="000000"/>
                </a:solidFill>
                <a:latin typeface="Arial"/>
                <a:ea typeface="Arial"/>
                <a:cs typeface="Arial"/>
                <a:sym typeface="Arial"/>
              </a:endParaRPr>
            </a:p>
          </p:txBody>
        </p:sp>
        <p:sp>
          <p:nvSpPr>
            <p:cNvPr id="149" name="Google Shape;149;p10"/>
            <p:cNvSpPr/>
            <p:nvPr/>
          </p:nvSpPr>
          <p:spPr>
            <a:xfrm>
              <a:off x="4500563" y="2486025"/>
              <a:ext cx="228600" cy="228600"/>
            </a:xfrm>
            <a:prstGeom prst="downArrow">
              <a:avLst>
                <a:gd fmla="val 50000" name="adj1"/>
                <a:gd fmla="val 50000" name="adj2"/>
              </a:avLst>
            </a:prstGeom>
            <a:solidFill>
              <a:schemeClr val="dk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0" name="Google Shape;150;p10"/>
            <p:cNvSpPr/>
            <p:nvPr/>
          </p:nvSpPr>
          <p:spPr>
            <a:xfrm>
              <a:off x="4500563" y="1852613"/>
              <a:ext cx="228600" cy="228600"/>
            </a:xfrm>
            <a:prstGeom prst="downArrow">
              <a:avLst>
                <a:gd fmla="val 50000" name="adj1"/>
                <a:gd fmla="val 50000" name="adj2"/>
              </a:avLst>
            </a:prstGeom>
            <a:solidFill>
              <a:schemeClr val="dk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1" name="Google Shape;151;p10"/>
            <p:cNvSpPr txBox="1"/>
            <p:nvPr/>
          </p:nvSpPr>
          <p:spPr>
            <a:xfrm>
              <a:off x="220663" y="3459163"/>
              <a:ext cx="1526473" cy="4977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libri"/>
                  <a:ea typeface="Calibri"/>
                  <a:cs typeface="Calibri"/>
                  <a:sym typeface="Calibri"/>
                </a:rPr>
                <a:t>Data yg diolah</a:t>
              </a:r>
              <a:endParaRPr b="0" i="0" sz="1400" u="none" cap="none" strike="noStrike">
                <a:solidFill>
                  <a:srgbClr val="000000"/>
                </a:solidFill>
                <a:latin typeface="Arial"/>
                <a:ea typeface="Arial"/>
                <a:cs typeface="Arial"/>
                <a:sym typeface="Arial"/>
              </a:endParaRPr>
            </a:p>
          </p:txBody>
        </p:sp>
        <p:sp>
          <p:nvSpPr>
            <p:cNvPr id="152" name="Google Shape;152;p10"/>
            <p:cNvSpPr txBox="1"/>
            <p:nvPr/>
          </p:nvSpPr>
          <p:spPr>
            <a:xfrm>
              <a:off x="69850" y="4286250"/>
              <a:ext cx="1797031" cy="4977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libri"/>
                  <a:ea typeface="Calibri"/>
                  <a:cs typeface="Calibri"/>
                  <a:sym typeface="Calibri"/>
                </a:rPr>
                <a:t>(Masukan/Input)</a:t>
              </a:r>
              <a:endParaRPr b="0" i="0" sz="1400" u="none" cap="none" strike="noStrike">
                <a:solidFill>
                  <a:srgbClr val="000000"/>
                </a:solidFill>
                <a:latin typeface="Arial"/>
                <a:ea typeface="Arial"/>
                <a:cs typeface="Arial"/>
                <a:sym typeface="Arial"/>
              </a:endParaRPr>
            </a:p>
          </p:txBody>
        </p:sp>
        <p:sp>
          <p:nvSpPr>
            <p:cNvPr id="153" name="Google Shape;153;p10"/>
            <p:cNvSpPr txBox="1"/>
            <p:nvPr/>
          </p:nvSpPr>
          <p:spPr>
            <a:xfrm>
              <a:off x="5357813" y="3538538"/>
              <a:ext cx="1814905" cy="4977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libri"/>
                  <a:ea typeface="Calibri"/>
                  <a:cs typeface="Calibri"/>
                  <a:sym typeface="Calibri"/>
                </a:rPr>
                <a:t>Data hasil olahan</a:t>
              </a:r>
              <a:endParaRPr b="0" i="0" sz="1400" u="none" cap="none" strike="noStrike">
                <a:solidFill>
                  <a:srgbClr val="000000"/>
                </a:solidFill>
                <a:latin typeface="Arial"/>
                <a:ea typeface="Arial"/>
                <a:cs typeface="Arial"/>
                <a:sym typeface="Arial"/>
              </a:endParaRPr>
            </a:p>
          </p:txBody>
        </p:sp>
        <p:sp>
          <p:nvSpPr>
            <p:cNvPr id="154" name="Google Shape;154;p10"/>
            <p:cNvSpPr/>
            <p:nvPr/>
          </p:nvSpPr>
          <p:spPr>
            <a:xfrm>
              <a:off x="261938" y="4010025"/>
              <a:ext cx="1881187" cy="285750"/>
            </a:xfrm>
            <a:prstGeom prst="rightArrow">
              <a:avLst>
                <a:gd fmla="val 50000" name="adj1"/>
                <a:gd fmla="val 50000" name="adj2"/>
              </a:avLst>
            </a:prstGeom>
            <a:solidFill>
              <a:schemeClr val="accen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5" name="Google Shape;155;p10"/>
            <p:cNvSpPr/>
            <p:nvPr/>
          </p:nvSpPr>
          <p:spPr>
            <a:xfrm>
              <a:off x="1895440" y="5614987"/>
              <a:ext cx="3924344" cy="828676"/>
            </a:xfrm>
            <a:prstGeom prst="rect">
              <a:avLst/>
            </a:prstGeom>
            <a:solidFill>
              <a:srgbClr val="C55A11"/>
            </a:solid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Penyimpanan Data (Storage, e.g. memory)</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lang="en-US"/>
              <a:t>Program Komputer</a:t>
            </a:r>
            <a:endParaRPr/>
          </a:p>
        </p:txBody>
      </p:sp>
      <p:sp>
        <p:nvSpPr>
          <p:cNvPr id="161" name="Google Shape;161;p4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342900" lvl="0" marL="457200" rtl="0" algn="l">
              <a:lnSpc>
                <a:spcPct val="90000"/>
              </a:lnSpc>
              <a:spcBef>
                <a:spcPts val="1000"/>
              </a:spcBef>
              <a:spcAft>
                <a:spcPts val="0"/>
              </a:spcAft>
              <a:buSzPts val="1800"/>
              <a:buChar char="•"/>
            </a:pPr>
            <a:r>
              <a:rPr lang="en-US"/>
              <a:t>Program Komputer atau yang sering disebut perangkat lunak (software) merupakan instruksi untuk computer.</a:t>
            </a:r>
            <a:endParaRPr/>
          </a:p>
          <a:p>
            <a:pPr indent="-342900" lvl="0" marL="457200" rtl="0" algn="l">
              <a:lnSpc>
                <a:spcPct val="90000"/>
              </a:lnSpc>
              <a:spcBef>
                <a:spcPts val="1000"/>
              </a:spcBef>
              <a:spcAft>
                <a:spcPts val="0"/>
              </a:spcAft>
              <a:buSzPts val="1800"/>
              <a:buChar char="•"/>
            </a:pPr>
            <a:r>
              <a:rPr lang="en-US"/>
              <a:t>Anda dapat memberikan perintah kepada Komputer melalui program.</a:t>
            </a:r>
            <a:endParaRPr/>
          </a:p>
          <a:p>
            <a:pPr indent="-342900" lvl="0" marL="457200" rtl="0" algn="l">
              <a:lnSpc>
                <a:spcPct val="90000"/>
              </a:lnSpc>
              <a:spcBef>
                <a:spcPts val="1000"/>
              </a:spcBef>
              <a:spcAft>
                <a:spcPts val="0"/>
              </a:spcAft>
              <a:buSzPts val="1800"/>
              <a:buChar char="•"/>
            </a:pPr>
            <a:r>
              <a:rPr lang="en-US"/>
              <a:t>Tanpa adanya program, Komputer adalah mesin kosong yang tidak bisa diberikan intruksi.</a:t>
            </a:r>
            <a:endParaRPr/>
          </a:p>
          <a:p>
            <a:pPr indent="-342900" lvl="0" marL="457200" rtl="0" algn="l">
              <a:lnSpc>
                <a:spcPct val="90000"/>
              </a:lnSpc>
              <a:spcBef>
                <a:spcPts val="1000"/>
              </a:spcBef>
              <a:spcAft>
                <a:spcPts val="0"/>
              </a:spcAft>
              <a:buSzPts val="1800"/>
              <a:buChar char="•"/>
            </a:pPr>
            <a:r>
              <a:rPr lang="en-US"/>
              <a:t>Karena Komputer tidak mengerti Bahasa manusia maka cara berkomunikasi dengan computer adalah dengan menggunakan </a:t>
            </a:r>
            <a:r>
              <a:rPr i="1" lang="en-US"/>
              <a:t>computer languages</a:t>
            </a:r>
            <a:endParaRPr/>
          </a:p>
          <a:p>
            <a:pPr indent="-342900" lvl="0" marL="457200" rtl="0" algn="l">
              <a:lnSpc>
                <a:spcPct val="90000"/>
              </a:lnSpc>
              <a:spcBef>
                <a:spcPts val="1000"/>
              </a:spcBef>
              <a:spcAft>
                <a:spcPts val="0"/>
              </a:spcAft>
              <a:buSzPts val="1800"/>
              <a:buChar char="•"/>
            </a:pPr>
            <a:r>
              <a:rPr b="1" lang="en-US"/>
              <a:t>Program ditulis dengan menggunakan bahasa pemrograman.</a:t>
            </a:r>
            <a:endParaRPr/>
          </a:p>
          <a:p>
            <a:pPr indent="-228600" lvl="0" marL="457200" rtl="0" algn="l">
              <a:lnSpc>
                <a:spcPct val="90000"/>
              </a:lnSpc>
              <a:spcBef>
                <a:spcPts val="1000"/>
              </a:spcBef>
              <a:spcAft>
                <a:spcPts val="0"/>
              </a:spcAft>
              <a:buClr>
                <a:schemeClr val="dk1"/>
              </a:buClr>
              <a:buSzPts val="18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4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a:t>Computer Languages</a:t>
            </a:r>
            <a:br>
              <a:rPr lang="en-US"/>
            </a:br>
            <a:r>
              <a:rPr lang="en-US" sz="2800"/>
              <a:t>Machine Language - Assembly Language - High Level Language</a:t>
            </a:r>
            <a:endParaRPr/>
          </a:p>
        </p:txBody>
      </p:sp>
      <p:sp>
        <p:nvSpPr>
          <p:cNvPr id="167" name="Google Shape;167;p4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SzPts val="1800"/>
              <a:buChar char="•"/>
            </a:pPr>
            <a:r>
              <a:rPr lang="en-US"/>
              <a:t>Machine Language : program ditulis dalam Bahasa biner. </a:t>
            </a:r>
            <a:endParaRPr/>
          </a:p>
          <a:p>
            <a:pPr indent="-342900" lvl="1" marL="914400" rtl="0" algn="l">
              <a:lnSpc>
                <a:spcPct val="90000"/>
              </a:lnSpc>
              <a:spcBef>
                <a:spcPts val="500"/>
              </a:spcBef>
              <a:spcAft>
                <a:spcPts val="0"/>
              </a:spcAft>
              <a:buSzPts val="1800"/>
              <a:buChar char="•"/>
            </a:pPr>
            <a:r>
              <a:rPr lang="en-US"/>
              <a:t>Misalnya, untuk menjumlahkan dua angka, instruksi dalam biner seperti ini:</a:t>
            </a:r>
            <a:endParaRPr/>
          </a:p>
          <a:p>
            <a:pPr indent="-342900" lvl="1" marL="914400" rtl="0" algn="l">
              <a:lnSpc>
                <a:spcPct val="90000"/>
              </a:lnSpc>
              <a:spcBef>
                <a:spcPts val="500"/>
              </a:spcBef>
              <a:spcAft>
                <a:spcPts val="0"/>
              </a:spcAft>
              <a:buSzPts val="1800"/>
              <a:buChar char="•"/>
            </a:pPr>
            <a:r>
              <a:rPr lang="en-US"/>
              <a:t>1101101010011010</a:t>
            </a:r>
            <a:endParaRPr/>
          </a:p>
          <a:p>
            <a:pPr indent="-342900" lvl="0" marL="457200" rtl="0" algn="l">
              <a:lnSpc>
                <a:spcPct val="90000"/>
              </a:lnSpc>
              <a:spcBef>
                <a:spcPts val="1000"/>
              </a:spcBef>
              <a:spcAft>
                <a:spcPts val="0"/>
              </a:spcAft>
              <a:buSzPts val="1800"/>
              <a:buChar char="•"/>
            </a:pPr>
            <a:r>
              <a:rPr lang="en-US"/>
              <a:t>Assembly Language : lebih mudah dibandingkan Bahasa mesin.</a:t>
            </a:r>
            <a:endParaRPr/>
          </a:p>
          <a:p>
            <a:pPr indent="-342900" lvl="1" marL="914400" rtl="0" algn="l">
              <a:lnSpc>
                <a:spcPct val="90000"/>
              </a:lnSpc>
              <a:spcBef>
                <a:spcPts val="500"/>
              </a:spcBef>
              <a:spcAft>
                <a:spcPts val="0"/>
              </a:spcAft>
              <a:buSzPts val="1800"/>
              <a:buChar char="•"/>
            </a:pPr>
            <a:r>
              <a:rPr lang="en-US"/>
              <a:t>Komputer tidak mengerti Bahasa asemby sehingga terdapat assembler yang menterjemahkan Bahasa assembly ke Bahasa mesin</a:t>
            </a:r>
            <a:endParaRPr/>
          </a:p>
          <a:p>
            <a:pPr indent="-342900" lvl="1" marL="914400" rtl="0" algn="l">
              <a:lnSpc>
                <a:spcPct val="90000"/>
              </a:lnSpc>
              <a:spcBef>
                <a:spcPts val="500"/>
              </a:spcBef>
              <a:spcAft>
                <a:spcPts val="0"/>
              </a:spcAft>
              <a:buSzPts val="1800"/>
              <a:buChar char="•"/>
            </a:pPr>
            <a:r>
              <a:rPr lang="en-US"/>
              <a:t>Contoh :</a:t>
            </a:r>
            <a:endParaRPr/>
          </a:p>
          <a:p>
            <a:pPr indent="-228600" lvl="1" marL="914400" rtl="0" algn="l">
              <a:lnSpc>
                <a:spcPct val="90000"/>
              </a:lnSpc>
              <a:spcBef>
                <a:spcPts val="500"/>
              </a:spcBef>
              <a:spcAft>
                <a:spcPts val="0"/>
              </a:spcAft>
              <a:buSzPts val="1800"/>
              <a:buNone/>
            </a:pPr>
            <a:r>
              <a:t/>
            </a:r>
            <a:endParaRPr/>
          </a:p>
          <a:p>
            <a:pPr indent="0" lvl="0" marL="114300" rtl="0" algn="l">
              <a:lnSpc>
                <a:spcPct val="90000"/>
              </a:lnSpc>
              <a:spcBef>
                <a:spcPts val="1000"/>
              </a:spcBef>
              <a:spcAft>
                <a:spcPts val="0"/>
              </a:spcAft>
              <a:buSzPts val="1800"/>
              <a:buNone/>
            </a:pPr>
            <a:r>
              <a:t/>
            </a:r>
            <a:endParaRPr/>
          </a:p>
        </p:txBody>
      </p:sp>
      <p:pic>
        <p:nvPicPr>
          <p:cNvPr id="168" name="Google Shape;168;p43"/>
          <p:cNvPicPr preferRelativeResize="0"/>
          <p:nvPr/>
        </p:nvPicPr>
        <p:blipFill rotWithShape="1">
          <a:blip r:embed="rId3">
            <a:alphaModFix/>
          </a:blip>
          <a:srcRect b="0" l="0" r="0" t="0"/>
          <a:stretch/>
        </p:blipFill>
        <p:spPr>
          <a:xfrm>
            <a:off x="3670852" y="4665256"/>
            <a:ext cx="4575865" cy="1275859"/>
          </a:xfrm>
          <a:prstGeom prst="rect">
            <a:avLst/>
          </a:prstGeom>
          <a:noFill/>
          <a:ln>
            <a:noFill/>
          </a:ln>
        </p:spPr>
      </p:pic>
      <p:sp>
        <p:nvSpPr>
          <p:cNvPr id="169" name="Google Shape;169;p43"/>
          <p:cNvSpPr txBox="1"/>
          <p:nvPr/>
        </p:nvSpPr>
        <p:spPr>
          <a:xfrm>
            <a:off x="0" y="6550223"/>
            <a:ext cx="829265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Sumber : Liang, Introduction to Java Programming, Tenth Edition, (c) 2015 Pearson Education, Inc. All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4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a:t>Computer Languages</a:t>
            </a:r>
            <a:br>
              <a:rPr lang="en-US"/>
            </a:br>
            <a:r>
              <a:rPr lang="en-US" sz="3100"/>
              <a:t>Machine Language - Assembly Language - High Level Language</a:t>
            </a:r>
            <a:endParaRPr sz="3100"/>
          </a:p>
        </p:txBody>
      </p:sp>
      <p:sp>
        <p:nvSpPr>
          <p:cNvPr id="175" name="Google Shape;175;p4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SzPts val="1800"/>
              <a:buChar char="•"/>
            </a:pPr>
            <a:r>
              <a:rPr lang="en-US"/>
              <a:t>High Level Language : mirip dengan Bahasa inggris dan mudah dipelajari oleh programmer</a:t>
            </a:r>
            <a:endParaRPr/>
          </a:p>
          <a:p>
            <a:pPr indent="-342900" lvl="1" marL="914400" rtl="0" algn="l">
              <a:lnSpc>
                <a:spcPct val="90000"/>
              </a:lnSpc>
              <a:spcBef>
                <a:spcPts val="500"/>
              </a:spcBef>
              <a:spcAft>
                <a:spcPts val="0"/>
              </a:spcAft>
              <a:buSzPts val="1800"/>
              <a:buChar char="•"/>
            </a:pPr>
            <a:r>
              <a:rPr lang="en-US"/>
              <a:t>Contoh : java, C++, C, C#, Python, ds</a:t>
            </a:r>
            <a:endParaRPr/>
          </a:p>
          <a:p>
            <a:pPr indent="-228600" lvl="0" marL="457200" rtl="0" algn="l">
              <a:lnSpc>
                <a:spcPct val="90000"/>
              </a:lnSpc>
              <a:spcBef>
                <a:spcPts val="1000"/>
              </a:spcBef>
              <a:spcAft>
                <a:spcPts val="0"/>
              </a:spcAft>
              <a:buClr>
                <a:schemeClr val="dk1"/>
              </a:buClr>
              <a:buSzPts val="1800"/>
              <a:buNone/>
            </a:pPr>
            <a:r>
              <a:t/>
            </a:r>
            <a:endParaRPr/>
          </a:p>
        </p:txBody>
      </p:sp>
      <p:pic>
        <p:nvPicPr>
          <p:cNvPr id="176" name="Google Shape;176;p44"/>
          <p:cNvPicPr preferRelativeResize="0"/>
          <p:nvPr/>
        </p:nvPicPr>
        <p:blipFill rotWithShape="1">
          <a:blip r:embed="rId3">
            <a:alphaModFix/>
          </a:blip>
          <a:srcRect b="0" l="0" r="0" t="0"/>
          <a:stretch/>
        </p:blipFill>
        <p:spPr>
          <a:xfrm>
            <a:off x="2239617" y="3739976"/>
            <a:ext cx="6761646" cy="216441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4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lang="en-US"/>
              <a:t>Interpreting/Compiling Source Code</a:t>
            </a:r>
            <a:endParaRPr/>
          </a:p>
        </p:txBody>
      </p:sp>
      <p:sp>
        <p:nvSpPr>
          <p:cNvPr id="182" name="Google Shape;182;p4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SzPts val="1800"/>
              <a:buChar char="•"/>
            </a:pPr>
            <a:r>
              <a:rPr lang="en-US"/>
              <a:t>Program yang ditulis dalam Bahasa tingkat tinggi (high-level language) disebut </a:t>
            </a:r>
            <a:r>
              <a:rPr i="1" lang="en-US"/>
              <a:t>source code </a:t>
            </a:r>
            <a:r>
              <a:rPr lang="en-US"/>
              <a:t>atau </a:t>
            </a:r>
            <a:r>
              <a:rPr i="1" lang="en-US"/>
              <a:t>source program</a:t>
            </a:r>
            <a:endParaRPr/>
          </a:p>
          <a:p>
            <a:pPr indent="-342900" lvl="0" marL="457200" rtl="0" algn="l">
              <a:lnSpc>
                <a:spcPct val="90000"/>
              </a:lnSpc>
              <a:spcBef>
                <a:spcPts val="1000"/>
              </a:spcBef>
              <a:spcAft>
                <a:spcPts val="0"/>
              </a:spcAft>
              <a:buSzPts val="1800"/>
              <a:buChar char="•"/>
            </a:pPr>
            <a:r>
              <a:rPr lang="en-US"/>
              <a:t>Karena program tidak mengerti Bahasa </a:t>
            </a:r>
            <a:r>
              <a:rPr i="1" lang="en-US"/>
              <a:t>source code </a:t>
            </a:r>
            <a:r>
              <a:rPr lang="en-US"/>
              <a:t>maka </a:t>
            </a:r>
            <a:r>
              <a:rPr i="1" lang="en-US"/>
              <a:t>source code </a:t>
            </a:r>
            <a:r>
              <a:rPr lang="en-US"/>
              <a:t>harus diterjemahkan ke dalam Bahasa mesin untuk bisa di ekseskusi oleh computer</a:t>
            </a:r>
            <a:endParaRPr/>
          </a:p>
          <a:p>
            <a:pPr indent="-342900" lvl="0" marL="457200" rtl="0" algn="l">
              <a:lnSpc>
                <a:spcPct val="90000"/>
              </a:lnSpc>
              <a:spcBef>
                <a:spcPts val="1000"/>
              </a:spcBef>
              <a:spcAft>
                <a:spcPts val="0"/>
              </a:spcAft>
              <a:buSzPts val="1800"/>
              <a:buChar char="•"/>
            </a:pPr>
            <a:r>
              <a:rPr lang="en-US"/>
              <a:t>Translasi / penterjemahan source code ke Bahasa mesin dapat dilakukan menggunakan tools pemrograman lain yang disebut interpreter atau compailer.</a:t>
            </a:r>
            <a:endParaRPr/>
          </a:p>
          <a:p>
            <a:pPr indent="-228600" lvl="0" marL="457200" rtl="0" algn="l">
              <a:lnSpc>
                <a:spcPct val="90000"/>
              </a:lnSpc>
              <a:spcBef>
                <a:spcPts val="1000"/>
              </a:spcBef>
              <a:spcAft>
                <a:spcPts val="0"/>
              </a:spcAft>
              <a:buClr>
                <a:schemeClr val="dk1"/>
              </a:buClr>
              <a:buSzPts val="1800"/>
              <a:buNone/>
            </a:pPr>
            <a:r>
              <a:t/>
            </a:r>
            <a:endParaRPr/>
          </a:p>
        </p:txBody>
      </p:sp>
      <p:sp>
        <p:nvSpPr>
          <p:cNvPr id="183" name="Google Shape;183;p45"/>
          <p:cNvSpPr txBox="1"/>
          <p:nvPr/>
        </p:nvSpPr>
        <p:spPr>
          <a:xfrm>
            <a:off x="0" y="6550223"/>
            <a:ext cx="829265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Sumber : Liang, Introduction to Java Programming, Tenth Edition, (c) 2015 Pearson Education, Inc. All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lang="en-US"/>
              <a:t>Interpreting Source Code</a:t>
            </a:r>
            <a:endParaRPr/>
          </a:p>
        </p:txBody>
      </p:sp>
      <p:sp>
        <p:nvSpPr>
          <p:cNvPr id="189" name="Google Shape;189;p4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SzPts val="1800"/>
              <a:buChar char="•"/>
            </a:pPr>
            <a:r>
              <a:rPr lang="en-US"/>
              <a:t>Interpreter membaca satu pernyataan (statement) dari source code lalu menterjemahkannya ke dalam Bahasa mesin dan kemudian langsung mengeksekusinya. </a:t>
            </a:r>
            <a:endParaRPr/>
          </a:p>
          <a:p>
            <a:pPr indent="-342900" lvl="0" marL="457200" rtl="0" algn="l">
              <a:lnSpc>
                <a:spcPct val="90000"/>
              </a:lnSpc>
              <a:spcBef>
                <a:spcPts val="1000"/>
              </a:spcBef>
              <a:spcAft>
                <a:spcPts val="0"/>
              </a:spcAft>
              <a:buSzPts val="1800"/>
              <a:buChar char="•"/>
            </a:pPr>
            <a:r>
              <a:rPr lang="en-US"/>
              <a:t>cara kerja interpreter: </a:t>
            </a:r>
            <a:endParaRPr/>
          </a:p>
          <a:p>
            <a:pPr indent="-228600" lvl="0" marL="457200" rtl="0" algn="l">
              <a:lnSpc>
                <a:spcPct val="90000"/>
              </a:lnSpc>
              <a:spcBef>
                <a:spcPts val="1000"/>
              </a:spcBef>
              <a:spcAft>
                <a:spcPts val="0"/>
              </a:spcAft>
              <a:buClr>
                <a:schemeClr val="dk1"/>
              </a:buClr>
              <a:buSzPts val="1800"/>
              <a:buNone/>
            </a:pPr>
            <a:r>
              <a:t/>
            </a:r>
            <a:endParaRPr/>
          </a:p>
        </p:txBody>
      </p:sp>
      <p:pic>
        <p:nvPicPr>
          <p:cNvPr id="190" name="Google Shape;190;p46"/>
          <p:cNvPicPr preferRelativeResize="0"/>
          <p:nvPr/>
        </p:nvPicPr>
        <p:blipFill rotWithShape="1">
          <a:blip r:embed="rId3">
            <a:alphaModFix/>
          </a:blip>
          <a:srcRect b="0" l="0" r="0" t="0"/>
          <a:stretch/>
        </p:blipFill>
        <p:spPr>
          <a:xfrm>
            <a:off x="2425147" y="4152745"/>
            <a:ext cx="6932820" cy="1922547"/>
          </a:xfrm>
          <a:prstGeom prst="rect">
            <a:avLst/>
          </a:prstGeom>
          <a:noFill/>
          <a:ln>
            <a:noFill/>
          </a:ln>
        </p:spPr>
      </p:pic>
      <p:sp>
        <p:nvSpPr>
          <p:cNvPr id="191" name="Google Shape;191;p46"/>
          <p:cNvSpPr txBox="1"/>
          <p:nvPr/>
        </p:nvSpPr>
        <p:spPr>
          <a:xfrm>
            <a:off x="172278" y="6467821"/>
            <a:ext cx="829265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Sumber : Liang, Introduction to Java Programming, Tenth Edition, (c) 2015 Pearson Education, Inc. All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4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lang="en-US"/>
              <a:t>Compiling Source Code</a:t>
            </a:r>
            <a:endParaRPr/>
          </a:p>
        </p:txBody>
      </p:sp>
      <p:sp>
        <p:nvSpPr>
          <p:cNvPr id="197" name="Google Shape;197;p4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SzPts val="1800"/>
              <a:buChar char="•"/>
            </a:pPr>
            <a:r>
              <a:rPr lang="en-US"/>
              <a:t>Compailer menterjemahkan seluruh source code menjadi sebuah file yang berisi Bahasa mesin dan kemudian file yang berisi Bahasa mesin tersebut yang akan di eksekusi.</a:t>
            </a:r>
            <a:endParaRPr/>
          </a:p>
          <a:p>
            <a:pPr indent="-342900" lvl="0" marL="457200" rtl="0" algn="l">
              <a:lnSpc>
                <a:spcPct val="90000"/>
              </a:lnSpc>
              <a:spcBef>
                <a:spcPts val="1000"/>
              </a:spcBef>
              <a:spcAft>
                <a:spcPts val="0"/>
              </a:spcAft>
              <a:buSzPts val="1800"/>
              <a:buChar char="•"/>
            </a:pPr>
            <a:r>
              <a:rPr lang="en-US"/>
              <a:t>cara kerja compailer:</a:t>
            </a:r>
            <a:br>
              <a:rPr lang="en-US"/>
            </a:br>
            <a:br>
              <a:rPr lang="en-US"/>
            </a:br>
            <a:endParaRPr/>
          </a:p>
          <a:p>
            <a:pPr indent="-228600" lvl="0" marL="457200" rtl="0" algn="l">
              <a:lnSpc>
                <a:spcPct val="90000"/>
              </a:lnSpc>
              <a:spcBef>
                <a:spcPts val="1000"/>
              </a:spcBef>
              <a:spcAft>
                <a:spcPts val="0"/>
              </a:spcAft>
              <a:buClr>
                <a:schemeClr val="dk1"/>
              </a:buClr>
              <a:buSzPts val="1800"/>
              <a:buNone/>
            </a:pPr>
            <a:r>
              <a:t/>
            </a:r>
            <a:endParaRPr/>
          </a:p>
        </p:txBody>
      </p:sp>
      <p:pic>
        <p:nvPicPr>
          <p:cNvPr id="198" name="Google Shape;198;p47"/>
          <p:cNvPicPr preferRelativeResize="0"/>
          <p:nvPr/>
        </p:nvPicPr>
        <p:blipFill rotWithShape="1">
          <a:blip r:embed="rId3">
            <a:alphaModFix/>
          </a:blip>
          <a:srcRect b="0" l="0" r="0" t="0"/>
          <a:stretch/>
        </p:blipFill>
        <p:spPr>
          <a:xfrm>
            <a:off x="2173356" y="4404576"/>
            <a:ext cx="7171635" cy="1167651"/>
          </a:xfrm>
          <a:prstGeom prst="rect">
            <a:avLst/>
          </a:prstGeom>
          <a:noFill/>
          <a:ln>
            <a:noFill/>
          </a:ln>
        </p:spPr>
      </p:pic>
      <p:sp>
        <p:nvSpPr>
          <p:cNvPr id="199" name="Google Shape;199;p47"/>
          <p:cNvSpPr txBox="1"/>
          <p:nvPr/>
        </p:nvSpPr>
        <p:spPr>
          <a:xfrm>
            <a:off x="0" y="6550223"/>
            <a:ext cx="829265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Sumber : Liang, Introduction to Java Programming, Tenth Edition, (c) 2015 Pearson Education, Inc. All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lang="en-US"/>
              <a:t>Bahasa Pemrograman Java</a:t>
            </a:r>
            <a:endParaRPr/>
          </a:p>
        </p:txBody>
      </p:sp>
      <p:sp>
        <p:nvSpPr>
          <p:cNvPr id="205" name="Google Shape;205;p4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342900" lvl="0" marL="457200" rtl="0" algn="l">
              <a:lnSpc>
                <a:spcPct val="90000"/>
              </a:lnSpc>
              <a:spcBef>
                <a:spcPts val="1000"/>
              </a:spcBef>
              <a:spcAft>
                <a:spcPts val="0"/>
              </a:spcAft>
              <a:buClr>
                <a:schemeClr val="dk1"/>
              </a:buClr>
              <a:buSzPct val="69498"/>
              <a:buChar char="•"/>
            </a:pPr>
            <a:r>
              <a:rPr lang="en-US"/>
              <a:t>Java sudah ada sejak </a:t>
            </a:r>
            <a:r>
              <a:rPr b="1" lang="en-US"/>
              <a:t>1995</a:t>
            </a:r>
            <a:r>
              <a:rPr lang="en-US"/>
              <a:t>, masih dipakai hingga saat ini di industri besar.</a:t>
            </a:r>
            <a:endParaRPr/>
          </a:p>
          <a:p>
            <a:pPr indent="-342900" lvl="0" marL="457200" rtl="0" algn="l">
              <a:lnSpc>
                <a:spcPct val="90000"/>
              </a:lnSpc>
              <a:spcBef>
                <a:spcPts val="1000"/>
              </a:spcBef>
              <a:spcAft>
                <a:spcPts val="0"/>
              </a:spcAft>
              <a:buClr>
                <a:schemeClr val="dk1"/>
              </a:buClr>
              <a:buSzPct val="69498"/>
              <a:buChar char="•"/>
            </a:pPr>
            <a:r>
              <a:rPr lang="en-US"/>
              <a:t>Java Bahasa pemrograman yang </a:t>
            </a:r>
            <a:r>
              <a:rPr b="1" lang="en-US"/>
              <a:t>ketat dengan aturan</a:t>
            </a:r>
            <a:r>
              <a:rPr lang="en-US"/>
              <a:t> (class, main, dan tipe data harus jelas).</a:t>
            </a:r>
            <a:endParaRPr/>
          </a:p>
          <a:p>
            <a:pPr indent="-342900" lvl="1" marL="914400" rtl="0" algn="l">
              <a:lnSpc>
                <a:spcPct val="90000"/>
              </a:lnSpc>
              <a:spcBef>
                <a:spcPts val="500"/>
              </a:spcBef>
              <a:spcAft>
                <a:spcPts val="0"/>
              </a:spcAft>
              <a:buSzPct val="81081"/>
              <a:buChar char="•"/>
            </a:pPr>
            <a:r>
              <a:rPr b="1" lang="en-US"/>
              <a:t>Struktur program terorganisir</a:t>
            </a:r>
            <a:endParaRPr b="1"/>
          </a:p>
          <a:p>
            <a:pPr indent="-342900" lvl="1" marL="914400" rtl="0" algn="l">
              <a:lnSpc>
                <a:spcPct val="90000"/>
              </a:lnSpc>
              <a:spcBef>
                <a:spcPts val="500"/>
              </a:spcBef>
              <a:spcAft>
                <a:spcPts val="0"/>
              </a:spcAft>
              <a:buSzPct val="81081"/>
              <a:buChar char="•"/>
            </a:pPr>
            <a:r>
              <a:rPr lang="en-US"/>
              <a:t>Jika sudah bisa Java, pindah ke Bahasa pemrograman lain akan lebih gampang.</a:t>
            </a:r>
            <a:endParaRPr/>
          </a:p>
          <a:p>
            <a:pPr indent="-342900" lvl="0" marL="457200" rtl="0" algn="l">
              <a:lnSpc>
                <a:spcPct val="90000"/>
              </a:lnSpc>
              <a:spcBef>
                <a:spcPts val="1000"/>
              </a:spcBef>
              <a:spcAft>
                <a:spcPts val="0"/>
              </a:spcAft>
              <a:buClr>
                <a:schemeClr val="dk1"/>
              </a:buClr>
              <a:buSzPct val="69498"/>
              <a:buChar char="•"/>
            </a:pPr>
            <a:r>
              <a:rPr b="1" lang="en-US"/>
              <a:t>Contoh Aplikasi menggunakan Java</a:t>
            </a:r>
            <a:endParaRPr/>
          </a:p>
          <a:p>
            <a:pPr indent="-342900" lvl="1" marL="914400" rtl="0" algn="l">
              <a:lnSpc>
                <a:spcPct val="90000"/>
              </a:lnSpc>
              <a:spcBef>
                <a:spcPts val="500"/>
              </a:spcBef>
              <a:spcAft>
                <a:spcPts val="0"/>
              </a:spcAft>
              <a:buSzPct val="81081"/>
              <a:buChar char="•"/>
            </a:pPr>
            <a:r>
              <a:rPr b="1" lang="en-US"/>
              <a:t>Android Apps</a:t>
            </a:r>
            <a:r>
              <a:rPr lang="en-US"/>
              <a:t> → Awalnya </a:t>
            </a:r>
            <a:r>
              <a:rPr b="1" lang="en-US"/>
              <a:t>semua aplikasi Android ditulis dengan Java</a:t>
            </a:r>
            <a:r>
              <a:rPr lang="en-US"/>
              <a:t> sebelum Kotlin popular, Contoh: WhatsApp, Spotify (awal pengembangan).</a:t>
            </a:r>
            <a:endParaRPr/>
          </a:p>
          <a:p>
            <a:pPr indent="-342900" lvl="1" marL="914400" rtl="0" algn="l">
              <a:lnSpc>
                <a:spcPct val="90000"/>
              </a:lnSpc>
              <a:spcBef>
                <a:spcPts val="500"/>
              </a:spcBef>
              <a:spcAft>
                <a:spcPts val="0"/>
              </a:spcAft>
              <a:buSzPct val="81081"/>
              <a:buChar char="•"/>
            </a:pPr>
            <a:r>
              <a:rPr b="1" lang="en-US"/>
              <a:t>Backend Web</a:t>
            </a:r>
            <a:r>
              <a:rPr lang="en-US"/>
              <a:t> → Spring Framework banyak dipakai e-commerce.</a:t>
            </a:r>
            <a:endParaRPr/>
          </a:p>
          <a:p>
            <a:pPr indent="-342900" lvl="1" marL="914400" rtl="0" algn="l">
              <a:lnSpc>
                <a:spcPct val="90000"/>
              </a:lnSpc>
              <a:spcBef>
                <a:spcPts val="500"/>
              </a:spcBef>
              <a:spcAft>
                <a:spcPts val="0"/>
              </a:spcAft>
              <a:buSzPct val="81081"/>
              <a:buChar char="•"/>
            </a:pPr>
            <a:r>
              <a:rPr b="1" lang="en-US"/>
              <a:t>Bank </a:t>
            </a:r>
            <a:r>
              <a:rPr lang="en-US"/>
              <a:t>→ Hadoop (framework big data) ditulis dalam Java.</a:t>
            </a:r>
            <a:endParaRPr/>
          </a:p>
          <a:p>
            <a:pPr indent="-342900" lvl="1" marL="914400" rtl="0" algn="l">
              <a:lnSpc>
                <a:spcPct val="90000"/>
              </a:lnSpc>
              <a:spcBef>
                <a:spcPts val="500"/>
              </a:spcBef>
              <a:spcAft>
                <a:spcPts val="0"/>
              </a:spcAft>
              <a:buSzPct val="81081"/>
              <a:buChar char="•"/>
            </a:pPr>
            <a:r>
              <a:rPr b="1" lang="en-US"/>
              <a:t>Big Data</a:t>
            </a:r>
            <a:r>
              <a:rPr lang="en-US"/>
              <a:t> → Hadoop, Apache Spark berjalan di JVM.</a:t>
            </a:r>
            <a:endParaRPr/>
          </a:p>
          <a:p>
            <a:pPr indent="-342900" lvl="1" marL="914400" rtl="0" algn="l">
              <a:lnSpc>
                <a:spcPct val="90000"/>
              </a:lnSpc>
              <a:spcBef>
                <a:spcPts val="500"/>
              </a:spcBef>
              <a:spcAft>
                <a:spcPts val="0"/>
              </a:spcAft>
              <a:buSzPct val="81081"/>
              <a:buChar char="•"/>
            </a:pPr>
            <a:r>
              <a:rPr b="1" lang="en-US"/>
              <a:t>IoT</a:t>
            </a:r>
            <a:r>
              <a:rPr lang="en-US"/>
              <a:t> 🡪Banyak perangkat IoT (smart card, smart meter) menggunakan Java.</a:t>
            </a:r>
            <a:endParaRPr/>
          </a:p>
          <a:p>
            <a:pPr indent="-228600" lvl="0" marL="457200" rtl="0" algn="l">
              <a:lnSpc>
                <a:spcPct val="90000"/>
              </a:lnSpc>
              <a:spcBef>
                <a:spcPts val="1000"/>
              </a:spcBef>
              <a:spcAft>
                <a:spcPts val="0"/>
              </a:spcAft>
              <a:buClr>
                <a:schemeClr val="dk1"/>
              </a:buClr>
              <a:buSzPct val="69498"/>
              <a:buNone/>
            </a:pPr>
            <a:r>
              <a:t/>
            </a:r>
            <a:endParaRPr/>
          </a:p>
          <a:p>
            <a:pPr indent="-228600" lvl="0" marL="457200" rtl="0" algn="l">
              <a:lnSpc>
                <a:spcPct val="90000"/>
              </a:lnSpc>
              <a:spcBef>
                <a:spcPts val="1000"/>
              </a:spcBef>
              <a:spcAft>
                <a:spcPts val="0"/>
              </a:spcAft>
              <a:buClr>
                <a:schemeClr val="dk1"/>
              </a:buClr>
              <a:buSzPct val="69498"/>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49"/>
          <p:cNvSpPr txBox="1"/>
          <p:nvPr>
            <p:ph type="title"/>
          </p:nvPr>
        </p:nvSpPr>
        <p:spPr>
          <a:xfrm>
            <a:off x="824552" y="298549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Arial Black"/>
              <a:buNone/>
            </a:pPr>
            <a:r>
              <a:rPr b="1" lang="en-US">
                <a:latin typeface="Arial Black"/>
                <a:ea typeface="Arial Black"/>
                <a:cs typeface="Arial Black"/>
                <a:sym typeface="Arial Black"/>
              </a:rPr>
              <a:t>Algoritma</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Rounded"/>
              <a:buNone/>
            </a:pPr>
            <a:r>
              <a:rPr b="1" lang="en-US">
                <a:latin typeface="Arial Rounded"/>
                <a:ea typeface="Arial Rounded"/>
                <a:cs typeface="Arial Rounded"/>
                <a:sym typeface="Arial Rounded"/>
              </a:rPr>
              <a:t>Algoritma…(1)</a:t>
            </a:r>
            <a:endParaRPr b="1">
              <a:latin typeface="Arial Rounded"/>
              <a:ea typeface="Arial Rounded"/>
              <a:cs typeface="Arial Rounded"/>
              <a:sym typeface="Arial Rounded"/>
            </a:endParaRPr>
          </a:p>
        </p:txBody>
      </p:sp>
      <p:sp>
        <p:nvSpPr>
          <p:cNvPr id="216" name="Google Shape;216;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Proses pengolahan data membutuhkan </a:t>
            </a:r>
            <a:r>
              <a:rPr b="1" lang="en-US"/>
              <a:t>algoritma</a:t>
            </a:r>
            <a:endParaRPr b="1"/>
          </a:p>
          <a:p>
            <a:pPr indent="-228600" lvl="0" marL="228600" rtl="0" algn="l">
              <a:lnSpc>
                <a:spcPct val="90000"/>
              </a:lnSpc>
              <a:spcBef>
                <a:spcPts val="1000"/>
              </a:spcBef>
              <a:spcAft>
                <a:spcPts val="0"/>
              </a:spcAft>
              <a:buClr>
                <a:schemeClr val="dk1"/>
              </a:buClr>
              <a:buSzPts val="2800"/>
              <a:buChar char="•"/>
            </a:pPr>
            <a:r>
              <a:rPr lang="en-US"/>
              <a:t>Algortima : urutan langkah-langkah logis penyelesaian masalah yang disusun secara </a:t>
            </a:r>
            <a:r>
              <a:rPr b="1" lang="en-US" u="sng">
                <a:solidFill>
                  <a:srgbClr val="FF0000"/>
                </a:solidFill>
              </a:rPr>
              <a:t>sistematis</a:t>
            </a:r>
            <a:r>
              <a:rPr lang="en-US">
                <a:solidFill>
                  <a:srgbClr val="FF6600"/>
                </a:solidFill>
              </a:rPr>
              <a:t> </a:t>
            </a:r>
            <a:r>
              <a:rPr lang="en-US"/>
              <a:t>dan </a:t>
            </a:r>
            <a:r>
              <a:rPr b="1" lang="en-US" u="sng">
                <a:solidFill>
                  <a:srgbClr val="FF0000"/>
                </a:solidFill>
              </a:rPr>
              <a:t>logis</a:t>
            </a:r>
            <a:r>
              <a:rPr lang="en-US"/>
              <a:t>.</a:t>
            </a:r>
            <a:endParaRPr/>
          </a:p>
          <a:p>
            <a:pPr indent="-228600" lvl="0" marL="228600" rtl="0" algn="l">
              <a:lnSpc>
                <a:spcPct val="90000"/>
              </a:lnSpc>
              <a:spcBef>
                <a:spcPts val="1000"/>
              </a:spcBef>
              <a:spcAft>
                <a:spcPts val="0"/>
              </a:spcAft>
              <a:buClr>
                <a:schemeClr val="dk1"/>
              </a:buClr>
              <a:buSzPts val="2800"/>
              <a:buChar char="•"/>
            </a:pPr>
            <a:r>
              <a:rPr lang="en-US"/>
              <a:t>Sistematis : urutan langkah-langkah yang disusun harus jelas, memiliki pola tertentu</a:t>
            </a:r>
            <a:endParaRPr/>
          </a:p>
          <a:p>
            <a:pPr indent="-228600" lvl="0" marL="228600" rtl="0" algn="l">
              <a:lnSpc>
                <a:spcPct val="90000"/>
              </a:lnSpc>
              <a:spcBef>
                <a:spcPts val="1000"/>
              </a:spcBef>
              <a:spcAft>
                <a:spcPts val="0"/>
              </a:spcAft>
              <a:buClr>
                <a:schemeClr val="dk1"/>
              </a:buClr>
              <a:buSzPts val="2800"/>
              <a:buChar char="•"/>
            </a:pPr>
            <a:r>
              <a:rPr lang="en-US"/>
              <a:t>Logis : masuk akal, bisa dibaca dan diterima oleh akal</a:t>
            </a:r>
            <a:endParaRPr/>
          </a:p>
          <a:p>
            <a:pPr indent="-228600" lvl="0" marL="228600" rtl="0" algn="l">
              <a:lnSpc>
                <a:spcPct val="90000"/>
              </a:lnSpc>
              <a:spcBef>
                <a:spcPts val="1000"/>
              </a:spcBef>
              <a:spcAft>
                <a:spcPts val="0"/>
              </a:spcAft>
              <a:buClr>
                <a:schemeClr val="dk1"/>
              </a:buClr>
              <a:buSzPts val="2800"/>
              <a:buChar char="•"/>
            </a:pPr>
            <a:r>
              <a:rPr lang="en-US"/>
              <a:t>Bisa dinilai benar salahnya</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Rounded"/>
              <a:buNone/>
            </a:pPr>
            <a:r>
              <a:rPr b="1" lang="en-US">
                <a:latin typeface="Arial Rounded"/>
                <a:ea typeface="Arial Rounded"/>
                <a:cs typeface="Arial Rounded"/>
                <a:sym typeface="Arial Rounded"/>
              </a:rPr>
              <a:t>Algoritma…(2)</a:t>
            </a:r>
            <a:endParaRPr/>
          </a:p>
        </p:txBody>
      </p:sp>
      <p:sp>
        <p:nvSpPr>
          <p:cNvPr id="222" name="Google Shape;222;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latin typeface="Bell MT"/>
                <a:ea typeface="Bell MT"/>
                <a:cs typeface="Bell MT"/>
                <a:sym typeface="Bell MT"/>
              </a:rPr>
              <a:t>Pemrograman komputer</a:t>
            </a:r>
            <a:endParaRPr b="1">
              <a:latin typeface="Bell MT"/>
              <a:ea typeface="Bell MT"/>
              <a:cs typeface="Bell MT"/>
              <a:sym typeface="Bell MT"/>
            </a:endParaRPr>
          </a:p>
          <a:p>
            <a:pPr indent="-228600" lvl="1" marL="685800" rtl="0" algn="l">
              <a:lnSpc>
                <a:spcPct val="90000"/>
              </a:lnSpc>
              <a:spcBef>
                <a:spcPts val="500"/>
              </a:spcBef>
              <a:spcAft>
                <a:spcPts val="0"/>
              </a:spcAft>
              <a:buClr>
                <a:schemeClr val="dk1"/>
              </a:buClr>
              <a:buSzPts val="2400"/>
              <a:buChar char="•"/>
            </a:pPr>
            <a:r>
              <a:rPr lang="en-US">
                <a:latin typeface="Calibri"/>
                <a:ea typeface="Calibri"/>
                <a:cs typeface="Calibri"/>
                <a:sym typeface="Calibri"/>
              </a:rPr>
              <a:t>Algoritma diimplementasikan dalam </a:t>
            </a:r>
            <a:r>
              <a:rPr b="1" lang="en-US">
                <a:latin typeface="Calibri"/>
                <a:ea typeface="Calibri"/>
                <a:cs typeface="Calibri"/>
                <a:sym typeface="Calibri"/>
              </a:rPr>
              <a:t>program komputer</a:t>
            </a:r>
            <a:endParaRPr b="1">
              <a:latin typeface="Calibri"/>
              <a:ea typeface="Calibri"/>
              <a:cs typeface="Calibri"/>
              <a:sym typeface="Calibri"/>
            </a:endParaRPr>
          </a:p>
          <a:p>
            <a:pPr indent="-228600" lvl="1" marL="685800" rtl="0" algn="l">
              <a:lnSpc>
                <a:spcPct val="90000"/>
              </a:lnSpc>
              <a:spcBef>
                <a:spcPts val="500"/>
              </a:spcBef>
              <a:spcAft>
                <a:spcPts val="0"/>
              </a:spcAft>
              <a:buClr>
                <a:schemeClr val="dk1"/>
              </a:buClr>
              <a:buSzPts val="2400"/>
              <a:buChar char="•"/>
            </a:pPr>
            <a:r>
              <a:rPr lang="en-US">
                <a:latin typeface="Calibri"/>
                <a:ea typeface="Calibri"/>
                <a:cs typeface="Calibri"/>
                <a:sym typeface="Calibri"/>
              </a:rPr>
              <a:t>Satu set instruksi atau langkah-langkah yang dijalankan dengan komputer untuk menyelesaikan suatu masalah.</a:t>
            </a:r>
            <a:endParaRPr/>
          </a:p>
          <a:p>
            <a:pPr indent="-50800" lvl="0" marL="228600" rtl="0" algn="l">
              <a:lnSpc>
                <a:spcPct val="90000"/>
              </a:lnSpc>
              <a:spcBef>
                <a:spcPts val="1000"/>
              </a:spcBef>
              <a:spcAft>
                <a:spcPts val="0"/>
              </a:spcAft>
              <a:buClr>
                <a:schemeClr val="dk1"/>
              </a:buClr>
              <a:buSzPts val="2800"/>
              <a:buNone/>
            </a:pPr>
            <a:r>
              <a:t/>
            </a:r>
            <a:endParaRPr/>
          </a:p>
        </p:txBody>
      </p:sp>
      <p:grpSp>
        <p:nvGrpSpPr>
          <p:cNvPr id="223" name="Google Shape;223;p12"/>
          <p:cNvGrpSpPr/>
          <p:nvPr/>
        </p:nvGrpSpPr>
        <p:grpSpPr>
          <a:xfrm>
            <a:off x="1577260" y="3898743"/>
            <a:ext cx="8733896" cy="2267515"/>
            <a:chOff x="214313" y="2116138"/>
            <a:chExt cx="7816900" cy="2705924"/>
          </a:xfrm>
        </p:grpSpPr>
        <p:sp>
          <p:nvSpPr>
            <p:cNvPr id="224" name="Google Shape;224;p12"/>
            <p:cNvSpPr txBox="1"/>
            <p:nvPr/>
          </p:nvSpPr>
          <p:spPr>
            <a:xfrm>
              <a:off x="214313" y="2116138"/>
              <a:ext cx="2133600" cy="771295"/>
            </a:xfrm>
            <a:prstGeom prst="rect">
              <a:avLst/>
            </a:prstGeom>
            <a:solidFill>
              <a:srgbClr val="222A35">
                <a:alpha val="49804"/>
              </a:srgbClr>
            </a:solidFill>
            <a:ln cap="flat" cmpd="sng" w="38100">
              <a:solidFill>
                <a:schemeClr val="lt1"/>
              </a:solidFill>
              <a:prstDash val="solid"/>
              <a:miter lim="8000"/>
              <a:headEnd len="sm" w="sm" type="none"/>
              <a:tailEnd len="sm" w="sm" type="none"/>
            </a:ln>
          </p:spPr>
          <p:txBody>
            <a:bodyPr anchorCtr="0" anchor="t" bIns="137150" lIns="91425" spcFirstLastPara="1" rIns="91425" wrap="square" tIns="13715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Calibri"/>
                  <a:ea typeface="Calibri"/>
                  <a:cs typeface="Calibri"/>
                  <a:sym typeface="Calibri"/>
                </a:rPr>
                <a:t>MASALAH / IDE</a:t>
              </a:r>
              <a:endParaRPr b="0" i="0" sz="1400" u="none" cap="none" strike="noStrike">
                <a:solidFill>
                  <a:srgbClr val="000000"/>
                </a:solidFill>
                <a:latin typeface="Arial"/>
                <a:ea typeface="Arial"/>
                <a:cs typeface="Arial"/>
                <a:sym typeface="Arial"/>
              </a:endParaRPr>
            </a:p>
          </p:txBody>
        </p:sp>
        <p:sp>
          <p:nvSpPr>
            <p:cNvPr id="225" name="Google Shape;225;p12"/>
            <p:cNvSpPr txBox="1"/>
            <p:nvPr/>
          </p:nvSpPr>
          <p:spPr>
            <a:xfrm>
              <a:off x="3033712" y="2160586"/>
              <a:ext cx="2254300" cy="771295"/>
            </a:xfrm>
            <a:prstGeom prst="rect">
              <a:avLst/>
            </a:prstGeom>
            <a:solidFill>
              <a:srgbClr val="222A35">
                <a:alpha val="49804"/>
              </a:srgbClr>
            </a:solidFill>
            <a:ln cap="flat" cmpd="sng" w="38100">
              <a:solidFill>
                <a:schemeClr val="lt1"/>
              </a:solidFill>
              <a:prstDash val="solid"/>
              <a:miter lim="8000"/>
              <a:headEnd len="sm" w="sm" type="none"/>
              <a:tailEnd len="sm" w="sm" type="none"/>
            </a:ln>
          </p:spPr>
          <p:txBody>
            <a:bodyPr anchorCtr="0" anchor="t" bIns="137150" lIns="91425" spcFirstLastPara="1" rIns="91425" wrap="square" tIns="13715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Calibri"/>
                  <a:ea typeface="Calibri"/>
                  <a:cs typeface="Calibri"/>
                  <a:sym typeface="Calibri"/>
                </a:rPr>
                <a:t>PEMECAHAN</a:t>
              </a:r>
              <a:endParaRPr b="0" i="0" sz="1400" u="none" cap="none" strike="noStrike">
                <a:solidFill>
                  <a:srgbClr val="000000"/>
                </a:solidFill>
                <a:latin typeface="Arial"/>
                <a:ea typeface="Arial"/>
                <a:cs typeface="Arial"/>
                <a:sym typeface="Arial"/>
              </a:endParaRPr>
            </a:p>
          </p:txBody>
        </p:sp>
        <p:sp>
          <p:nvSpPr>
            <p:cNvPr id="226" name="Google Shape;226;p12"/>
            <p:cNvSpPr txBox="1"/>
            <p:nvPr/>
          </p:nvSpPr>
          <p:spPr>
            <a:xfrm>
              <a:off x="5973813" y="2160588"/>
              <a:ext cx="2057400" cy="771295"/>
            </a:xfrm>
            <a:prstGeom prst="rect">
              <a:avLst/>
            </a:prstGeom>
            <a:solidFill>
              <a:srgbClr val="171616">
                <a:alpha val="49804"/>
              </a:srgbClr>
            </a:solidFill>
            <a:ln cap="flat" cmpd="sng" w="38100">
              <a:solidFill>
                <a:schemeClr val="lt1"/>
              </a:solidFill>
              <a:prstDash val="solid"/>
              <a:miter lim="8000"/>
              <a:headEnd len="sm" w="sm" type="none"/>
              <a:tailEnd len="sm" w="sm" type="none"/>
            </a:ln>
          </p:spPr>
          <p:txBody>
            <a:bodyPr anchorCtr="0" anchor="t" bIns="137150" lIns="91425" spcFirstLastPara="1" rIns="91425" wrap="square" tIns="13715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Calibri"/>
                  <a:ea typeface="Calibri"/>
                  <a:cs typeface="Calibri"/>
                  <a:sym typeface="Calibri"/>
                </a:rPr>
                <a:t>SOLUSI / HASIL</a:t>
              </a:r>
              <a:endParaRPr b="0" i="0" sz="1400" u="none" cap="none" strike="noStrike">
                <a:solidFill>
                  <a:srgbClr val="000000"/>
                </a:solidFill>
                <a:latin typeface="Arial"/>
                <a:ea typeface="Arial"/>
                <a:cs typeface="Arial"/>
                <a:sym typeface="Arial"/>
              </a:endParaRPr>
            </a:p>
          </p:txBody>
        </p:sp>
        <p:sp>
          <p:nvSpPr>
            <p:cNvPr id="227" name="Google Shape;227;p12"/>
            <p:cNvSpPr txBox="1"/>
            <p:nvPr/>
          </p:nvSpPr>
          <p:spPr>
            <a:xfrm>
              <a:off x="446720" y="4271137"/>
              <a:ext cx="1775462" cy="550925"/>
            </a:xfrm>
            <a:prstGeom prst="rect">
              <a:avLst/>
            </a:prstGeom>
            <a:solidFill>
              <a:srgbClr val="C4E0B2"/>
            </a:solidFill>
            <a:ln cap="flat" cmpd="sng" w="9525">
              <a:solidFill>
                <a:schemeClr val="lt1"/>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002060"/>
                  </a:solidFill>
                  <a:latin typeface="Calibri"/>
                  <a:ea typeface="Calibri"/>
                  <a:cs typeface="Calibri"/>
                  <a:sym typeface="Calibri"/>
                </a:rPr>
                <a:t>Algoritma</a:t>
              </a:r>
              <a:endParaRPr b="1" i="0" sz="2400" u="none" cap="none" strike="noStrike">
                <a:solidFill>
                  <a:srgbClr val="002060"/>
                </a:solidFill>
                <a:latin typeface="Calibri"/>
                <a:ea typeface="Calibri"/>
                <a:cs typeface="Calibri"/>
                <a:sym typeface="Calibri"/>
              </a:endParaRPr>
            </a:p>
          </p:txBody>
        </p:sp>
        <p:sp>
          <p:nvSpPr>
            <p:cNvPr id="228" name="Google Shape;228;p12"/>
            <p:cNvSpPr txBox="1"/>
            <p:nvPr/>
          </p:nvSpPr>
          <p:spPr>
            <a:xfrm>
              <a:off x="3186113" y="4165600"/>
              <a:ext cx="1600200" cy="550925"/>
            </a:xfrm>
            <a:prstGeom prst="rect">
              <a:avLst/>
            </a:prstGeom>
            <a:solidFill>
              <a:schemeClr val="accent2"/>
            </a:solidFill>
            <a:ln cap="flat" cmpd="sng" w="9525">
              <a:solidFill>
                <a:schemeClr val="dk1"/>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Calibri"/>
                  <a:ea typeface="Calibri"/>
                  <a:cs typeface="Calibri"/>
                  <a:sym typeface="Calibri"/>
                </a:rPr>
                <a:t>Source Code</a:t>
              </a:r>
              <a:endParaRPr b="0" i="0" sz="1400" u="none" cap="none" strike="noStrike">
                <a:solidFill>
                  <a:srgbClr val="000000"/>
                </a:solidFill>
                <a:latin typeface="Arial"/>
                <a:ea typeface="Arial"/>
                <a:cs typeface="Arial"/>
                <a:sym typeface="Arial"/>
              </a:endParaRPr>
            </a:p>
          </p:txBody>
        </p:sp>
        <p:sp>
          <p:nvSpPr>
            <p:cNvPr id="229" name="Google Shape;229;p12"/>
            <p:cNvSpPr txBox="1"/>
            <p:nvPr/>
          </p:nvSpPr>
          <p:spPr>
            <a:xfrm>
              <a:off x="5624512" y="4165600"/>
              <a:ext cx="2406700" cy="550925"/>
            </a:xfrm>
            <a:prstGeom prst="rect">
              <a:avLst/>
            </a:prstGeom>
            <a:solidFill>
              <a:schemeClr val="accent2"/>
            </a:solidFill>
            <a:ln cap="flat" cmpd="sng" w="9525">
              <a:solidFill>
                <a:schemeClr val="dk1"/>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Calibri"/>
                  <a:ea typeface="Calibri"/>
                  <a:cs typeface="Calibri"/>
                  <a:sym typeface="Calibri"/>
                </a:rPr>
                <a:t>Executable Code</a:t>
              </a:r>
              <a:endParaRPr b="0" i="0" sz="1400" u="none" cap="none" strike="noStrike">
                <a:solidFill>
                  <a:srgbClr val="000000"/>
                </a:solidFill>
                <a:latin typeface="Arial"/>
                <a:ea typeface="Arial"/>
                <a:cs typeface="Arial"/>
                <a:sym typeface="Arial"/>
              </a:endParaRPr>
            </a:p>
          </p:txBody>
        </p:sp>
        <p:sp>
          <p:nvSpPr>
            <p:cNvPr id="230" name="Google Shape;230;p12"/>
            <p:cNvSpPr/>
            <p:nvPr/>
          </p:nvSpPr>
          <p:spPr>
            <a:xfrm>
              <a:off x="2424113" y="2365375"/>
              <a:ext cx="533400" cy="152400"/>
            </a:xfrm>
            <a:prstGeom prst="rightArrow">
              <a:avLst>
                <a:gd fmla="val 50000" name="adj1"/>
                <a:gd fmla="val 87500" name="adj2"/>
              </a:avLst>
            </a:prstGeom>
            <a:solidFill>
              <a:schemeClr val="accent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lt1"/>
                </a:solidFill>
                <a:latin typeface="Calibri"/>
                <a:ea typeface="Calibri"/>
                <a:cs typeface="Calibri"/>
                <a:sym typeface="Calibri"/>
              </a:endParaRPr>
            </a:p>
          </p:txBody>
        </p:sp>
        <p:sp>
          <p:nvSpPr>
            <p:cNvPr id="231" name="Google Shape;231;p12"/>
            <p:cNvSpPr/>
            <p:nvPr/>
          </p:nvSpPr>
          <p:spPr>
            <a:xfrm>
              <a:off x="5440411" y="2508809"/>
              <a:ext cx="533400" cy="152399"/>
            </a:xfrm>
            <a:prstGeom prst="rightArrow">
              <a:avLst>
                <a:gd fmla="val 50000" name="adj1"/>
                <a:gd fmla="val 87500" name="adj2"/>
              </a:avLst>
            </a:prstGeom>
            <a:solidFill>
              <a:schemeClr val="accent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lt1"/>
                </a:solidFill>
                <a:latin typeface="Calibri"/>
                <a:ea typeface="Calibri"/>
                <a:cs typeface="Calibri"/>
                <a:sym typeface="Calibri"/>
              </a:endParaRPr>
            </a:p>
          </p:txBody>
        </p:sp>
        <p:sp>
          <p:nvSpPr>
            <p:cNvPr id="232" name="Google Shape;232;p12"/>
            <p:cNvSpPr/>
            <p:nvPr/>
          </p:nvSpPr>
          <p:spPr>
            <a:xfrm>
              <a:off x="2347913" y="4470400"/>
              <a:ext cx="609600" cy="152400"/>
            </a:xfrm>
            <a:prstGeom prst="rightArrow">
              <a:avLst>
                <a:gd fmla="val 50000" name="adj1"/>
                <a:gd fmla="val 100000" name="adj2"/>
              </a:avLst>
            </a:prstGeom>
            <a:solidFill>
              <a:schemeClr val="accent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Calibri"/>
                <a:ea typeface="Calibri"/>
                <a:cs typeface="Calibri"/>
                <a:sym typeface="Calibri"/>
              </a:endParaRPr>
            </a:p>
          </p:txBody>
        </p:sp>
        <p:sp>
          <p:nvSpPr>
            <p:cNvPr id="233" name="Google Shape;233;p12"/>
            <p:cNvSpPr/>
            <p:nvPr/>
          </p:nvSpPr>
          <p:spPr>
            <a:xfrm>
              <a:off x="4862513" y="4470400"/>
              <a:ext cx="609600" cy="152400"/>
            </a:xfrm>
            <a:prstGeom prst="rightArrow">
              <a:avLst>
                <a:gd fmla="val 50000" name="adj1"/>
                <a:gd fmla="val 100000" name="adj2"/>
              </a:avLst>
            </a:prstGeom>
            <a:solidFill>
              <a:schemeClr val="accent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lt1"/>
                </a:solidFill>
                <a:latin typeface="Calibri"/>
                <a:ea typeface="Calibri"/>
                <a:cs typeface="Calibri"/>
                <a:sym typeface="Calibri"/>
              </a:endParaRPr>
            </a:p>
          </p:txBody>
        </p:sp>
        <p:sp>
          <p:nvSpPr>
            <p:cNvPr id="234" name="Google Shape;234;p12"/>
            <p:cNvSpPr/>
            <p:nvPr/>
          </p:nvSpPr>
          <p:spPr>
            <a:xfrm rot="5400000">
              <a:off x="3399631" y="281782"/>
              <a:ext cx="1173163" cy="6324600"/>
            </a:xfrm>
            <a:prstGeom prst="leftBrace">
              <a:avLst>
                <a:gd fmla="val 158437" name="adj1"/>
                <a:gd fmla="val 50000" name="adj2"/>
              </a:avLst>
            </a:prstGeom>
            <a:no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3"/>
                                        </p:tgtEl>
                                        <p:attrNameLst>
                                          <p:attrName>style.visibility</p:attrName>
                                        </p:attrNameLst>
                                      </p:cBhvr>
                                      <p:to>
                                        <p:strVal val="visible"/>
                                      </p:to>
                                    </p:set>
                                    <p:anim calcmode="lin" valueType="num">
                                      <p:cBhvr additive="base">
                                        <p:cTn dur="500"/>
                                        <p:tgtEl>
                                          <p:spTgt spid="223"/>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Rounded"/>
              <a:buNone/>
            </a:pPr>
            <a:r>
              <a:rPr b="1" lang="en-US">
                <a:latin typeface="Arial Rounded"/>
                <a:ea typeface="Arial Rounded"/>
                <a:cs typeface="Arial Rounded"/>
                <a:sym typeface="Arial Rounded"/>
              </a:rPr>
              <a:t>Penilaian Algoritma</a:t>
            </a:r>
            <a:endParaRPr b="1">
              <a:latin typeface="Arial Rounded"/>
              <a:ea typeface="Arial Rounded"/>
              <a:cs typeface="Arial Rounded"/>
              <a:sym typeface="Arial Rounded"/>
            </a:endParaRPr>
          </a:p>
        </p:txBody>
      </p:sp>
      <p:sp>
        <p:nvSpPr>
          <p:cNvPr id="240" name="Google Shape;240;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Hasilnya harus benar, sesuai dengan yang diinginkan</a:t>
            </a:r>
            <a:endParaRPr/>
          </a:p>
          <a:p>
            <a:pPr indent="-228600" lvl="0" marL="228600" rtl="0" algn="l">
              <a:lnSpc>
                <a:spcPct val="90000"/>
              </a:lnSpc>
              <a:spcBef>
                <a:spcPts val="1000"/>
              </a:spcBef>
              <a:spcAft>
                <a:spcPts val="0"/>
              </a:spcAft>
              <a:buClr>
                <a:schemeClr val="dk1"/>
              </a:buClr>
              <a:buSzPts val="2800"/>
              <a:buChar char="•"/>
            </a:pPr>
            <a:r>
              <a:rPr lang="en-US"/>
              <a:t>Seberapa baik hasil dari algoritma tersebut</a:t>
            </a:r>
            <a:endParaRPr/>
          </a:p>
          <a:p>
            <a:pPr indent="-228600" lvl="0" marL="228600" rtl="0" algn="l">
              <a:lnSpc>
                <a:spcPct val="90000"/>
              </a:lnSpc>
              <a:spcBef>
                <a:spcPts val="1000"/>
              </a:spcBef>
              <a:spcAft>
                <a:spcPts val="0"/>
              </a:spcAft>
              <a:buClr>
                <a:schemeClr val="dk1"/>
              </a:buClr>
              <a:buSzPts val="2800"/>
              <a:buChar char="•"/>
            </a:pPr>
            <a:r>
              <a:rPr lang="en-US"/>
              <a:t>Efisiensi algoritma 🡪 waktu dan memori</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
        <p:nvSpPr>
          <p:cNvPr id="241" name="Google Shape;241;p13"/>
          <p:cNvSpPr txBox="1"/>
          <p:nvPr/>
        </p:nvSpPr>
        <p:spPr>
          <a:xfrm>
            <a:off x="1142157" y="3804362"/>
            <a:ext cx="9498255" cy="1938992"/>
          </a:xfrm>
          <a:prstGeom prst="rect">
            <a:avLst/>
          </a:prstGeom>
          <a:solidFill>
            <a:srgbClr val="E1EFD8"/>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Dimungkinkan antara orang satu dengan yang lain, dari </a:t>
            </a:r>
            <a:r>
              <a:rPr b="1" i="0" lang="en-US" sz="2400" u="none" cap="none" strike="noStrike">
                <a:solidFill>
                  <a:schemeClr val="dk1"/>
                </a:solidFill>
                <a:latin typeface="Calibri"/>
                <a:ea typeface="Calibri"/>
                <a:cs typeface="Calibri"/>
                <a:sym typeface="Calibri"/>
              </a:rPr>
              <a:t>masalah yang sama</a:t>
            </a:r>
            <a:r>
              <a:rPr b="0" i="0" lang="en-US" sz="2400" u="none" cap="none" strike="noStrike">
                <a:solidFill>
                  <a:schemeClr val="dk1"/>
                </a:solidFill>
                <a:latin typeface="Calibri"/>
                <a:ea typeface="Calibri"/>
                <a:cs typeface="Calibri"/>
                <a:sym typeface="Calibri"/>
              </a:rPr>
              <a:t>, akan mendapatkan </a:t>
            </a:r>
            <a:r>
              <a:rPr b="1" i="0" lang="en-US" sz="2400" u="none" cap="none" strike="noStrike">
                <a:solidFill>
                  <a:schemeClr val="dk1"/>
                </a:solidFill>
                <a:latin typeface="Calibri"/>
                <a:ea typeface="Calibri"/>
                <a:cs typeface="Calibri"/>
                <a:sym typeface="Calibri"/>
              </a:rPr>
              <a:t>algoritma yang berbeda</a:t>
            </a:r>
            <a:r>
              <a:rPr b="0" i="0" lang="en-US" sz="2400" u="none" cap="none" strike="noStrike">
                <a:solidFill>
                  <a:schemeClr val="dk1"/>
                </a:solidFill>
                <a:latin typeface="Calibri"/>
                <a:ea typeface="Calibri"/>
                <a:cs typeface="Calibri"/>
                <a:sym typeface="Calibri"/>
              </a:rPr>
              <a:t>. Semuanya dianggap benar, asal hasil yang dikeluarkan sesuai dengan harapan. Namun demikian, diantara perbedaan algoritma tersebut, bisa dipilih mana yang lebih </a:t>
            </a:r>
            <a:r>
              <a:rPr b="1" i="0" lang="en-US" sz="2400" u="none" cap="none" strike="noStrike">
                <a:solidFill>
                  <a:schemeClr val="dk1"/>
                </a:solidFill>
                <a:latin typeface="Calibri"/>
                <a:ea typeface="Calibri"/>
                <a:cs typeface="Calibri"/>
                <a:sym typeface="Calibri"/>
              </a:rPr>
              <a:t>efisien</a:t>
            </a:r>
            <a:endParaRPr b="1" i="0" sz="24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1"/>
                                        </p:tgtEl>
                                        <p:attrNameLst>
                                          <p:attrName>style.visibility</p:attrName>
                                        </p:attrNameLst>
                                      </p:cBhvr>
                                      <p:to>
                                        <p:strVal val="visible"/>
                                      </p:to>
                                    </p:set>
                                    <p:anim calcmode="lin" valueType="num">
                                      <p:cBhvr additive="base">
                                        <p:cTn dur="500"/>
                                        <p:tgtEl>
                                          <p:spTgt spid="24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Rounded"/>
              <a:buNone/>
            </a:pPr>
            <a:r>
              <a:rPr b="1" lang="en-US">
                <a:latin typeface="Arial Rounded"/>
                <a:ea typeface="Arial Rounded"/>
                <a:cs typeface="Arial Rounded"/>
                <a:sym typeface="Arial Rounded"/>
              </a:rPr>
              <a:t>Struktur Dasar Algoritma</a:t>
            </a:r>
            <a:endParaRPr b="1">
              <a:latin typeface="Arial Rounded"/>
              <a:ea typeface="Arial Rounded"/>
              <a:cs typeface="Arial Rounded"/>
              <a:sym typeface="Arial Rounded"/>
            </a:endParaRPr>
          </a:p>
        </p:txBody>
      </p:sp>
      <p:sp>
        <p:nvSpPr>
          <p:cNvPr id="247" name="Google Shape;247;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14350" lvl="0" marL="514350" rtl="0" algn="l">
              <a:lnSpc>
                <a:spcPct val="90000"/>
              </a:lnSpc>
              <a:spcBef>
                <a:spcPts val="0"/>
              </a:spcBef>
              <a:spcAft>
                <a:spcPts val="0"/>
              </a:spcAft>
              <a:buClr>
                <a:schemeClr val="dk1"/>
              </a:buClr>
              <a:buSzPts val="2800"/>
              <a:buFont typeface="Calibri"/>
              <a:buAutoNum type="arabicPeriod"/>
            </a:pPr>
            <a:r>
              <a:rPr b="1" lang="en-US"/>
              <a:t>Struktur runtutan/sekuensial </a:t>
            </a:r>
            <a:r>
              <a:rPr lang="en-US"/>
              <a:t>:</a:t>
            </a:r>
            <a:endParaRPr/>
          </a:p>
          <a:p>
            <a:pPr indent="0" lvl="1" marL="515938" rtl="0" algn="l">
              <a:lnSpc>
                <a:spcPct val="90000"/>
              </a:lnSpc>
              <a:spcBef>
                <a:spcPts val="500"/>
              </a:spcBef>
              <a:spcAft>
                <a:spcPts val="0"/>
              </a:spcAft>
              <a:buClr>
                <a:schemeClr val="dk1"/>
              </a:buClr>
              <a:buSzPts val="2400"/>
              <a:buNone/>
            </a:pPr>
            <a:r>
              <a:rPr lang="en-US"/>
              <a:t>  Digunakan untuk program yang pernyataannya sequential atau urutan. </a:t>
            </a:r>
            <a:endParaRPr/>
          </a:p>
          <a:p>
            <a:pPr indent="-514350" lvl="0" marL="514350" rtl="0" algn="l">
              <a:lnSpc>
                <a:spcPct val="90000"/>
              </a:lnSpc>
              <a:spcBef>
                <a:spcPts val="1000"/>
              </a:spcBef>
              <a:spcAft>
                <a:spcPts val="0"/>
              </a:spcAft>
              <a:buClr>
                <a:schemeClr val="dk1"/>
              </a:buClr>
              <a:buSzPts val="2800"/>
              <a:buFont typeface="Calibri"/>
              <a:buAutoNum type="arabicPeriod"/>
            </a:pPr>
            <a:r>
              <a:rPr b="1" lang="en-US"/>
              <a:t>Struktur pemilihan</a:t>
            </a:r>
            <a:endParaRPr b="1"/>
          </a:p>
          <a:p>
            <a:pPr indent="0" lvl="1" marL="623888" rtl="0" algn="l">
              <a:lnSpc>
                <a:spcPct val="90000"/>
              </a:lnSpc>
              <a:spcBef>
                <a:spcPts val="500"/>
              </a:spcBef>
              <a:spcAft>
                <a:spcPts val="0"/>
              </a:spcAft>
              <a:buClr>
                <a:schemeClr val="dk1"/>
              </a:buClr>
              <a:buSzPts val="2400"/>
              <a:buNone/>
            </a:pPr>
            <a:r>
              <a:rPr lang="en-US"/>
              <a:t>Digunakan untuk program yang menggunakan pemilihan atau penyeleksian kondisi. </a:t>
            </a:r>
            <a:endParaRPr/>
          </a:p>
          <a:p>
            <a:pPr indent="-514350" lvl="0" marL="514350" rtl="0" algn="l">
              <a:lnSpc>
                <a:spcPct val="90000"/>
              </a:lnSpc>
              <a:spcBef>
                <a:spcPts val="1000"/>
              </a:spcBef>
              <a:spcAft>
                <a:spcPts val="0"/>
              </a:spcAft>
              <a:buClr>
                <a:schemeClr val="dk1"/>
              </a:buClr>
              <a:buSzPts val="2800"/>
              <a:buFont typeface="Calibri"/>
              <a:buAutoNum type="arabicPeriod"/>
            </a:pPr>
            <a:r>
              <a:rPr b="1" lang="en-US"/>
              <a:t>Struktur perulangan</a:t>
            </a:r>
            <a:endParaRPr b="1"/>
          </a:p>
          <a:p>
            <a:pPr indent="0" lvl="1" marL="623888" rtl="0" algn="l">
              <a:lnSpc>
                <a:spcPct val="90000"/>
              </a:lnSpc>
              <a:spcBef>
                <a:spcPts val="500"/>
              </a:spcBef>
              <a:spcAft>
                <a:spcPts val="0"/>
              </a:spcAft>
              <a:buClr>
                <a:schemeClr val="dk1"/>
              </a:buClr>
              <a:buSzPts val="2400"/>
              <a:buNone/>
            </a:pPr>
            <a:r>
              <a:rPr lang="en-US"/>
              <a:t>Digunakan untuk program yang pernyataannya akan dieksekusi berulang-ulang.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Rounded"/>
              <a:buNone/>
            </a:pPr>
            <a:r>
              <a:rPr b="1" lang="en-US">
                <a:latin typeface="Arial Rounded"/>
                <a:ea typeface="Arial Rounded"/>
                <a:cs typeface="Arial Rounded"/>
                <a:sym typeface="Arial Rounded"/>
              </a:rPr>
              <a:t>Kriteria Algoritma</a:t>
            </a:r>
            <a:endParaRPr b="1">
              <a:latin typeface="Arial Rounded"/>
              <a:ea typeface="Arial Rounded"/>
              <a:cs typeface="Arial Rounded"/>
              <a:sym typeface="Arial Rounded"/>
            </a:endParaRPr>
          </a:p>
        </p:txBody>
      </p:sp>
      <p:sp>
        <p:nvSpPr>
          <p:cNvPr id="253" name="Google Shape;253;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lang="en-US"/>
              <a:t>Input</a:t>
            </a:r>
            <a:endParaRPr/>
          </a:p>
          <a:p>
            <a:pPr indent="-228600" lvl="1" marL="685800" rtl="0" algn="l">
              <a:lnSpc>
                <a:spcPct val="90000"/>
              </a:lnSpc>
              <a:spcBef>
                <a:spcPts val="500"/>
              </a:spcBef>
              <a:spcAft>
                <a:spcPts val="0"/>
              </a:spcAft>
              <a:buClr>
                <a:schemeClr val="dk1"/>
              </a:buClr>
              <a:buSzPct val="100000"/>
              <a:buChar char="•"/>
            </a:pPr>
            <a:r>
              <a:rPr lang="en-US"/>
              <a:t>Terdapat inputan bernilai nol ataupun lebih banyak sebagai sumber yang berasal dari luar  program.</a:t>
            </a:r>
            <a:endParaRPr/>
          </a:p>
          <a:p>
            <a:pPr indent="-228600" lvl="0" marL="228600" rtl="0" algn="l">
              <a:lnSpc>
                <a:spcPct val="90000"/>
              </a:lnSpc>
              <a:spcBef>
                <a:spcPts val="1000"/>
              </a:spcBef>
              <a:spcAft>
                <a:spcPts val="0"/>
              </a:spcAft>
              <a:buClr>
                <a:schemeClr val="dk1"/>
              </a:buClr>
              <a:buSzPct val="100000"/>
              <a:buChar char="•"/>
            </a:pPr>
            <a:r>
              <a:rPr lang="en-US"/>
              <a:t>Output</a:t>
            </a:r>
            <a:endParaRPr/>
          </a:p>
          <a:p>
            <a:pPr indent="-228600" lvl="1" marL="685800" rtl="0" algn="l">
              <a:lnSpc>
                <a:spcPct val="90000"/>
              </a:lnSpc>
              <a:spcBef>
                <a:spcPts val="500"/>
              </a:spcBef>
              <a:spcAft>
                <a:spcPts val="0"/>
              </a:spcAft>
              <a:buClr>
                <a:schemeClr val="dk1"/>
              </a:buClr>
              <a:buSzPct val="100000"/>
              <a:buChar char="•"/>
            </a:pPr>
            <a:r>
              <a:rPr lang="en-US"/>
              <a:t>Output minimal terdiri dari satu kuantitas hasil.</a:t>
            </a:r>
            <a:endParaRPr/>
          </a:p>
          <a:p>
            <a:pPr indent="-228600" lvl="0" marL="228600" rtl="0" algn="l">
              <a:lnSpc>
                <a:spcPct val="90000"/>
              </a:lnSpc>
              <a:spcBef>
                <a:spcPts val="1000"/>
              </a:spcBef>
              <a:spcAft>
                <a:spcPts val="0"/>
              </a:spcAft>
              <a:buClr>
                <a:schemeClr val="dk1"/>
              </a:buClr>
              <a:buSzPct val="100000"/>
              <a:buChar char="•"/>
            </a:pPr>
            <a:r>
              <a:rPr i="1" lang="en-US"/>
              <a:t>Definiteness</a:t>
            </a:r>
            <a:endParaRPr/>
          </a:p>
          <a:p>
            <a:pPr indent="-228600" lvl="1" marL="685800" rtl="0" algn="l">
              <a:lnSpc>
                <a:spcPct val="90000"/>
              </a:lnSpc>
              <a:spcBef>
                <a:spcPts val="500"/>
              </a:spcBef>
              <a:spcAft>
                <a:spcPts val="0"/>
              </a:spcAft>
              <a:buClr>
                <a:schemeClr val="dk1"/>
              </a:buClr>
              <a:buSzPct val="100000"/>
              <a:buChar char="•"/>
            </a:pPr>
            <a:r>
              <a:rPr lang="en-US"/>
              <a:t>Setiap instruksi yang diberikan harus jelas dan tidak ambigu.</a:t>
            </a:r>
            <a:endParaRPr/>
          </a:p>
          <a:p>
            <a:pPr indent="-228600" lvl="0" marL="228600" rtl="0" algn="l">
              <a:lnSpc>
                <a:spcPct val="90000"/>
              </a:lnSpc>
              <a:spcBef>
                <a:spcPts val="1000"/>
              </a:spcBef>
              <a:spcAft>
                <a:spcPts val="0"/>
              </a:spcAft>
              <a:buClr>
                <a:schemeClr val="dk1"/>
              </a:buClr>
              <a:buSzPct val="100000"/>
              <a:buChar char="•"/>
            </a:pPr>
            <a:r>
              <a:rPr i="1" lang="en-US"/>
              <a:t>Finiteness</a:t>
            </a:r>
            <a:endParaRPr/>
          </a:p>
          <a:p>
            <a:pPr indent="-228600" lvl="1" marL="685800" rtl="0" algn="l">
              <a:lnSpc>
                <a:spcPct val="90000"/>
              </a:lnSpc>
              <a:spcBef>
                <a:spcPts val="500"/>
              </a:spcBef>
              <a:spcAft>
                <a:spcPts val="0"/>
              </a:spcAft>
              <a:buClr>
                <a:schemeClr val="dk1"/>
              </a:buClr>
              <a:buSzPct val="100000"/>
              <a:buChar char="•"/>
            </a:pPr>
            <a:r>
              <a:rPr lang="en-US"/>
              <a:t>Jika kumpulan instruksi algoritma ditelusuri, maka tahapan algoritma akan berakhir setelah sejumlah langkah yang terbatas.</a:t>
            </a:r>
            <a:endParaRPr/>
          </a:p>
          <a:p>
            <a:pPr indent="-228600" lvl="0" marL="228600" rtl="0" algn="l">
              <a:lnSpc>
                <a:spcPct val="90000"/>
              </a:lnSpc>
              <a:spcBef>
                <a:spcPts val="1000"/>
              </a:spcBef>
              <a:spcAft>
                <a:spcPts val="0"/>
              </a:spcAft>
              <a:buClr>
                <a:schemeClr val="dk1"/>
              </a:buClr>
              <a:buSzPct val="100000"/>
              <a:buChar char="•"/>
            </a:pPr>
            <a:r>
              <a:rPr i="1" lang="en-US"/>
              <a:t>Effectivenes</a:t>
            </a:r>
            <a:endParaRPr/>
          </a:p>
          <a:p>
            <a:pPr indent="-228600" lvl="1" marL="685800" rtl="0" algn="l">
              <a:lnSpc>
                <a:spcPct val="90000"/>
              </a:lnSpc>
              <a:spcBef>
                <a:spcPts val="500"/>
              </a:spcBef>
              <a:spcAft>
                <a:spcPts val="0"/>
              </a:spcAft>
              <a:buClr>
                <a:schemeClr val="dk1"/>
              </a:buClr>
              <a:buSzPct val="100000"/>
              <a:buChar char="•"/>
            </a:pPr>
            <a:r>
              <a:rPr lang="en-US"/>
              <a:t>Setiap instruksi harus cukup mendasar sehingga mudah untuk dilakukan sesuai dengan kebutuhan</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7" name="Shape 257"/>
        <p:cNvGrpSpPr/>
        <p:nvPr/>
      </p:nvGrpSpPr>
      <p:grpSpPr>
        <a:xfrm>
          <a:off x="0" y="0"/>
          <a:ext cx="0" cy="0"/>
          <a:chOff x="0" y="0"/>
          <a:chExt cx="0" cy="0"/>
        </a:xfrm>
      </p:grpSpPr>
      <p:sp>
        <p:nvSpPr>
          <p:cNvPr id="258" name="Google Shape;258;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Rounded"/>
              <a:buNone/>
            </a:pPr>
            <a:r>
              <a:rPr b="1" lang="en-US">
                <a:latin typeface="Arial Rounded"/>
                <a:ea typeface="Arial Rounded"/>
                <a:cs typeface="Arial Rounded"/>
                <a:sym typeface="Arial Rounded"/>
              </a:rPr>
              <a:t>Contoh Algoritma</a:t>
            </a:r>
            <a:endParaRPr b="1">
              <a:latin typeface="Arial Rounded"/>
              <a:ea typeface="Arial Rounded"/>
              <a:cs typeface="Arial Rounded"/>
              <a:sym typeface="Arial Rounded"/>
            </a:endParaRPr>
          </a:p>
        </p:txBody>
      </p:sp>
      <p:sp>
        <p:nvSpPr>
          <p:cNvPr id="259" name="Google Shape;259;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0" lvl="0" marL="114300" rtl="0" algn="l">
              <a:lnSpc>
                <a:spcPct val="90000"/>
              </a:lnSpc>
              <a:spcBef>
                <a:spcPts val="1000"/>
              </a:spcBef>
              <a:spcAft>
                <a:spcPts val="0"/>
              </a:spcAft>
              <a:buSzPct val="69498"/>
              <a:buNone/>
            </a:pPr>
            <a:r>
              <a:rPr lang="en-US"/>
              <a:t>Masalah : Bagaimana cara membuat segelas teh</a:t>
            </a:r>
            <a:endParaRPr/>
          </a:p>
          <a:p>
            <a:pPr indent="-342900" lvl="0" marL="457200" rtl="0" algn="l">
              <a:lnSpc>
                <a:spcPct val="90000"/>
              </a:lnSpc>
              <a:spcBef>
                <a:spcPts val="1000"/>
              </a:spcBef>
              <a:spcAft>
                <a:spcPts val="0"/>
              </a:spcAft>
              <a:buClr>
                <a:schemeClr val="dk1"/>
              </a:buClr>
              <a:buSzPct val="69498"/>
              <a:buChar char="•"/>
            </a:pPr>
            <a:r>
              <a:rPr lang="en-US"/>
              <a:t>Input : Teh, Air, gula</a:t>
            </a:r>
            <a:endParaRPr/>
          </a:p>
          <a:p>
            <a:pPr indent="-342900" lvl="0" marL="457200" rtl="0" algn="l">
              <a:lnSpc>
                <a:spcPct val="90000"/>
              </a:lnSpc>
              <a:spcBef>
                <a:spcPts val="1000"/>
              </a:spcBef>
              <a:spcAft>
                <a:spcPts val="0"/>
              </a:spcAft>
              <a:buClr>
                <a:schemeClr val="dk1"/>
              </a:buClr>
              <a:buSzPct val="69498"/>
              <a:buChar char="•"/>
            </a:pPr>
            <a:r>
              <a:rPr lang="en-US"/>
              <a:t>Output : Segelas teh</a:t>
            </a:r>
            <a:endParaRPr/>
          </a:p>
          <a:p>
            <a:pPr indent="-342900" lvl="0" marL="457200" rtl="0" algn="l">
              <a:lnSpc>
                <a:spcPct val="90000"/>
              </a:lnSpc>
              <a:spcBef>
                <a:spcPts val="1000"/>
              </a:spcBef>
              <a:spcAft>
                <a:spcPts val="0"/>
              </a:spcAft>
              <a:buClr>
                <a:schemeClr val="dk1"/>
              </a:buClr>
              <a:buSzPct val="69498"/>
              <a:buChar char="•"/>
            </a:pPr>
            <a:r>
              <a:rPr lang="en-US"/>
              <a:t>Data lain : gelas, teko listrik</a:t>
            </a:r>
            <a:endParaRPr/>
          </a:p>
          <a:p>
            <a:pPr indent="-342900" lvl="0" marL="457200" rtl="0" algn="l">
              <a:lnSpc>
                <a:spcPct val="90000"/>
              </a:lnSpc>
              <a:spcBef>
                <a:spcPts val="1000"/>
              </a:spcBef>
              <a:spcAft>
                <a:spcPts val="0"/>
              </a:spcAft>
              <a:buClr>
                <a:schemeClr val="dk1"/>
              </a:buClr>
              <a:buSzPct val="69498"/>
              <a:buChar char="•"/>
            </a:pPr>
            <a:r>
              <a:rPr lang="en-US"/>
              <a:t>Proses</a:t>
            </a:r>
            <a:endParaRPr/>
          </a:p>
          <a:p>
            <a:pPr indent="-342900" lvl="1" marL="914400" rtl="0" algn="l">
              <a:lnSpc>
                <a:spcPct val="90000"/>
              </a:lnSpc>
              <a:spcBef>
                <a:spcPts val="500"/>
              </a:spcBef>
              <a:spcAft>
                <a:spcPts val="0"/>
              </a:spcAft>
              <a:buSzPct val="81081"/>
              <a:buChar char="•"/>
            </a:pPr>
            <a:r>
              <a:rPr lang="en-US"/>
              <a:t>Tuang air ke teko Listrik</a:t>
            </a:r>
            <a:endParaRPr/>
          </a:p>
          <a:p>
            <a:pPr indent="-342900" lvl="1" marL="914400" rtl="0" algn="l">
              <a:lnSpc>
                <a:spcPct val="90000"/>
              </a:lnSpc>
              <a:spcBef>
                <a:spcPts val="500"/>
              </a:spcBef>
              <a:spcAft>
                <a:spcPts val="0"/>
              </a:spcAft>
              <a:buSzPct val="81081"/>
              <a:buChar char="•"/>
            </a:pPr>
            <a:r>
              <a:rPr lang="en-US"/>
              <a:t>Panaskan air menggunakan teko listrik</a:t>
            </a:r>
            <a:endParaRPr/>
          </a:p>
          <a:p>
            <a:pPr indent="-342900" lvl="1" marL="914400" rtl="0" algn="l">
              <a:lnSpc>
                <a:spcPct val="90000"/>
              </a:lnSpc>
              <a:spcBef>
                <a:spcPts val="500"/>
              </a:spcBef>
              <a:spcAft>
                <a:spcPts val="0"/>
              </a:spcAft>
              <a:buSzPct val="81081"/>
              <a:buChar char="•"/>
            </a:pPr>
            <a:r>
              <a:rPr lang="en-US"/>
              <a:t>Masukkan teh ke gelas</a:t>
            </a:r>
            <a:endParaRPr/>
          </a:p>
          <a:p>
            <a:pPr indent="-342900" lvl="1" marL="914400" rtl="0" algn="l">
              <a:lnSpc>
                <a:spcPct val="90000"/>
              </a:lnSpc>
              <a:spcBef>
                <a:spcPts val="500"/>
              </a:spcBef>
              <a:spcAft>
                <a:spcPts val="0"/>
              </a:spcAft>
              <a:buSzPct val="81081"/>
              <a:buChar char="•"/>
            </a:pPr>
            <a:r>
              <a:rPr lang="en-US"/>
              <a:t>Tuang air panas ke gelas</a:t>
            </a:r>
            <a:endParaRPr/>
          </a:p>
          <a:p>
            <a:pPr indent="-342900" lvl="1" marL="914400" rtl="0" algn="l">
              <a:lnSpc>
                <a:spcPct val="90000"/>
              </a:lnSpc>
              <a:spcBef>
                <a:spcPts val="500"/>
              </a:spcBef>
              <a:spcAft>
                <a:spcPts val="0"/>
              </a:spcAft>
              <a:buSzPct val="81081"/>
              <a:buChar char="•"/>
            </a:pPr>
            <a:r>
              <a:rPr lang="en-US"/>
              <a:t>Tambah gula ke gelas</a:t>
            </a:r>
            <a:endParaRPr/>
          </a:p>
          <a:p>
            <a:pPr indent="-342900" lvl="1" marL="914400" rtl="0" algn="l">
              <a:lnSpc>
                <a:spcPct val="90000"/>
              </a:lnSpc>
              <a:spcBef>
                <a:spcPts val="500"/>
              </a:spcBef>
              <a:spcAft>
                <a:spcPts val="0"/>
              </a:spcAft>
              <a:buSzPct val="81081"/>
              <a:buChar char="•"/>
            </a:pPr>
            <a:r>
              <a:rPr lang="en-US"/>
              <a:t>Aduk</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5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Rounded"/>
              <a:buNone/>
            </a:pPr>
            <a:r>
              <a:rPr b="1" lang="en-US">
                <a:latin typeface="Arial Rounded"/>
                <a:ea typeface="Arial Rounded"/>
                <a:cs typeface="Arial Rounded"/>
                <a:sym typeface="Arial Rounded"/>
              </a:rPr>
              <a:t>Contoh Algoritma</a:t>
            </a:r>
            <a:endParaRPr b="1">
              <a:latin typeface="Arial Rounded"/>
              <a:ea typeface="Arial Rounded"/>
              <a:cs typeface="Arial Rounded"/>
              <a:sym typeface="Arial Rounded"/>
            </a:endParaRPr>
          </a:p>
        </p:txBody>
      </p:sp>
      <p:sp>
        <p:nvSpPr>
          <p:cNvPr id="265" name="Google Shape;265;p50"/>
          <p:cNvSpPr txBox="1"/>
          <p:nvPr>
            <p:ph idx="1" type="body"/>
          </p:nvPr>
        </p:nvSpPr>
        <p:spPr>
          <a:xfrm>
            <a:off x="838200" y="1825625"/>
            <a:ext cx="6316362" cy="4351338"/>
          </a:xfrm>
          <a:prstGeom prst="rect">
            <a:avLst/>
          </a:prstGeom>
          <a:noFill/>
          <a:ln>
            <a:noFill/>
          </a:ln>
        </p:spPr>
        <p:txBody>
          <a:bodyPr anchorCtr="0" anchor="t" bIns="45700" lIns="91425" spcFirstLastPara="1" rIns="91425" wrap="square" tIns="45700">
            <a:normAutofit fontScale="87000" lnSpcReduction="10000"/>
          </a:bodyPr>
          <a:lstStyle/>
          <a:p>
            <a:pPr indent="0" lvl="0" marL="114300" rtl="0" algn="l">
              <a:lnSpc>
                <a:spcPct val="90000"/>
              </a:lnSpc>
              <a:spcBef>
                <a:spcPts val="1000"/>
              </a:spcBef>
              <a:spcAft>
                <a:spcPts val="0"/>
              </a:spcAft>
              <a:buSzPct val="73892"/>
              <a:buNone/>
            </a:pPr>
            <a:r>
              <a:rPr lang="en-US"/>
              <a:t>Masalah : Beaver Hajar memiliki mouse bot yang bisa diprogram dengan 4 tombol panah dan 1 tombol ulang (repeat). Bantu Hajar memprogram bot agar mencapai keju.</a:t>
            </a:r>
            <a:endParaRPr/>
          </a:p>
          <a:p>
            <a:pPr indent="-342900" lvl="0" marL="457200" rtl="0" algn="l">
              <a:lnSpc>
                <a:spcPct val="90000"/>
              </a:lnSpc>
              <a:spcBef>
                <a:spcPts val="1000"/>
              </a:spcBef>
              <a:spcAft>
                <a:spcPts val="0"/>
              </a:spcAft>
              <a:buClr>
                <a:schemeClr val="dk1"/>
              </a:buClr>
              <a:buSzPct val="73892"/>
              <a:buChar char="•"/>
            </a:pPr>
            <a:r>
              <a:rPr lang="en-US"/>
              <a:t>Input : Tombol Maju (1 langkah), Kanan/Kiri (putar 90°), Balik (putar 180°), Ulang (mengulang gerakan sejak awal atau sejak tombol Ulang terakhir ditekan)</a:t>
            </a:r>
            <a:endParaRPr/>
          </a:p>
          <a:p>
            <a:pPr indent="-342900" lvl="0" marL="457200" rtl="0" algn="l">
              <a:lnSpc>
                <a:spcPct val="90000"/>
              </a:lnSpc>
              <a:spcBef>
                <a:spcPts val="1000"/>
              </a:spcBef>
              <a:spcAft>
                <a:spcPts val="0"/>
              </a:spcAft>
              <a:buClr>
                <a:schemeClr val="dk1"/>
              </a:buClr>
              <a:buSzPct val="73892"/>
              <a:buChar char="•"/>
            </a:pPr>
            <a:r>
              <a:rPr lang="en-US"/>
              <a:t>Output : Urutan tombol yang membawa bot tepat ke ubin keju</a:t>
            </a:r>
            <a:endParaRPr/>
          </a:p>
          <a:p>
            <a:pPr indent="-342900" lvl="0" marL="457200" rtl="0" algn="l">
              <a:lnSpc>
                <a:spcPct val="90000"/>
              </a:lnSpc>
              <a:spcBef>
                <a:spcPts val="1000"/>
              </a:spcBef>
              <a:spcAft>
                <a:spcPts val="0"/>
              </a:spcAft>
              <a:buClr>
                <a:schemeClr val="dk1"/>
              </a:buClr>
              <a:buSzPct val="73892"/>
              <a:buChar char="•"/>
            </a:pPr>
            <a:r>
              <a:rPr lang="en-US"/>
              <a:t>Proses (Jawaban) : Maju, Maju, Maju, Kanan, Ulang, Ulang, Maju</a:t>
            </a:r>
            <a:endParaRPr/>
          </a:p>
        </p:txBody>
      </p:sp>
      <p:pic>
        <p:nvPicPr>
          <p:cNvPr id="266" name="Google Shape;266;p50"/>
          <p:cNvPicPr preferRelativeResize="0"/>
          <p:nvPr/>
        </p:nvPicPr>
        <p:blipFill rotWithShape="1">
          <a:blip r:embed="rId3">
            <a:alphaModFix/>
          </a:blip>
          <a:srcRect b="0" l="0" r="0" t="0"/>
          <a:stretch/>
        </p:blipFill>
        <p:spPr>
          <a:xfrm>
            <a:off x="8044248" y="111125"/>
            <a:ext cx="2718852" cy="3429000"/>
          </a:xfrm>
          <a:prstGeom prst="rect">
            <a:avLst/>
          </a:prstGeom>
          <a:noFill/>
          <a:ln>
            <a:noFill/>
          </a:ln>
        </p:spPr>
      </p:pic>
      <p:pic>
        <p:nvPicPr>
          <p:cNvPr id="267" name="Google Shape;267;p50"/>
          <p:cNvPicPr preferRelativeResize="0"/>
          <p:nvPr/>
        </p:nvPicPr>
        <p:blipFill rotWithShape="1">
          <a:blip r:embed="rId4">
            <a:alphaModFix/>
          </a:blip>
          <a:srcRect b="0" l="0" r="0" t="0"/>
          <a:stretch/>
        </p:blipFill>
        <p:spPr>
          <a:xfrm>
            <a:off x="7521245" y="3643442"/>
            <a:ext cx="4269845" cy="2849433"/>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17"/>
          <p:cNvSpPr txBox="1"/>
          <p:nvPr>
            <p:ph type="title"/>
          </p:nvPr>
        </p:nvSpPr>
        <p:spPr>
          <a:xfrm>
            <a:off x="824552" y="298549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Arial Black"/>
              <a:buNone/>
            </a:pPr>
            <a:r>
              <a:rPr b="1" lang="en-US">
                <a:latin typeface="Arial Black"/>
                <a:ea typeface="Arial Black"/>
                <a:cs typeface="Arial Black"/>
                <a:sym typeface="Arial Black"/>
              </a:rPr>
              <a:t>Computational Thinking</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Rounded"/>
              <a:buNone/>
            </a:pPr>
            <a:r>
              <a:rPr b="1" lang="en-US">
                <a:latin typeface="Arial Rounded"/>
                <a:ea typeface="Arial Rounded"/>
                <a:cs typeface="Arial Rounded"/>
                <a:sym typeface="Arial Rounded"/>
              </a:rPr>
              <a:t>Computational Thinking ???</a:t>
            </a:r>
            <a:endParaRPr/>
          </a:p>
        </p:txBody>
      </p:sp>
      <p:sp>
        <p:nvSpPr>
          <p:cNvPr id="278" name="Google Shape;278;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Computational Thinking (CT) adalah sebuah cara berfikir untuk memecahkan persoalan, merancang sistem, memahami perilaku manusia.</a:t>
            </a:r>
            <a:endParaRPr/>
          </a:p>
          <a:p>
            <a:pPr indent="-228600" lvl="0" marL="228600" rtl="0" algn="l">
              <a:lnSpc>
                <a:spcPct val="90000"/>
              </a:lnSpc>
              <a:spcBef>
                <a:spcPts val="1000"/>
              </a:spcBef>
              <a:spcAft>
                <a:spcPts val="0"/>
              </a:spcAft>
              <a:buClr>
                <a:schemeClr val="dk1"/>
              </a:buClr>
              <a:buSzPts val="2800"/>
              <a:buChar char="•"/>
            </a:pPr>
            <a:r>
              <a:rPr lang="en-US"/>
              <a:t>CT merupakan dasar konsep informatika.</a:t>
            </a:r>
            <a:endParaRPr/>
          </a:p>
          <a:p>
            <a:pPr indent="-228600" lvl="0" marL="228600" rtl="0" algn="l">
              <a:lnSpc>
                <a:spcPct val="90000"/>
              </a:lnSpc>
              <a:spcBef>
                <a:spcPts val="1000"/>
              </a:spcBef>
              <a:spcAft>
                <a:spcPts val="0"/>
              </a:spcAft>
              <a:buClr>
                <a:schemeClr val="dk1"/>
              </a:buClr>
              <a:buSzPts val="2800"/>
              <a:buChar char="•"/>
            </a:pPr>
            <a:r>
              <a:rPr lang="en-US"/>
              <a:t>CT berarti berfikir untuk mencipatkan dan menggunakan beberapa tingkatan abstraksi, mulai memahami persoalan sehingga mengusulakan pemecahan solusi yang efektif dan efisien.</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Ada empat teknik kunci dalam</a:t>
            </a:r>
            <a:br>
              <a:rPr lang="en-US"/>
            </a:br>
            <a:r>
              <a:rPr lang="en-US"/>
              <a:t>Computational Thingking</a:t>
            </a:r>
            <a:endParaRPr/>
          </a:p>
        </p:txBody>
      </p:sp>
      <p:sp>
        <p:nvSpPr>
          <p:cNvPr id="284" name="Google Shape;284;p19"/>
          <p:cNvSpPr txBox="1"/>
          <p:nvPr/>
        </p:nvSpPr>
        <p:spPr>
          <a:xfrm flipH="1">
            <a:off x="2227311" y="2641917"/>
            <a:ext cx="2845500" cy="915300"/>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0"/>
              </a:spcBef>
              <a:spcAft>
                <a:spcPts val="0"/>
              </a:spcAft>
              <a:buClr>
                <a:schemeClr val="dk1"/>
              </a:buClr>
              <a:buSzPts val="1400"/>
              <a:buFont typeface="Arial"/>
              <a:buNone/>
            </a:pPr>
            <a:r>
              <a:rPr b="0" i="0" lang="en-US" sz="1400" u="none" cap="none" strike="noStrike">
                <a:solidFill>
                  <a:schemeClr val="dk1"/>
                </a:solidFill>
                <a:latin typeface="Calibri"/>
                <a:ea typeface="Calibri"/>
                <a:cs typeface="Calibri"/>
                <a:sym typeface="Calibri"/>
              </a:rPr>
              <a:t>memecah masalah</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1400"/>
              <a:buFont typeface="Arial"/>
              <a:buNone/>
            </a:pPr>
            <a:r>
              <a:rPr b="0" i="0" lang="en-US" sz="1400" u="none" cap="none" strike="noStrike">
                <a:solidFill>
                  <a:schemeClr val="dk1"/>
                </a:solidFill>
                <a:latin typeface="Calibri"/>
                <a:ea typeface="Calibri"/>
                <a:cs typeface="Calibri"/>
                <a:sym typeface="Calibri"/>
              </a:rPr>
              <a:t>yang lebih besar/kompleks menjadi bagian-bagian yang lebih kecil/sederhana.</a:t>
            </a:r>
            <a:endParaRPr b="0" i="0" sz="1400" u="none" cap="none" strike="noStrike">
              <a:solidFill>
                <a:srgbClr val="000000"/>
              </a:solidFill>
              <a:latin typeface="Arial"/>
              <a:ea typeface="Arial"/>
              <a:cs typeface="Arial"/>
              <a:sym typeface="Arial"/>
            </a:endParaRPr>
          </a:p>
        </p:txBody>
      </p:sp>
      <p:sp>
        <p:nvSpPr>
          <p:cNvPr id="285" name="Google Shape;285;p19"/>
          <p:cNvSpPr txBox="1"/>
          <p:nvPr/>
        </p:nvSpPr>
        <p:spPr>
          <a:xfrm flipH="1">
            <a:off x="2227396" y="4697950"/>
            <a:ext cx="3389700" cy="879300"/>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0"/>
              </a:spcBef>
              <a:spcAft>
                <a:spcPts val="0"/>
              </a:spcAft>
              <a:buClr>
                <a:schemeClr val="dk1"/>
              </a:buClr>
              <a:buSzPts val="1400"/>
              <a:buFont typeface="Arial"/>
              <a:buNone/>
            </a:pPr>
            <a:r>
              <a:rPr b="0" i="0" lang="en-US" sz="1400" u="none" cap="none" strike="noStrike">
                <a:solidFill>
                  <a:schemeClr val="dk1"/>
                </a:solidFill>
                <a:latin typeface="Calibri"/>
                <a:ea typeface="Calibri"/>
                <a:cs typeface="Calibri"/>
                <a:sym typeface="Calibri"/>
              </a:rPr>
              <a:t>mencari/menemukan pola/kesamaan</a:t>
            </a:r>
            <a:endParaRPr b="0" i="0" sz="14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1400"/>
              <a:buFont typeface="Arial"/>
              <a:buNone/>
            </a:pPr>
            <a:r>
              <a:rPr b="0" i="0" lang="en-US" sz="1400" u="none" cap="none" strike="noStrike">
                <a:solidFill>
                  <a:schemeClr val="dk1"/>
                </a:solidFill>
                <a:latin typeface="Calibri"/>
                <a:ea typeface="Calibri"/>
                <a:cs typeface="Calibri"/>
                <a:sym typeface="Calibri"/>
              </a:rPr>
              <a:t>antar masalah maupun dalam</a:t>
            </a:r>
            <a:endParaRPr b="0" i="0" sz="14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1400"/>
              <a:buFont typeface="Arial"/>
              <a:buNone/>
            </a:pPr>
            <a:r>
              <a:rPr b="0" i="0" lang="en-US" sz="1400" u="none" cap="none" strike="noStrike">
                <a:solidFill>
                  <a:schemeClr val="dk1"/>
                </a:solidFill>
                <a:latin typeface="Calibri"/>
                <a:ea typeface="Calibri"/>
                <a:cs typeface="Calibri"/>
                <a:sym typeface="Calibri"/>
              </a:rPr>
              <a:t>masalah tersebut.</a:t>
            </a:r>
            <a:endParaRPr b="0" i="0" sz="1400" u="none" cap="none" strike="noStrike">
              <a:solidFill>
                <a:srgbClr val="000000"/>
              </a:solidFill>
              <a:latin typeface="Arial"/>
              <a:ea typeface="Arial"/>
              <a:cs typeface="Arial"/>
              <a:sym typeface="Arial"/>
            </a:endParaRPr>
          </a:p>
        </p:txBody>
      </p:sp>
      <p:sp>
        <p:nvSpPr>
          <p:cNvPr id="286" name="Google Shape;286;p19"/>
          <p:cNvSpPr txBox="1"/>
          <p:nvPr/>
        </p:nvSpPr>
        <p:spPr>
          <a:xfrm>
            <a:off x="2227388" y="1939855"/>
            <a:ext cx="2369100" cy="616500"/>
          </a:xfrm>
          <a:prstGeom prst="rect">
            <a:avLst/>
          </a:prstGeom>
          <a:noFill/>
          <a:ln>
            <a:noFill/>
          </a:ln>
        </p:spPr>
        <p:txBody>
          <a:bodyPr anchorCtr="0" anchor="t" bIns="91425" lIns="91425" spcFirstLastPara="1" rIns="91425" wrap="square" tIns="91425">
            <a:noAutofit/>
          </a:bodyPr>
          <a:lstStyle/>
          <a:p>
            <a:pPr indent="0" lvl="0" marL="0" marR="0" rtl="0" algn="r">
              <a:lnSpc>
                <a:spcPct val="90000"/>
              </a:lnSpc>
              <a:spcBef>
                <a:spcPts val="0"/>
              </a:spcBef>
              <a:spcAft>
                <a:spcPts val="0"/>
              </a:spcAft>
              <a:buClr>
                <a:schemeClr val="accent2"/>
              </a:buClr>
              <a:buSzPts val="3200"/>
              <a:buFont typeface="Calibri"/>
              <a:buNone/>
            </a:pPr>
            <a:r>
              <a:rPr b="0" i="0" lang="en-US" sz="3200" u="none" cap="none" strike="noStrike">
                <a:solidFill>
                  <a:schemeClr val="accent2"/>
                </a:solidFill>
                <a:latin typeface="Calibri"/>
                <a:ea typeface="Calibri"/>
                <a:cs typeface="Calibri"/>
                <a:sym typeface="Calibri"/>
              </a:rPr>
              <a:t>Dekomposisi</a:t>
            </a:r>
            <a:endParaRPr b="0" i="0" sz="3200" u="none" cap="none" strike="noStrike">
              <a:solidFill>
                <a:schemeClr val="accent2"/>
              </a:solidFill>
              <a:latin typeface="Calibri"/>
              <a:ea typeface="Calibri"/>
              <a:cs typeface="Calibri"/>
              <a:sym typeface="Calibri"/>
            </a:endParaRPr>
          </a:p>
        </p:txBody>
      </p:sp>
      <p:sp>
        <p:nvSpPr>
          <p:cNvPr id="287" name="Google Shape;287;p19"/>
          <p:cNvSpPr txBox="1"/>
          <p:nvPr/>
        </p:nvSpPr>
        <p:spPr>
          <a:xfrm>
            <a:off x="7726761" y="1881829"/>
            <a:ext cx="2193900" cy="706800"/>
          </a:xfrm>
          <a:prstGeom prst="rect">
            <a:avLst/>
          </a:prstGeom>
          <a:noFill/>
          <a:ln>
            <a:noFill/>
          </a:ln>
        </p:spPr>
        <p:txBody>
          <a:bodyPr anchorCtr="0" anchor="t" bIns="91425" lIns="91425" spcFirstLastPara="1" rIns="91425" wrap="square" tIns="91425">
            <a:noAutofit/>
          </a:bodyPr>
          <a:lstStyle/>
          <a:p>
            <a:pPr indent="0" lvl="0" marL="0" marR="0" rtl="0" algn="r">
              <a:lnSpc>
                <a:spcPct val="90000"/>
              </a:lnSpc>
              <a:spcBef>
                <a:spcPts val="0"/>
              </a:spcBef>
              <a:spcAft>
                <a:spcPts val="0"/>
              </a:spcAft>
              <a:buClr>
                <a:schemeClr val="accent1"/>
              </a:buClr>
              <a:buSzPts val="3200"/>
              <a:buFont typeface="Calibri"/>
              <a:buNone/>
            </a:pPr>
            <a:r>
              <a:rPr b="0" i="0" lang="en-US" sz="3200" u="none" cap="none" strike="noStrike">
                <a:solidFill>
                  <a:schemeClr val="accent1"/>
                </a:solidFill>
                <a:latin typeface="Calibri"/>
                <a:ea typeface="Calibri"/>
                <a:cs typeface="Calibri"/>
                <a:sym typeface="Calibri"/>
              </a:rPr>
              <a:t>Abstraksi</a:t>
            </a:r>
            <a:endParaRPr b="0" i="0" sz="3200" u="none" cap="none" strike="noStrike">
              <a:solidFill>
                <a:schemeClr val="accent1"/>
              </a:solidFill>
              <a:latin typeface="Calibri"/>
              <a:ea typeface="Calibri"/>
              <a:cs typeface="Calibri"/>
              <a:sym typeface="Calibri"/>
            </a:endParaRPr>
          </a:p>
        </p:txBody>
      </p:sp>
      <p:sp>
        <p:nvSpPr>
          <p:cNvPr id="288" name="Google Shape;288;p19"/>
          <p:cNvSpPr txBox="1"/>
          <p:nvPr/>
        </p:nvSpPr>
        <p:spPr>
          <a:xfrm flipH="1">
            <a:off x="2386422" y="3970250"/>
            <a:ext cx="2296500" cy="879300"/>
          </a:xfrm>
          <a:prstGeom prst="rect">
            <a:avLst/>
          </a:prstGeom>
          <a:noFill/>
          <a:ln>
            <a:noFill/>
          </a:ln>
        </p:spPr>
        <p:txBody>
          <a:bodyPr anchorCtr="0" anchor="t" bIns="91425" lIns="91425" spcFirstLastPara="1" rIns="91425" wrap="square" tIns="91425">
            <a:normAutofit/>
          </a:bodyPr>
          <a:lstStyle/>
          <a:p>
            <a:pPr indent="0" lvl="0" marL="0" marR="0" rtl="0" algn="l">
              <a:lnSpc>
                <a:spcPct val="90000"/>
              </a:lnSpc>
              <a:spcBef>
                <a:spcPts val="0"/>
              </a:spcBef>
              <a:spcAft>
                <a:spcPts val="0"/>
              </a:spcAft>
              <a:buClr>
                <a:schemeClr val="accent3"/>
              </a:buClr>
              <a:buSzPts val="3200"/>
              <a:buFont typeface="Calibri"/>
              <a:buNone/>
            </a:pPr>
            <a:r>
              <a:rPr b="0" i="0" lang="en-US" sz="3200" u="none" cap="none" strike="noStrike">
                <a:solidFill>
                  <a:schemeClr val="accent3"/>
                </a:solidFill>
                <a:latin typeface="Calibri"/>
                <a:ea typeface="Calibri"/>
                <a:cs typeface="Calibri"/>
                <a:sym typeface="Calibri"/>
              </a:rPr>
              <a:t>Pattern/Pola</a:t>
            </a:r>
            <a:endParaRPr b="0" i="0" sz="3200" u="none" cap="none" strike="noStrike">
              <a:solidFill>
                <a:schemeClr val="accent3"/>
              </a:solidFill>
              <a:latin typeface="Calibri"/>
              <a:ea typeface="Calibri"/>
              <a:cs typeface="Calibri"/>
              <a:sym typeface="Calibri"/>
            </a:endParaRPr>
          </a:p>
        </p:txBody>
      </p:sp>
      <p:sp>
        <p:nvSpPr>
          <p:cNvPr id="289" name="Google Shape;289;p19"/>
          <p:cNvSpPr txBox="1"/>
          <p:nvPr/>
        </p:nvSpPr>
        <p:spPr>
          <a:xfrm flipH="1">
            <a:off x="8110993" y="3720967"/>
            <a:ext cx="2152800" cy="753300"/>
          </a:xfrm>
          <a:prstGeom prst="rect">
            <a:avLst/>
          </a:prstGeom>
          <a:noFill/>
          <a:ln>
            <a:noFill/>
          </a:ln>
        </p:spPr>
        <p:txBody>
          <a:bodyPr anchorCtr="0" anchor="t" bIns="91425" lIns="91425" spcFirstLastPara="1" rIns="91425" wrap="square" tIns="91425">
            <a:normAutofit fontScale="92500"/>
          </a:bodyPr>
          <a:lstStyle/>
          <a:p>
            <a:pPr indent="0" lvl="0" marL="0" marR="0" rtl="0" algn="l">
              <a:lnSpc>
                <a:spcPct val="90000"/>
              </a:lnSpc>
              <a:spcBef>
                <a:spcPts val="0"/>
              </a:spcBef>
              <a:spcAft>
                <a:spcPts val="0"/>
              </a:spcAft>
              <a:buClr>
                <a:schemeClr val="accent4"/>
              </a:buClr>
              <a:buSzPct val="100000"/>
              <a:buFont typeface="Calibri"/>
              <a:buNone/>
            </a:pPr>
            <a:r>
              <a:rPr b="0" i="0" lang="en-US" sz="4000" u="none" cap="none" strike="noStrike">
                <a:solidFill>
                  <a:schemeClr val="accent4"/>
                </a:solidFill>
                <a:latin typeface="Calibri"/>
                <a:ea typeface="Calibri"/>
                <a:cs typeface="Calibri"/>
                <a:sym typeface="Calibri"/>
              </a:rPr>
              <a:t>Algoritma</a:t>
            </a:r>
            <a:endParaRPr b="0" i="0" sz="4000" u="none" cap="none" strike="noStrike">
              <a:solidFill>
                <a:schemeClr val="accent4"/>
              </a:solidFill>
              <a:latin typeface="Calibri"/>
              <a:ea typeface="Calibri"/>
              <a:cs typeface="Calibri"/>
              <a:sym typeface="Calibri"/>
            </a:endParaRPr>
          </a:p>
        </p:txBody>
      </p:sp>
      <p:sp>
        <p:nvSpPr>
          <p:cNvPr id="290" name="Google Shape;290;p19"/>
          <p:cNvSpPr txBox="1"/>
          <p:nvPr/>
        </p:nvSpPr>
        <p:spPr>
          <a:xfrm flipH="1">
            <a:off x="7952706" y="2588618"/>
            <a:ext cx="3389700" cy="825300"/>
          </a:xfrm>
          <a:prstGeom prst="rect">
            <a:avLst/>
          </a:prstGeom>
          <a:noFill/>
          <a:ln>
            <a:noFill/>
          </a:ln>
        </p:spPr>
        <p:txBody>
          <a:bodyPr anchorCtr="0" anchor="t" bIns="91425" lIns="91425" spcFirstLastPara="1" rIns="91425" wrap="square" tIns="91425">
            <a:normAutofit/>
          </a:bodyPr>
          <a:lstStyle/>
          <a:p>
            <a:pPr indent="0" lvl="0" marL="0" marR="0" rtl="0" algn="l">
              <a:lnSpc>
                <a:spcPct val="90000"/>
              </a:lnSpc>
              <a:spcBef>
                <a:spcPts val="0"/>
              </a:spcBef>
              <a:spcAft>
                <a:spcPts val="0"/>
              </a:spcAft>
              <a:buClr>
                <a:schemeClr val="dk1"/>
              </a:buClr>
              <a:buSzPts val="1400"/>
              <a:buFont typeface="Arial"/>
              <a:buNone/>
            </a:pPr>
            <a:r>
              <a:rPr b="0" i="0" lang="en-US" sz="1400" u="none" cap="none" strike="noStrike">
                <a:solidFill>
                  <a:schemeClr val="dk1"/>
                </a:solidFill>
                <a:latin typeface="Calibri"/>
                <a:ea typeface="Calibri"/>
                <a:cs typeface="Calibri"/>
                <a:sym typeface="Calibri"/>
              </a:rPr>
              <a:t>fokus pada informasi</a:t>
            </a:r>
            <a:endParaRPr b="0" i="0" sz="14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1400"/>
              <a:buFont typeface="Arial"/>
              <a:buNone/>
            </a:pPr>
            <a:r>
              <a:rPr b="0" i="0" lang="en-US" sz="1400" u="none" cap="none" strike="noStrike">
                <a:solidFill>
                  <a:schemeClr val="dk1"/>
                </a:solidFill>
                <a:latin typeface="Calibri"/>
                <a:ea typeface="Calibri"/>
                <a:cs typeface="Calibri"/>
                <a:sym typeface="Calibri"/>
              </a:rPr>
              <a:t>penting saja, dan mengabaikan detail</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1400"/>
              <a:buFont typeface="Arial"/>
              <a:buNone/>
            </a:pPr>
            <a:r>
              <a:rPr b="0" i="0" lang="en-US" sz="1400" u="none" cap="none" strike="noStrike">
                <a:solidFill>
                  <a:schemeClr val="dk1"/>
                </a:solidFill>
                <a:latin typeface="Calibri"/>
                <a:ea typeface="Calibri"/>
                <a:cs typeface="Calibri"/>
                <a:sym typeface="Calibri"/>
              </a:rPr>
              <a:t>yang kurang relevan.</a:t>
            </a:r>
            <a:endParaRPr b="0" i="0" sz="1400" u="none" cap="none" strike="noStrike">
              <a:solidFill>
                <a:srgbClr val="000000"/>
              </a:solidFill>
              <a:latin typeface="Arial"/>
              <a:ea typeface="Arial"/>
              <a:cs typeface="Arial"/>
              <a:sym typeface="Arial"/>
            </a:endParaRPr>
          </a:p>
        </p:txBody>
      </p:sp>
      <p:sp>
        <p:nvSpPr>
          <p:cNvPr id="291" name="Google Shape;291;p19"/>
          <p:cNvSpPr txBox="1"/>
          <p:nvPr/>
        </p:nvSpPr>
        <p:spPr>
          <a:xfrm flipH="1">
            <a:off x="8105936" y="4474267"/>
            <a:ext cx="2406300" cy="753300"/>
          </a:xfrm>
          <a:prstGeom prst="rect">
            <a:avLst/>
          </a:prstGeom>
          <a:noFill/>
          <a:ln>
            <a:noFill/>
          </a:ln>
        </p:spPr>
        <p:txBody>
          <a:bodyPr anchorCtr="0" anchor="t" bIns="91425" lIns="91425" spcFirstLastPara="1" rIns="91425" wrap="square" tIns="91425">
            <a:normAutofit/>
          </a:bodyPr>
          <a:lstStyle/>
          <a:p>
            <a:pPr indent="0" lvl="0" marL="0" marR="0" rtl="0" algn="l">
              <a:lnSpc>
                <a:spcPct val="90000"/>
              </a:lnSpc>
              <a:spcBef>
                <a:spcPts val="0"/>
              </a:spcBef>
              <a:spcAft>
                <a:spcPts val="0"/>
              </a:spcAft>
              <a:buClr>
                <a:schemeClr val="dk1"/>
              </a:buClr>
              <a:buSzPts val="1400"/>
              <a:buFont typeface="Arial"/>
              <a:buNone/>
            </a:pPr>
            <a:r>
              <a:rPr b="0" i="0" lang="en-US" sz="1400" u="none" cap="none" strike="noStrike">
                <a:solidFill>
                  <a:schemeClr val="dk1"/>
                </a:solidFill>
                <a:latin typeface="Calibri"/>
                <a:ea typeface="Calibri"/>
                <a:cs typeface="Calibri"/>
                <a:sym typeface="Calibri"/>
              </a:rPr>
              <a:t>Membangun langkah-langkah solusi dari masalah</a:t>
            </a:r>
            <a:endParaRPr b="0" i="0" sz="1400" u="none" cap="none" strike="noStrike">
              <a:solidFill>
                <a:schemeClr val="dk1"/>
              </a:solidFill>
              <a:latin typeface="Calibri"/>
              <a:ea typeface="Calibri"/>
              <a:cs typeface="Calibri"/>
              <a:sym typeface="Calibri"/>
            </a:endParaRPr>
          </a:p>
        </p:txBody>
      </p:sp>
      <p:sp>
        <p:nvSpPr>
          <p:cNvPr id="292" name="Google Shape;292;p19"/>
          <p:cNvSpPr/>
          <p:nvPr/>
        </p:nvSpPr>
        <p:spPr>
          <a:xfrm>
            <a:off x="6544142" y="2049676"/>
            <a:ext cx="1566703" cy="706819"/>
          </a:xfrm>
          <a:custGeom>
            <a:rect b="b" l="l" r="r" t="t"/>
            <a:pathLst>
              <a:path extrusionOk="0" h="18928" w="36095">
                <a:moveTo>
                  <a:pt x="0" y="18928"/>
                </a:moveTo>
                <a:cubicBezTo>
                  <a:pt x="2406" y="15920"/>
                  <a:pt x="8422" y="3554"/>
                  <a:pt x="14438" y="880"/>
                </a:cubicBezTo>
                <a:cubicBezTo>
                  <a:pt x="20454" y="-1794"/>
                  <a:pt x="32486" y="2552"/>
                  <a:pt x="36095" y="2886"/>
                </a:cubicBezTo>
              </a:path>
            </a:pathLst>
          </a:custGeom>
          <a:noFill/>
          <a:ln cap="flat" cmpd="sng" w="19050">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19"/>
          <p:cNvSpPr/>
          <p:nvPr/>
        </p:nvSpPr>
        <p:spPr>
          <a:xfrm>
            <a:off x="6451286" y="2741443"/>
            <a:ext cx="122950" cy="115550"/>
          </a:xfrm>
          <a:custGeom>
            <a:rect b="b" l="l" r="r" t="t"/>
            <a:pathLst>
              <a:path extrusionOk="0" h="4622" w="4918">
                <a:moveTo>
                  <a:pt x="3139" y="1360"/>
                </a:moveTo>
                <a:cubicBezTo>
                  <a:pt x="3244" y="1465"/>
                  <a:pt x="3306" y="1570"/>
                  <a:pt x="3390" y="1716"/>
                </a:cubicBezTo>
                <a:cubicBezTo>
                  <a:pt x="3578" y="1946"/>
                  <a:pt x="3725" y="2197"/>
                  <a:pt x="3830" y="2469"/>
                </a:cubicBezTo>
                <a:cubicBezTo>
                  <a:pt x="3913" y="2658"/>
                  <a:pt x="3976" y="2825"/>
                  <a:pt x="3997" y="3013"/>
                </a:cubicBezTo>
                <a:lnTo>
                  <a:pt x="3997" y="3285"/>
                </a:lnTo>
                <a:cubicBezTo>
                  <a:pt x="3976" y="3348"/>
                  <a:pt x="3976" y="3411"/>
                  <a:pt x="3934" y="3453"/>
                </a:cubicBezTo>
                <a:cubicBezTo>
                  <a:pt x="3913" y="3495"/>
                  <a:pt x="3913" y="3515"/>
                  <a:pt x="3892" y="3536"/>
                </a:cubicBezTo>
                <a:cubicBezTo>
                  <a:pt x="3809" y="3599"/>
                  <a:pt x="3725" y="3641"/>
                  <a:pt x="3662" y="3662"/>
                </a:cubicBezTo>
                <a:cubicBezTo>
                  <a:pt x="3453" y="3746"/>
                  <a:pt x="3202" y="3808"/>
                  <a:pt x="2993" y="3829"/>
                </a:cubicBezTo>
                <a:cubicBezTo>
                  <a:pt x="2811" y="3841"/>
                  <a:pt x="2644" y="3853"/>
                  <a:pt x="2475" y="3853"/>
                </a:cubicBezTo>
                <a:cubicBezTo>
                  <a:pt x="2351" y="3853"/>
                  <a:pt x="2226" y="3847"/>
                  <a:pt x="2093" y="3829"/>
                </a:cubicBezTo>
                <a:cubicBezTo>
                  <a:pt x="1884" y="3808"/>
                  <a:pt x="1674" y="3746"/>
                  <a:pt x="1486" y="3662"/>
                </a:cubicBezTo>
                <a:cubicBezTo>
                  <a:pt x="1382" y="3620"/>
                  <a:pt x="1277" y="3557"/>
                  <a:pt x="1172" y="3495"/>
                </a:cubicBezTo>
                <a:cubicBezTo>
                  <a:pt x="1068" y="3411"/>
                  <a:pt x="984" y="3327"/>
                  <a:pt x="900" y="3223"/>
                </a:cubicBezTo>
                <a:cubicBezTo>
                  <a:pt x="858" y="3181"/>
                  <a:pt x="837" y="3097"/>
                  <a:pt x="796" y="3034"/>
                </a:cubicBezTo>
                <a:lnTo>
                  <a:pt x="733" y="2720"/>
                </a:lnTo>
                <a:lnTo>
                  <a:pt x="733" y="2469"/>
                </a:lnTo>
                <a:cubicBezTo>
                  <a:pt x="754" y="2386"/>
                  <a:pt x="754" y="2302"/>
                  <a:pt x="775" y="2260"/>
                </a:cubicBezTo>
                <a:cubicBezTo>
                  <a:pt x="837" y="2155"/>
                  <a:pt x="900" y="2051"/>
                  <a:pt x="963" y="1946"/>
                </a:cubicBezTo>
                <a:cubicBezTo>
                  <a:pt x="1047" y="1863"/>
                  <a:pt x="1109" y="1758"/>
                  <a:pt x="1193" y="1716"/>
                </a:cubicBezTo>
                <a:cubicBezTo>
                  <a:pt x="1298" y="1632"/>
                  <a:pt x="1402" y="1570"/>
                  <a:pt x="1507" y="1528"/>
                </a:cubicBezTo>
                <a:cubicBezTo>
                  <a:pt x="1674" y="1423"/>
                  <a:pt x="1800" y="1360"/>
                  <a:pt x="1926" y="1360"/>
                </a:cubicBezTo>
                <a:lnTo>
                  <a:pt x="2135" y="1360"/>
                </a:lnTo>
                <a:cubicBezTo>
                  <a:pt x="2239" y="1402"/>
                  <a:pt x="2323" y="1423"/>
                  <a:pt x="2428" y="1444"/>
                </a:cubicBezTo>
                <a:cubicBezTo>
                  <a:pt x="2470" y="1465"/>
                  <a:pt x="2511" y="1507"/>
                  <a:pt x="2553" y="1528"/>
                </a:cubicBezTo>
                <a:lnTo>
                  <a:pt x="2574" y="1549"/>
                </a:lnTo>
                <a:cubicBezTo>
                  <a:pt x="2658" y="1611"/>
                  <a:pt x="2721" y="1653"/>
                  <a:pt x="2825" y="1653"/>
                </a:cubicBezTo>
                <a:cubicBezTo>
                  <a:pt x="2888" y="1653"/>
                  <a:pt x="2993" y="1632"/>
                  <a:pt x="3055" y="1549"/>
                </a:cubicBezTo>
                <a:cubicBezTo>
                  <a:pt x="3097" y="1507"/>
                  <a:pt x="3139" y="1444"/>
                  <a:pt x="3139" y="1360"/>
                </a:cubicBezTo>
                <a:close/>
                <a:moveTo>
                  <a:pt x="2574" y="0"/>
                </a:moveTo>
                <a:cubicBezTo>
                  <a:pt x="2470" y="0"/>
                  <a:pt x="2365" y="42"/>
                  <a:pt x="2281" y="63"/>
                </a:cubicBezTo>
                <a:cubicBezTo>
                  <a:pt x="2051" y="105"/>
                  <a:pt x="1926" y="377"/>
                  <a:pt x="2009" y="586"/>
                </a:cubicBezTo>
                <a:cubicBezTo>
                  <a:pt x="2009" y="607"/>
                  <a:pt x="2030" y="670"/>
                  <a:pt x="2051" y="691"/>
                </a:cubicBezTo>
                <a:cubicBezTo>
                  <a:pt x="1863" y="691"/>
                  <a:pt x="1716" y="733"/>
                  <a:pt x="1549" y="754"/>
                </a:cubicBezTo>
                <a:cubicBezTo>
                  <a:pt x="1214" y="837"/>
                  <a:pt x="984" y="984"/>
                  <a:pt x="754" y="1151"/>
                </a:cubicBezTo>
                <a:cubicBezTo>
                  <a:pt x="524" y="1339"/>
                  <a:pt x="335" y="1549"/>
                  <a:pt x="210" y="1821"/>
                </a:cubicBezTo>
                <a:cubicBezTo>
                  <a:pt x="63" y="2051"/>
                  <a:pt x="1" y="2302"/>
                  <a:pt x="1" y="2574"/>
                </a:cubicBezTo>
                <a:cubicBezTo>
                  <a:pt x="1" y="2699"/>
                  <a:pt x="21" y="2825"/>
                  <a:pt x="21" y="2971"/>
                </a:cubicBezTo>
                <a:cubicBezTo>
                  <a:pt x="42" y="3118"/>
                  <a:pt x="105" y="3243"/>
                  <a:pt x="168" y="3411"/>
                </a:cubicBezTo>
                <a:cubicBezTo>
                  <a:pt x="231" y="3536"/>
                  <a:pt x="335" y="3641"/>
                  <a:pt x="398" y="3746"/>
                </a:cubicBezTo>
                <a:cubicBezTo>
                  <a:pt x="482" y="3850"/>
                  <a:pt x="586" y="3955"/>
                  <a:pt x="691" y="4039"/>
                </a:cubicBezTo>
                <a:cubicBezTo>
                  <a:pt x="796" y="4122"/>
                  <a:pt x="900" y="4185"/>
                  <a:pt x="1047" y="4269"/>
                </a:cubicBezTo>
                <a:cubicBezTo>
                  <a:pt x="1172" y="4352"/>
                  <a:pt x="1319" y="4394"/>
                  <a:pt x="1486" y="4457"/>
                </a:cubicBezTo>
                <a:cubicBezTo>
                  <a:pt x="1811" y="4577"/>
                  <a:pt x="2170" y="4622"/>
                  <a:pt x="2528" y="4622"/>
                </a:cubicBezTo>
                <a:cubicBezTo>
                  <a:pt x="2793" y="4622"/>
                  <a:pt x="3057" y="4597"/>
                  <a:pt x="3306" y="4562"/>
                </a:cubicBezTo>
                <a:cubicBezTo>
                  <a:pt x="3453" y="4520"/>
                  <a:pt x="3578" y="4499"/>
                  <a:pt x="3725" y="4478"/>
                </a:cubicBezTo>
                <a:cubicBezTo>
                  <a:pt x="3871" y="4457"/>
                  <a:pt x="3997" y="4394"/>
                  <a:pt x="4122" y="4311"/>
                </a:cubicBezTo>
                <a:cubicBezTo>
                  <a:pt x="4248" y="4269"/>
                  <a:pt x="4395" y="4185"/>
                  <a:pt x="4499" y="4101"/>
                </a:cubicBezTo>
                <a:cubicBezTo>
                  <a:pt x="4625" y="3997"/>
                  <a:pt x="4708" y="3850"/>
                  <a:pt x="4771" y="3683"/>
                </a:cubicBezTo>
                <a:cubicBezTo>
                  <a:pt x="4876" y="3453"/>
                  <a:pt x="4918" y="3160"/>
                  <a:pt x="4876" y="2909"/>
                </a:cubicBezTo>
                <a:cubicBezTo>
                  <a:pt x="4855" y="2574"/>
                  <a:pt x="4750" y="2281"/>
                  <a:pt x="4625" y="1967"/>
                </a:cubicBezTo>
                <a:cubicBezTo>
                  <a:pt x="4520" y="1695"/>
                  <a:pt x="4353" y="1465"/>
                  <a:pt x="4206" y="1256"/>
                </a:cubicBezTo>
                <a:cubicBezTo>
                  <a:pt x="4102" y="1130"/>
                  <a:pt x="4018" y="1005"/>
                  <a:pt x="3913" y="900"/>
                </a:cubicBezTo>
                <a:cubicBezTo>
                  <a:pt x="3809" y="754"/>
                  <a:pt x="3704" y="628"/>
                  <a:pt x="3599" y="523"/>
                </a:cubicBezTo>
                <a:cubicBezTo>
                  <a:pt x="3516" y="440"/>
                  <a:pt x="3432" y="377"/>
                  <a:pt x="3327" y="293"/>
                </a:cubicBezTo>
                <a:cubicBezTo>
                  <a:pt x="3286" y="230"/>
                  <a:pt x="3244" y="210"/>
                  <a:pt x="3181" y="189"/>
                </a:cubicBezTo>
                <a:cubicBezTo>
                  <a:pt x="3118" y="147"/>
                  <a:pt x="3014" y="105"/>
                  <a:pt x="2972" y="84"/>
                </a:cubicBezTo>
                <a:cubicBezTo>
                  <a:pt x="2846" y="42"/>
                  <a:pt x="2742" y="42"/>
                  <a:pt x="2595"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pic>
        <p:nvPicPr>
          <p:cNvPr descr="A picture containing text, vector graphics&#10;&#10;Description automatically generated" id="294" name="Google Shape;294;p19"/>
          <p:cNvPicPr preferRelativeResize="0"/>
          <p:nvPr/>
        </p:nvPicPr>
        <p:blipFill rotWithShape="1">
          <a:blip r:embed="rId3">
            <a:alphaModFix/>
          </a:blip>
          <a:srcRect b="0" l="0" r="0" t="0"/>
          <a:stretch/>
        </p:blipFill>
        <p:spPr>
          <a:xfrm>
            <a:off x="5248093" y="2484493"/>
            <a:ext cx="1977600" cy="1812525"/>
          </a:xfrm>
          <a:prstGeom prst="rect">
            <a:avLst/>
          </a:prstGeom>
          <a:noFill/>
          <a:ln>
            <a:noFill/>
          </a:ln>
        </p:spPr>
      </p:pic>
      <p:sp>
        <p:nvSpPr>
          <p:cNvPr id="295" name="Google Shape;295;p19"/>
          <p:cNvSpPr/>
          <p:nvPr/>
        </p:nvSpPr>
        <p:spPr>
          <a:xfrm>
            <a:off x="4596493" y="2139950"/>
            <a:ext cx="1566676" cy="536275"/>
          </a:xfrm>
          <a:custGeom>
            <a:rect b="b" l="l" r="r" t="t"/>
            <a:pathLst>
              <a:path extrusionOk="0" h="21451" w="37699">
                <a:moveTo>
                  <a:pt x="37699" y="21451"/>
                </a:moveTo>
                <a:cubicBezTo>
                  <a:pt x="36229" y="18510"/>
                  <a:pt x="33020" y="7348"/>
                  <a:pt x="28876" y="3805"/>
                </a:cubicBezTo>
                <a:cubicBezTo>
                  <a:pt x="24732" y="263"/>
                  <a:pt x="17647" y="-339"/>
                  <a:pt x="12834" y="196"/>
                </a:cubicBezTo>
                <a:cubicBezTo>
                  <a:pt x="8021" y="731"/>
                  <a:pt x="2139" y="5877"/>
                  <a:pt x="0" y="7013"/>
                </a:cubicBezTo>
              </a:path>
            </a:pathLst>
          </a:custGeom>
          <a:noFill/>
          <a:ln cap="flat" cmpd="sng" w="19050">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19"/>
          <p:cNvSpPr/>
          <p:nvPr/>
        </p:nvSpPr>
        <p:spPr>
          <a:xfrm>
            <a:off x="6124136" y="2676243"/>
            <a:ext cx="93675" cy="103525"/>
          </a:xfrm>
          <a:custGeom>
            <a:rect b="b" l="l" r="r" t="t"/>
            <a:pathLst>
              <a:path extrusionOk="0" h="4141" w="3747">
                <a:moveTo>
                  <a:pt x="1926" y="838"/>
                </a:moveTo>
                <a:cubicBezTo>
                  <a:pt x="1989" y="859"/>
                  <a:pt x="2030" y="859"/>
                  <a:pt x="2114" y="880"/>
                </a:cubicBezTo>
                <a:cubicBezTo>
                  <a:pt x="2198" y="900"/>
                  <a:pt x="2261" y="963"/>
                  <a:pt x="2344" y="1005"/>
                </a:cubicBezTo>
                <a:cubicBezTo>
                  <a:pt x="2428" y="1089"/>
                  <a:pt x="2512" y="1152"/>
                  <a:pt x="2554" y="1214"/>
                </a:cubicBezTo>
                <a:cubicBezTo>
                  <a:pt x="2658" y="1361"/>
                  <a:pt x="2742" y="1507"/>
                  <a:pt x="2826" y="1675"/>
                </a:cubicBezTo>
                <a:cubicBezTo>
                  <a:pt x="2867" y="1779"/>
                  <a:pt x="2888" y="1905"/>
                  <a:pt x="2888" y="2009"/>
                </a:cubicBezTo>
                <a:lnTo>
                  <a:pt x="2888" y="2323"/>
                </a:lnTo>
                <a:cubicBezTo>
                  <a:pt x="2867" y="2365"/>
                  <a:pt x="2867" y="2449"/>
                  <a:pt x="2846" y="2512"/>
                </a:cubicBezTo>
                <a:cubicBezTo>
                  <a:pt x="2784" y="2616"/>
                  <a:pt x="2742" y="2679"/>
                  <a:pt x="2679" y="2784"/>
                </a:cubicBezTo>
                <a:lnTo>
                  <a:pt x="2449" y="3035"/>
                </a:lnTo>
                <a:cubicBezTo>
                  <a:pt x="2323" y="3139"/>
                  <a:pt x="2156" y="3202"/>
                  <a:pt x="2010" y="3286"/>
                </a:cubicBezTo>
                <a:cubicBezTo>
                  <a:pt x="1905" y="3307"/>
                  <a:pt x="1800" y="3369"/>
                  <a:pt x="1696" y="3390"/>
                </a:cubicBezTo>
                <a:lnTo>
                  <a:pt x="1528" y="3390"/>
                </a:lnTo>
                <a:cubicBezTo>
                  <a:pt x="1486" y="3390"/>
                  <a:pt x="1424" y="3369"/>
                  <a:pt x="1361" y="3349"/>
                </a:cubicBezTo>
                <a:cubicBezTo>
                  <a:pt x="1298" y="3307"/>
                  <a:pt x="1277" y="3286"/>
                  <a:pt x="1214" y="3265"/>
                </a:cubicBezTo>
                <a:lnTo>
                  <a:pt x="1068" y="3097"/>
                </a:lnTo>
                <a:cubicBezTo>
                  <a:pt x="963" y="2972"/>
                  <a:pt x="859" y="2825"/>
                  <a:pt x="775" y="2658"/>
                </a:cubicBezTo>
                <a:cubicBezTo>
                  <a:pt x="754" y="2574"/>
                  <a:pt x="733" y="2512"/>
                  <a:pt x="733" y="2449"/>
                </a:cubicBezTo>
                <a:cubicBezTo>
                  <a:pt x="754" y="2323"/>
                  <a:pt x="754" y="2240"/>
                  <a:pt x="754" y="2135"/>
                </a:cubicBezTo>
                <a:cubicBezTo>
                  <a:pt x="754" y="2093"/>
                  <a:pt x="775" y="2030"/>
                  <a:pt x="817" y="1988"/>
                </a:cubicBezTo>
                <a:cubicBezTo>
                  <a:pt x="859" y="1905"/>
                  <a:pt x="880" y="1821"/>
                  <a:pt x="963" y="1758"/>
                </a:cubicBezTo>
                <a:lnTo>
                  <a:pt x="1110" y="1591"/>
                </a:lnTo>
                <a:cubicBezTo>
                  <a:pt x="1277" y="1486"/>
                  <a:pt x="1403" y="1382"/>
                  <a:pt x="1570" y="1298"/>
                </a:cubicBezTo>
                <a:cubicBezTo>
                  <a:pt x="1717" y="1193"/>
                  <a:pt x="1800" y="1005"/>
                  <a:pt x="1717" y="859"/>
                </a:cubicBezTo>
                <a:cubicBezTo>
                  <a:pt x="1779" y="859"/>
                  <a:pt x="1821" y="838"/>
                  <a:pt x="1842" y="838"/>
                </a:cubicBezTo>
                <a:close/>
                <a:moveTo>
                  <a:pt x="2010" y="1"/>
                </a:moveTo>
                <a:cubicBezTo>
                  <a:pt x="1884" y="1"/>
                  <a:pt x="1779" y="22"/>
                  <a:pt x="1675" y="43"/>
                </a:cubicBezTo>
                <a:cubicBezTo>
                  <a:pt x="1445" y="105"/>
                  <a:pt x="1194" y="231"/>
                  <a:pt x="984" y="336"/>
                </a:cubicBezTo>
                <a:lnTo>
                  <a:pt x="440" y="649"/>
                </a:lnTo>
                <a:lnTo>
                  <a:pt x="126" y="880"/>
                </a:lnTo>
                <a:cubicBezTo>
                  <a:pt x="85" y="942"/>
                  <a:pt x="43" y="984"/>
                  <a:pt x="22" y="1047"/>
                </a:cubicBezTo>
                <a:cubicBezTo>
                  <a:pt x="1" y="1152"/>
                  <a:pt x="1" y="1256"/>
                  <a:pt x="43" y="1319"/>
                </a:cubicBezTo>
                <a:cubicBezTo>
                  <a:pt x="105" y="1403"/>
                  <a:pt x="189" y="1465"/>
                  <a:pt x="252" y="1507"/>
                </a:cubicBezTo>
                <a:cubicBezTo>
                  <a:pt x="210" y="1612"/>
                  <a:pt x="147" y="1737"/>
                  <a:pt x="105" y="1842"/>
                </a:cubicBezTo>
                <a:cubicBezTo>
                  <a:pt x="85" y="1926"/>
                  <a:pt x="85" y="2009"/>
                  <a:pt x="85" y="2093"/>
                </a:cubicBezTo>
                <a:lnTo>
                  <a:pt x="85" y="2302"/>
                </a:lnTo>
                <a:cubicBezTo>
                  <a:pt x="85" y="2449"/>
                  <a:pt x="105" y="2595"/>
                  <a:pt x="126" y="2742"/>
                </a:cubicBezTo>
                <a:cubicBezTo>
                  <a:pt x="147" y="2867"/>
                  <a:pt x="231" y="2993"/>
                  <a:pt x="294" y="3097"/>
                </a:cubicBezTo>
                <a:cubicBezTo>
                  <a:pt x="357" y="3244"/>
                  <a:pt x="440" y="3349"/>
                  <a:pt x="524" y="3474"/>
                </a:cubicBezTo>
                <a:cubicBezTo>
                  <a:pt x="545" y="3579"/>
                  <a:pt x="629" y="3683"/>
                  <a:pt x="733" y="3788"/>
                </a:cubicBezTo>
                <a:cubicBezTo>
                  <a:pt x="838" y="3893"/>
                  <a:pt x="942" y="3955"/>
                  <a:pt x="1068" y="3997"/>
                </a:cubicBezTo>
                <a:cubicBezTo>
                  <a:pt x="1214" y="4060"/>
                  <a:pt x="1361" y="4102"/>
                  <a:pt x="1507" y="4123"/>
                </a:cubicBezTo>
                <a:cubicBezTo>
                  <a:pt x="1559" y="4136"/>
                  <a:pt x="1611" y="4141"/>
                  <a:pt x="1663" y="4141"/>
                </a:cubicBezTo>
                <a:cubicBezTo>
                  <a:pt x="1779" y="4141"/>
                  <a:pt x="1894" y="4116"/>
                  <a:pt x="2010" y="4102"/>
                </a:cubicBezTo>
                <a:cubicBezTo>
                  <a:pt x="2156" y="4081"/>
                  <a:pt x="2302" y="3997"/>
                  <a:pt x="2428" y="3934"/>
                </a:cubicBezTo>
                <a:cubicBezTo>
                  <a:pt x="2554" y="3893"/>
                  <a:pt x="2658" y="3851"/>
                  <a:pt x="2763" y="3767"/>
                </a:cubicBezTo>
                <a:cubicBezTo>
                  <a:pt x="2867" y="3683"/>
                  <a:pt x="3014" y="3600"/>
                  <a:pt x="3098" y="3495"/>
                </a:cubicBezTo>
                <a:cubicBezTo>
                  <a:pt x="3244" y="3390"/>
                  <a:pt x="3307" y="3265"/>
                  <a:pt x="3432" y="3139"/>
                </a:cubicBezTo>
                <a:cubicBezTo>
                  <a:pt x="3579" y="2909"/>
                  <a:pt x="3704" y="2616"/>
                  <a:pt x="3746" y="2323"/>
                </a:cubicBezTo>
                <a:lnTo>
                  <a:pt x="3746" y="1905"/>
                </a:lnTo>
                <a:cubicBezTo>
                  <a:pt x="3704" y="1737"/>
                  <a:pt x="3683" y="1570"/>
                  <a:pt x="3621" y="1403"/>
                </a:cubicBezTo>
                <a:cubicBezTo>
                  <a:pt x="3516" y="1152"/>
                  <a:pt x="3390" y="880"/>
                  <a:pt x="3223" y="670"/>
                </a:cubicBezTo>
                <a:cubicBezTo>
                  <a:pt x="3139" y="566"/>
                  <a:pt x="3056" y="503"/>
                  <a:pt x="2951" y="377"/>
                </a:cubicBezTo>
                <a:cubicBezTo>
                  <a:pt x="2805" y="252"/>
                  <a:pt x="2658" y="168"/>
                  <a:pt x="2491" y="105"/>
                </a:cubicBezTo>
                <a:cubicBezTo>
                  <a:pt x="2344" y="43"/>
                  <a:pt x="2219" y="22"/>
                  <a:pt x="209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97" name="Google Shape;297;p19"/>
          <p:cNvSpPr/>
          <p:nvPr/>
        </p:nvSpPr>
        <p:spPr>
          <a:xfrm>
            <a:off x="5249761" y="3630768"/>
            <a:ext cx="782075" cy="616600"/>
          </a:xfrm>
          <a:custGeom>
            <a:rect b="b" l="l" r="r" t="t"/>
            <a:pathLst>
              <a:path extrusionOk="0" h="24664" w="31283">
                <a:moveTo>
                  <a:pt x="31283" y="0"/>
                </a:moveTo>
                <a:cubicBezTo>
                  <a:pt x="29746" y="3175"/>
                  <a:pt x="27272" y="14939"/>
                  <a:pt x="22058" y="19050"/>
                </a:cubicBezTo>
                <a:cubicBezTo>
                  <a:pt x="16844" y="23161"/>
                  <a:pt x="3676" y="23728"/>
                  <a:pt x="0" y="24664"/>
                </a:cubicBezTo>
              </a:path>
            </a:pathLst>
          </a:custGeom>
          <a:noFill/>
          <a:ln cap="flat" cmpd="sng" w="19050">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19"/>
          <p:cNvSpPr/>
          <p:nvPr/>
        </p:nvSpPr>
        <p:spPr>
          <a:xfrm>
            <a:off x="5979911" y="3524418"/>
            <a:ext cx="116675" cy="106350"/>
          </a:xfrm>
          <a:custGeom>
            <a:rect b="b" l="l" r="r" t="t"/>
            <a:pathLst>
              <a:path extrusionOk="0" h="4254" w="4667">
                <a:moveTo>
                  <a:pt x="2407" y="775"/>
                </a:moveTo>
                <a:cubicBezTo>
                  <a:pt x="2490" y="796"/>
                  <a:pt x="2532" y="796"/>
                  <a:pt x="2616" y="817"/>
                </a:cubicBezTo>
                <a:cubicBezTo>
                  <a:pt x="2762" y="900"/>
                  <a:pt x="2930" y="984"/>
                  <a:pt x="3055" y="1089"/>
                </a:cubicBezTo>
                <a:cubicBezTo>
                  <a:pt x="3243" y="1235"/>
                  <a:pt x="3432" y="1403"/>
                  <a:pt x="3578" y="1612"/>
                </a:cubicBezTo>
                <a:cubicBezTo>
                  <a:pt x="3683" y="1737"/>
                  <a:pt x="3767" y="1905"/>
                  <a:pt x="3808" y="2030"/>
                </a:cubicBezTo>
                <a:cubicBezTo>
                  <a:pt x="3850" y="2114"/>
                  <a:pt x="3871" y="2219"/>
                  <a:pt x="3892" y="2281"/>
                </a:cubicBezTo>
                <a:cubicBezTo>
                  <a:pt x="3934" y="2449"/>
                  <a:pt x="3934" y="2553"/>
                  <a:pt x="3892" y="2637"/>
                </a:cubicBezTo>
                <a:cubicBezTo>
                  <a:pt x="3871" y="2700"/>
                  <a:pt x="3871" y="2804"/>
                  <a:pt x="3829" y="2888"/>
                </a:cubicBezTo>
                <a:cubicBezTo>
                  <a:pt x="3787" y="2951"/>
                  <a:pt x="3767" y="2972"/>
                  <a:pt x="3746" y="3014"/>
                </a:cubicBezTo>
                <a:lnTo>
                  <a:pt x="3578" y="3181"/>
                </a:lnTo>
                <a:cubicBezTo>
                  <a:pt x="3453" y="3286"/>
                  <a:pt x="3327" y="3369"/>
                  <a:pt x="3160" y="3411"/>
                </a:cubicBezTo>
                <a:cubicBezTo>
                  <a:pt x="2992" y="3495"/>
                  <a:pt x="2783" y="3537"/>
                  <a:pt x="2595" y="3579"/>
                </a:cubicBezTo>
                <a:cubicBezTo>
                  <a:pt x="2490" y="3589"/>
                  <a:pt x="2386" y="3594"/>
                  <a:pt x="2281" y="3594"/>
                </a:cubicBezTo>
                <a:cubicBezTo>
                  <a:pt x="2176" y="3594"/>
                  <a:pt x="2072" y="3589"/>
                  <a:pt x="1967" y="3579"/>
                </a:cubicBezTo>
                <a:cubicBezTo>
                  <a:pt x="1779" y="3537"/>
                  <a:pt x="1632" y="3495"/>
                  <a:pt x="1465" y="3432"/>
                </a:cubicBezTo>
                <a:cubicBezTo>
                  <a:pt x="1360" y="3390"/>
                  <a:pt x="1277" y="3328"/>
                  <a:pt x="1214" y="3286"/>
                </a:cubicBezTo>
                <a:cubicBezTo>
                  <a:pt x="1109" y="3202"/>
                  <a:pt x="1026" y="3097"/>
                  <a:pt x="942" y="3014"/>
                </a:cubicBezTo>
                <a:cubicBezTo>
                  <a:pt x="858" y="2909"/>
                  <a:pt x="795" y="2783"/>
                  <a:pt x="733" y="2679"/>
                </a:cubicBezTo>
                <a:cubicBezTo>
                  <a:pt x="691" y="2553"/>
                  <a:pt x="649" y="2428"/>
                  <a:pt x="628" y="2281"/>
                </a:cubicBezTo>
                <a:lnTo>
                  <a:pt x="628" y="2009"/>
                </a:lnTo>
                <a:cubicBezTo>
                  <a:pt x="649" y="1821"/>
                  <a:pt x="712" y="1633"/>
                  <a:pt x="774" y="1444"/>
                </a:cubicBezTo>
                <a:cubicBezTo>
                  <a:pt x="858" y="1277"/>
                  <a:pt x="963" y="1110"/>
                  <a:pt x="1088" y="921"/>
                </a:cubicBezTo>
                <a:cubicBezTo>
                  <a:pt x="1130" y="900"/>
                  <a:pt x="1151" y="838"/>
                  <a:pt x="1172" y="817"/>
                </a:cubicBezTo>
                <a:cubicBezTo>
                  <a:pt x="1193" y="859"/>
                  <a:pt x="1235" y="879"/>
                  <a:pt x="1277" y="900"/>
                </a:cubicBezTo>
                <a:cubicBezTo>
                  <a:pt x="1325" y="937"/>
                  <a:pt x="1388" y="959"/>
                  <a:pt x="1449" y="959"/>
                </a:cubicBezTo>
                <a:cubicBezTo>
                  <a:pt x="1492" y="959"/>
                  <a:pt x="1535" y="948"/>
                  <a:pt x="1570" y="921"/>
                </a:cubicBezTo>
                <a:cubicBezTo>
                  <a:pt x="1590" y="921"/>
                  <a:pt x="1611" y="900"/>
                  <a:pt x="1611" y="900"/>
                </a:cubicBezTo>
                <a:cubicBezTo>
                  <a:pt x="1611" y="1005"/>
                  <a:pt x="1695" y="1110"/>
                  <a:pt x="1800" y="1131"/>
                </a:cubicBezTo>
                <a:cubicBezTo>
                  <a:pt x="1822" y="1138"/>
                  <a:pt x="1846" y="1141"/>
                  <a:pt x="1869" y="1141"/>
                </a:cubicBezTo>
                <a:cubicBezTo>
                  <a:pt x="1980" y="1141"/>
                  <a:pt x="2096" y="1066"/>
                  <a:pt x="2114" y="963"/>
                </a:cubicBezTo>
                <a:cubicBezTo>
                  <a:pt x="2114" y="900"/>
                  <a:pt x="2135" y="817"/>
                  <a:pt x="2135" y="775"/>
                </a:cubicBezTo>
                <a:close/>
                <a:moveTo>
                  <a:pt x="1590" y="1"/>
                </a:moveTo>
                <a:cubicBezTo>
                  <a:pt x="1528" y="1"/>
                  <a:pt x="1423" y="42"/>
                  <a:pt x="1339" y="63"/>
                </a:cubicBezTo>
                <a:cubicBezTo>
                  <a:pt x="1235" y="84"/>
                  <a:pt x="1151" y="147"/>
                  <a:pt x="1067" y="189"/>
                </a:cubicBezTo>
                <a:cubicBezTo>
                  <a:pt x="900" y="315"/>
                  <a:pt x="733" y="524"/>
                  <a:pt x="586" y="712"/>
                </a:cubicBezTo>
                <a:cubicBezTo>
                  <a:pt x="440" y="900"/>
                  <a:pt x="335" y="1089"/>
                  <a:pt x="230" y="1298"/>
                </a:cubicBezTo>
                <a:cubicBezTo>
                  <a:pt x="126" y="1528"/>
                  <a:pt x="63" y="1758"/>
                  <a:pt x="21" y="2030"/>
                </a:cubicBezTo>
                <a:cubicBezTo>
                  <a:pt x="0" y="2260"/>
                  <a:pt x="21" y="2491"/>
                  <a:pt x="105" y="2700"/>
                </a:cubicBezTo>
                <a:cubicBezTo>
                  <a:pt x="168" y="2930"/>
                  <a:pt x="293" y="3181"/>
                  <a:pt x="419" y="3369"/>
                </a:cubicBezTo>
                <a:cubicBezTo>
                  <a:pt x="502" y="3453"/>
                  <a:pt x="544" y="3537"/>
                  <a:pt x="649" y="3620"/>
                </a:cubicBezTo>
                <a:cubicBezTo>
                  <a:pt x="733" y="3704"/>
                  <a:pt x="837" y="3788"/>
                  <a:pt x="921" y="3851"/>
                </a:cubicBezTo>
                <a:cubicBezTo>
                  <a:pt x="1005" y="3913"/>
                  <a:pt x="1109" y="3955"/>
                  <a:pt x="1172" y="4018"/>
                </a:cubicBezTo>
                <a:cubicBezTo>
                  <a:pt x="1318" y="4060"/>
                  <a:pt x="1444" y="4123"/>
                  <a:pt x="1570" y="4144"/>
                </a:cubicBezTo>
                <a:cubicBezTo>
                  <a:pt x="1779" y="4185"/>
                  <a:pt x="2009" y="4227"/>
                  <a:pt x="2260" y="4248"/>
                </a:cubicBezTo>
                <a:cubicBezTo>
                  <a:pt x="2301" y="4252"/>
                  <a:pt x="2342" y="4254"/>
                  <a:pt x="2384" y="4254"/>
                </a:cubicBezTo>
                <a:cubicBezTo>
                  <a:pt x="2579" y="4254"/>
                  <a:pt x="2786" y="4216"/>
                  <a:pt x="2992" y="4164"/>
                </a:cubicBezTo>
                <a:cubicBezTo>
                  <a:pt x="3223" y="4123"/>
                  <a:pt x="3432" y="4039"/>
                  <a:pt x="3620" y="3955"/>
                </a:cubicBezTo>
                <a:cubicBezTo>
                  <a:pt x="3829" y="3851"/>
                  <a:pt x="4039" y="3725"/>
                  <a:pt x="4206" y="3558"/>
                </a:cubicBezTo>
                <a:cubicBezTo>
                  <a:pt x="4373" y="3411"/>
                  <a:pt x="4478" y="3202"/>
                  <a:pt x="4562" y="2993"/>
                </a:cubicBezTo>
                <a:cubicBezTo>
                  <a:pt x="4583" y="2888"/>
                  <a:pt x="4603" y="2763"/>
                  <a:pt x="4624" y="2658"/>
                </a:cubicBezTo>
                <a:cubicBezTo>
                  <a:pt x="4666" y="2553"/>
                  <a:pt x="4666" y="2407"/>
                  <a:pt x="4624" y="2302"/>
                </a:cubicBezTo>
                <a:cubicBezTo>
                  <a:pt x="4603" y="2135"/>
                  <a:pt x="4583" y="1947"/>
                  <a:pt x="4499" y="1779"/>
                </a:cubicBezTo>
                <a:cubicBezTo>
                  <a:pt x="4457" y="1612"/>
                  <a:pt x="4373" y="1444"/>
                  <a:pt x="4269" y="1298"/>
                </a:cubicBezTo>
                <a:cubicBezTo>
                  <a:pt x="4164" y="1131"/>
                  <a:pt x="4039" y="1005"/>
                  <a:pt x="3892" y="859"/>
                </a:cubicBezTo>
                <a:cubicBezTo>
                  <a:pt x="3767" y="691"/>
                  <a:pt x="3620" y="566"/>
                  <a:pt x="3453" y="461"/>
                </a:cubicBezTo>
                <a:cubicBezTo>
                  <a:pt x="3327" y="356"/>
                  <a:pt x="3160" y="273"/>
                  <a:pt x="3013" y="189"/>
                </a:cubicBezTo>
                <a:cubicBezTo>
                  <a:pt x="2909" y="147"/>
                  <a:pt x="2804" y="126"/>
                  <a:pt x="2699" y="63"/>
                </a:cubicBezTo>
                <a:cubicBezTo>
                  <a:pt x="2595" y="42"/>
                  <a:pt x="2490" y="42"/>
                  <a:pt x="2365" y="22"/>
                </a:cubicBezTo>
                <a:cubicBezTo>
                  <a:pt x="2197" y="22"/>
                  <a:pt x="2009" y="22"/>
                  <a:pt x="1862" y="63"/>
                </a:cubicBezTo>
                <a:cubicBezTo>
                  <a:pt x="1842" y="63"/>
                  <a:pt x="1842" y="42"/>
                  <a:pt x="1800" y="42"/>
                </a:cubicBezTo>
                <a:cubicBezTo>
                  <a:pt x="1758" y="1"/>
                  <a:pt x="1674" y="1"/>
                  <a:pt x="163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99" name="Google Shape;299;p19"/>
          <p:cNvSpPr/>
          <p:nvPr/>
        </p:nvSpPr>
        <p:spPr>
          <a:xfrm>
            <a:off x="6539141" y="3520475"/>
            <a:ext cx="1566708" cy="753425"/>
          </a:xfrm>
          <a:custGeom>
            <a:rect b="b" l="l" r="r" t="t"/>
            <a:pathLst>
              <a:path extrusionOk="0" h="30137" w="34490">
                <a:moveTo>
                  <a:pt x="0" y="0"/>
                </a:moveTo>
                <a:cubicBezTo>
                  <a:pt x="1604" y="4044"/>
                  <a:pt x="6216" y="19251"/>
                  <a:pt x="9625" y="24264"/>
                </a:cubicBezTo>
                <a:cubicBezTo>
                  <a:pt x="13034" y="29277"/>
                  <a:pt x="16309" y="29845"/>
                  <a:pt x="20453" y="30079"/>
                </a:cubicBezTo>
                <a:cubicBezTo>
                  <a:pt x="24597" y="30313"/>
                  <a:pt x="32151" y="26402"/>
                  <a:pt x="34490" y="25667"/>
                </a:cubicBezTo>
              </a:path>
            </a:pathLst>
          </a:custGeom>
          <a:noFill/>
          <a:ln cap="flat" cmpd="sng" w="19050">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19"/>
          <p:cNvSpPr/>
          <p:nvPr/>
        </p:nvSpPr>
        <p:spPr>
          <a:xfrm>
            <a:off x="6451286" y="3404918"/>
            <a:ext cx="122950" cy="115550"/>
          </a:xfrm>
          <a:custGeom>
            <a:rect b="b" l="l" r="r" t="t"/>
            <a:pathLst>
              <a:path extrusionOk="0" h="4622" w="4918">
                <a:moveTo>
                  <a:pt x="3139" y="1360"/>
                </a:moveTo>
                <a:cubicBezTo>
                  <a:pt x="3244" y="1465"/>
                  <a:pt x="3306" y="1570"/>
                  <a:pt x="3390" y="1716"/>
                </a:cubicBezTo>
                <a:cubicBezTo>
                  <a:pt x="3578" y="1946"/>
                  <a:pt x="3725" y="2197"/>
                  <a:pt x="3830" y="2469"/>
                </a:cubicBezTo>
                <a:cubicBezTo>
                  <a:pt x="3913" y="2658"/>
                  <a:pt x="3976" y="2825"/>
                  <a:pt x="3997" y="3013"/>
                </a:cubicBezTo>
                <a:lnTo>
                  <a:pt x="3997" y="3285"/>
                </a:lnTo>
                <a:cubicBezTo>
                  <a:pt x="3976" y="3348"/>
                  <a:pt x="3976" y="3411"/>
                  <a:pt x="3934" y="3453"/>
                </a:cubicBezTo>
                <a:cubicBezTo>
                  <a:pt x="3913" y="3495"/>
                  <a:pt x="3913" y="3515"/>
                  <a:pt x="3892" y="3536"/>
                </a:cubicBezTo>
                <a:cubicBezTo>
                  <a:pt x="3809" y="3599"/>
                  <a:pt x="3725" y="3641"/>
                  <a:pt x="3662" y="3662"/>
                </a:cubicBezTo>
                <a:cubicBezTo>
                  <a:pt x="3453" y="3746"/>
                  <a:pt x="3202" y="3808"/>
                  <a:pt x="2993" y="3829"/>
                </a:cubicBezTo>
                <a:cubicBezTo>
                  <a:pt x="2811" y="3841"/>
                  <a:pt x="2644" y="3853"/>
                  <a:pt x="2475" y="3853"/>
                </a:cubicBezTo>
                <a:cubicBezTo>
                  <a:pt x="2351" y="3853"/>
                  <a:pt x="2226" y="3847"/>
                  <a:pt x="2093" y="3829"/>
                </a:cubicBezTo>
                <a:cubicBezTo>
                  <a:pt x="1884" y="3808"/>
                  <a:pt x="1674" y="3746"/>
                  <a:pt x="1486" y="3662"/>
                </a:cubicBezTo>
                <a:cubicBezTo>
                  <a:pt x="1382" y="3620"/>
                  <a:pt x="1277" y="3557"/>
                  <a:pt x="1172" y="3495"/>
                </a:cubicBezTo>
                <a:cubicBezTo>
                  <a:pt x="1068" y="3411"/>
                  <a:pt x="984" y="3327"/>
                  <a:pt x="900" y="3223"/>
                </a:cubicBezTo>
                <a:cubicBezTo>
                  <a:pt x="858" y="3181"/>
                  <a:pt x="837" y="3097"/>
                  <a:pt x="796" y="3034"/>
                </a:cubicBezTo>
                <a:lnTo>
                  <a:pt x="733" y="2720"/>
                </a:lnTo>
                <a:lnTo>
                  <a:pt x="733" y="2469"/>
                </a:lnTo>
                <a:cubicBezTo>
                  <a:pt x="754" y="2386"/>
                  <a:pt x="754" y="2302"/>
                  <a:pt x="775" y="2260"/>
                </a:cubicBezTo>
                <a:cubicBezTo>
                  <a:pt x="837" y="2155"/>
                  <a:pt x="900" y="2051"/>
                  <a:pt x="963" y="1946"/>
                </a:cubicBezTo>
                <a:cubicBezTo>
                  <a:pt x="1047" y="1863"/>
                  <a:pt x="1109" y="1758"/>
                  <a:pt x="1193" y="1716"/>
                </a:cubicBezTo>
                <a:cubicBezTo>
                  <a:pt x="1298" y="1632"/>
                  <a:pt x="1402" y="1570"/>
                  <a:pt x="1507" y="1528"/>
                </a:cubicBezTo>
                <a:cubicBezTo>
                  <a:pt x="1674" y="1423"/>
                  <a:pt x="1800" y="1360"/>
                  <a:pt x="1926" y="1360"/>
                </a:cubicBezTo>
                <a:lnTo>
                  <a:pt x="2135" y="1360"/>
                </a:lnTo>
                <a:cubicBezTo>
                  <a:pt x="2239" y="1402"/>
                  <a:pt x="2323" y="1423"/>
                  <a:pt x="2428" y="1444"/>
                </a:cubicBezTo>
                <a:cubicBezTo>
                  <a:pt x="2470" y="1465"/>
                  <a:pt x="2511" y="1507"/>
                  <a:pt x="2553" y="1528"/>
                </a:cubicBezTo>
                <a:lnTo>
                  <a:pt x="2574" y="1549"/>
                </a:lnTo>
                <a:cubicBezTo>
                  <a:pt x="2658" y="1611"/>
                  <a:pt x="2721" y="1653"/>
                  <a:pt x="2825" y="1653"/>
                </a:cubicBezTo>
                <a:cubicBezTo>
                  <a:pt x="2888" y="1653"/>
                  <a:pt x="2993" y="1632"/>
                  <a:pt x="3055" y="1549"/>
                </a:cubicBezTo>
                <a:cubicBezTo>
                  <a:pt x="3097" y="1507"/>
                  <a:pt x="3139" y="1444"/>
                  <a:pt x="3139" y="1360"/>
                </a:cubicBezTo>
                <a:close/>
                <a:moveTo>
                  <a:pt x="2574" y="0"/>
                </a:moveTo>
                <a:cubicBezTo>
                  <a:pt x="2470" y="0"/>
                  <a:pt x="2365" y="42"/>
                  <a:pt x="2281" y="63"/>
                </a:cubicBezTo>
                <a:cubicBezTo>
                  <a:pt x="2051" y="105"/>
                  <a:pt x="1926" y="377"/>
                  <a:pt x="2009" y="586"/>
                </a:cubicBezTo>
                <a:cubicBezTo>
                  <a:pt x="2009" y="607"/>
                  <a:pt x="2030" y="670"/>
                  <a:pt x="2051" y="691"/>
                </a:cubicBezTo>
                <a:cubicBezTo>
                  <a:pt x="1863" y="691"/>
                  <a:pt x="1716" y="733"/>
                  <a:pt x="1549" y="754"/>
                </a:cubicBezTo>
                <a:cubicBezTo>
                  <a:pt x="1214" y="837"/>
                  <a:pt x="984" y="984"/>
                  <a:pt x="754" y="1151"/>
                </a:cubicBezTo>
                <a:cubicBezTo>
                  <a:pt x="524" y="1339"/>
                  <a:pt x="335" y="1549"/>
                  <a:pt x="210" y="1821"/>
                </a:cubicBezTo>
                <a:cubicBezTo>
                  <a:pt x="63" y="2051"/>
                  <a:pt x="1" y="2302"/>
                  <a:pt x="1" y="2574"/>
                </a:cubicBezTo>
                <a:cubicBezTo>
                  <a:pt x="1" y="2699"/>
                  <a:pt x="21" y="2825"/>
                  <a:pt x="21" y="2971"/>
                </a:cubicBezTo>
                <a:cubicBezTo>
                  <a:pt x="42" y="3118"/>
                  <a:pt x="105" y="3243"/>
                  <a:pt x="168" y="3411"/>
                </a:cubicBezTo>
                <a:cubicBezTo>
                  <a:pt x="231" y="3536"/>
                  <a:pt x="335" y="3641"/>
                  <a:pt x="398" y="3746"/>
                </a:cubicBezTo>
                <a:cubicBezTo>
                  <a:pt x="482" y="3850"/>
                  <a:pt x="586" y="3955"/>
                  <a:pt x="691" y="4039"/>
                </a:cubicBezTo>
                <a:cubicBezTo>
                  <a:pt x="796" y="4122"/>
                  <a:pt x="900" y="4185"/>
                  <a:pt x="1047" y="4269"/>
                </a:cubicBezTo>
                <a:cubicBezTo>
                  <a:pt x="1172" y="4352"/>
                  <a:pt x="1319" y="4394"/>
                  <a:pt x="1486" y="4457"/>
                </a:cubicBezTo>
                <a:cubicBezTo>
                  <a:pt x="1811" y="4577"/>
                  <a:pt x="2170" y="4622"/>
                  <a:pt x="2528" y="4622"/>
                </a:cubicBezTo>
                <a:cubicBezTo>
                  <a:pt x="2793" y="4622"/>
                  <a:pt x="3057" y="4597"/>
                  <a:pt x="3306" y="4562"/>
                </a:cubicBezTo>
                <a:cubicBezTo>
                  <a:pt x="3453" y="4520"/>
                  <a:pt x="3578" y="4499"/>
                  <a:pt x="3725" y="4478"/>
                </a:cubicBezTo>
                <a:cubicBezTo>
                  <a:pt x="3871" y="4457"/>
                  <a:pt x="3997" y="4394"/>
                  <a:pt x="4122" y="4311"/>
                </a:cubicBezTo>
                <a:cubicBezTo>
                  <a:pt x="4248" y="4269"/>
                  <a:pt x="4395" y="4185"/>
                  <a:pt x="4499" y="4101"/>
                </a:cubicBezTo>
                <a:cubicBezTo>
                  <a:pt x="4625" y="3997"/>
                  <a:pt x="4708" y="3850"/>
                  <a:pt x="4771" y="3683"/>
                </a:cubicBezTo>
                <a:cubicBezTo>
                  <a:pt x="4876" y="3453"/>
                  <a:pt x="4918" y="3160"/>
                  <a:pt x="4876" y="2909"/>
                </a:cubicBezTo>
                <a:cubicBezTo>
                  <a:pt x="4855" y="2574"/>
                  <a:pt x="4750" y="2281"/>
                  <a:pt x="4625" y="1967"/>
                </a:cubicBezTo>
                <a:cubicBezTo>
                  <a:pt x="4520" y="1695"/>
                  <a:pt x="4353" y="1465"/>
                  <a:pt x="4206" y="1256"/>
                </a:cubicBezTo>
                <a:cubicBezTo>
                  <a:pt x="4102" y="1130"/>
                  <a:pt x="4018" y="1005"/>
                  <a:pt x="3913" y="900"/>
                </a:cubicBezTo>
                <a:cubicBezTo>
                  <a:pt x="3809" y="754"/>
                  <a:pt x="3704" y="628"/>
                  <a:pt x="3599" y="523"/>
                </a:cubicBezTo>
                <a:cubicBezTo>
                  <a:pt x="3516" y="440"/>
                  <a:pt x="3432" y="377"/>
                  <a:pt x="3327" y="293"/>
                </a:cubicBezTo>
                <a:cubicBezTo>
                  <a:pt x="3286" y="230"/>
                  <a:pt x="3244" y="210"/>
                  <a:pt x="3181" y="189"/>
                </a:cubicBezTo>
                <a:cubicBezTo>
                  <a:pt x="3118" y="147"/>
                  <a:pt x="3014" y="105"/>
                  <a:pt x="2972" y="84"/>
                </a:cubicBezTo>
                <a:cubicBezTo>
                  <a:pt x="2846" y="42"/>
                  <a:pt x="2742" y="42"/>
                  <a:pt x="2595"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20"/>
          <p:cNvSpPr txBox="1"/>
          <p:nvPr>
            <p:ph type="title"/>
          </p:nvPr>
        </p:nvSpPr>
        <p:spPr>
          <a:xfrm>
            <a:off x="6242304" y="215000"/>
            <a:ext cx="5111495" cy="1325563"/>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dk1"/>
              </a:buClr>
              <a:buSzPts val="4400"/>
              <a:buFont typeface="Arial Rounded"/>
              <a:buNone/>
            </a:pPr>
            <a:r>
              <a:rPr b="1" lang="en-US">
                <a:latin typeface="Arial Rounded"/>
                <a:ea typeface="Arial Rounded"/>
                <a:cs typeface="Arial Rounded"/>
                <a:sym typeface="Arial Rounded"/>
              </a:rPr>
              <a:t>Contoh soal CT</a:t>
            </a:r>
            <a:endParaRPr/>
          </a:p>
        </p:txBody>
      </p:sp>
      <p:sp>
        <p:nvSpPr>
          <p:cNvPr id="306" name="Google Shape;306;p20"/>
          <p:cNvSpPr txBox="1"/>
          <p:nvPr>
            <p:ph idx="1" type="body"/>
          </p:nvPr>
        </p:nvSpPr>
        <p:spPr>
          <a:xfrm>
            <a:off x="545378" y="1086125"/>
            <a:ext cx="10515600" cy="4351338"/>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b="1" lang="en-US" sz="2400"/>
              <a:t>Berang-berang menggunakan bohlam biner untuk mengirim pesan.</a:t>
            </a:r>
            <a:br>
              <a:rPr lang="en-US" sz="2400"/>
            </a:br>
            <a:r>
              <a:rPr lang="en-US" sz="2400"/>
              <a:t>Untuk mengirim pesan, mereka menggunakan tabel dan aturan berikut.</a:t>
            </a:r>
            <a:br>
              <a:rPr lang="en-US" sz="2400"/>
            </a:br>
            <a:r>
              <a:rPr lang="en-US" sz="2400"/>
              <a:t>Berang-berang mengirim pesan sebagai berikut:</a:t>
            </a:r>
            <a:endParaRPr/>
          </a:p>
          <a:p>
            <a:pPr indent="-342900" lvl="0" marL="457200" rtl="0" algn="l">
              <a:lnSpc>
                <a:spcPct val="90000"/>
              </a:lnSpc>
              <a:spcBef>
                <a:spcPts val="1000"/>
              </a:spcBef>
              <a:spcAft>
                <a:spcPts val="0"/>
              </a:spcAft>
              <a:buClr>
                <a:schemeClr val="dk1"/>
              </a:buClr>
              <a:buSzPts val="1800"/>
              <a:buChar char="•"/>
            </a:pPr>
            <a:r>
              <a:rPr lang="en-US" sz="2400"/>
              <a:t>📋 </a:t>
            </a:r>
            <a:r>
              <a:rPr b="1" lang="en-US" sz="2400"/>
              <a:t>Tabel Kode (A–Z):</a:t>
            </a:r>
            <a:br>
              <a:rPr lang="en-US" sz="2400"/>
            </a:br>
            <a:r>
              <a:rPr lang="en-US" sz="2400"/>
              <a:t>(Setiap huruf direpresentasikan oleh kode biner 8-bit, seperti dalam tabel di sebelah kiri.)</a:t>
            </a:r>
            <a:endParaRPr/>
          </a:p>
          <a:p>
            <a:pPr indent="0" lvl="0" marL="0" rtl="0" algn="l">
              <a:lnSpc>
                <a:spcPct val="90000"/>
              </a:lnSpc>
              <a:spcBef>
                <a:spcPts val="0"/>
              </a:spcBef>
              <a:spcAft>
                <a:spcPts val="0"/>
              </a:spcAft>
              <a:buSzPts val="2100"/>
              <a:buNone/>
            </a:pPr>
            <a:r>
              <a:t/>
            </a:r>
            <a:endParaRPr sz="2100"/>
          </a:p>
        </p:txBody>
      </p:sp>
      <p:pic>
        <p:nvPicPr>
          <p:cNvPr id="307" name="Google Shape;307;p20"/>
          <p:cNvPicPr preferRelativeResize="0"/>
          <p:nvPr/>
        </p:nvPicPr>
        <p:blipFill rotWithShape="1">
          <a:blip r:embed="rId3">
            <a:alphaModFix/>
          </a:blip>
          <a:srcRect b="0" l="0" r="0" t="0"/>
          <a:stretch/>
        </p:blipFill>
        <p:spPr>
          <a:xfrm>
            <a:off x="2832798" y="3157623"/>
            <a:ext cx="7772400" cy="3272017"/>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22"/>
          <p:cNvSpPr txBox="1"/>
          <p:nvPr>
            <p:ph type="title"/>
          </p:nvPr>
        </p:nvSpPr>
        <p:spPr>
          <a:xfrm>
            <a:off x="838200" y="0"/>
            <a:ext cx="10515600" cy="1325563"/>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dk1"/>
              </a:buClr>
              <a:buSzPts val="4000"/>
              <a:buFont typeface="Arial Rounded"/>
              <a:buNone/>
            </a:pPr>
            <a:r>
              <a:rPr b="1" lang="en-US" sz="4000">
                <a:latin typeface="Arial Rounded"/>
                <a:ea typeface="Arial Rounded"/>
                <a:cs typeface="Arial Rounded"/>
                <a:sym typeface="Arial Rounded"/>
              </a:rPr>
              <a:t>Contoh soal CT- Runtutan</a:t>
            </a:r>
            <a:endParaRPr b="1" sz="4000">
              <a:latin typeface="Arial Rounded"/>
              <a:ea typeface="Arial Rounded"/>
              <a:cs typeface="Arial Rounded"/>
              <a:sym typeface="Arial Rounded"/>
            </a:endParaRPr>
          </a:p>
        </p:txBody>
      </p:sp>
      <p:sp>
        <p:nvSpPr>
          <p:cNvPr id="313" name="Google Shape;313;p22"/>
          <p:cNvSpPr txBox="1"/>
          <p:nvPr>
            <p:ph idx="1" type="body"/>
          </p:nvPr>
        </p:nvSpPr>
        <p:spPr>
          <a:xfrm>
            <a:off x="438912" y="1006760"/>
            <a:ext cx="6016479" cy="2295998"/>
          </a:xfrm>
          <a:prstGeom prst="rect">
            <a:avLst/>
          </a:prstGeom>
          <a:noFill/>
          <a:ln>
            <a:noFill/>
          </a:ln>
        </p:spPr>
        <p:txBody>
          <a:bodyPr anchorCtr="0" anchor="t" bIns="45700" lIns="91425" spcFirstLastPara="1" rIns="91425" wrap="square" tIns="45700">
            <a:noAutofit/>
          </a:bodyPr>
          <a:lstStyle/>
          <a:p>
            <a:pPr indent="-342900" lvl="0" marL="457200" rtl="0" algn="l">
              <a:lnSpc>
                <a:spcPct val="90000"/>
              </a:lnSpc>
              <a:spcBef>
                <a:spcPts val="1000"/>
              </a:spcBef>
              <a:spcAft>
                <a:spcPts val="0"/>
              </a:spcAft>
              <a:buSzPts val="1800"/>
              <a:buChar char="•"/>
            </a:pPr>
            <a:r>
              <a:rPr lang="en-US" sz="1800">
                <a:solidFill>
                  <a:schemeClr val="dk1"/>
                </a:solidFill>
                <a:latin typeface="Arial"/>
                <a:ea typeface="Arial"/>
                <a:cs typeface="Arial"/>
                <a:sym typeface="Arial"/>
              </a:rPr>
              <a:t>Tim Berang-berang membangun prototipe lengan robot. </a:t>
            </a:r>
            <a:r>
              <a:rPr b="0" i="0" lang="en-US" sz="1800">
                <a:solidFill>
                  <a:schemeClr val="dk1"/>
                </a:solidFill>
                <a:latin typeface="Arial"/>
                <a:ea typeface="Arial"/>
                <a:cs typeface="Arial"/>
                <a:sym typeface="Arial"/>
              </a:rPr>
              <a:t>Prototipe tersebut akan diuji dengan cara berikut</a:t>
            </a:r>
            <a:r>
              <a:rPr lang="en-US" sz="1800">
                <a:solidFill>
                  <a:schemeClr val="dk1"/>
                </a:solidFill>
                <a:latin typeface="Arial"/>
                <a:ea typeface="Arial"/>
                <a:cs typeface="Arial"/>
                <a:sym typeface="Arial"/>
              </a:rPr>
              <a:t>: </a:t>
            </a:r>
            <a:r>
              <a:rPr b="0" i="0" lang="en-US" sz="1800">
                <a:solidFill>
                  <a:schemeClr val="dk1"/>
                </a:solidFill>
                <a:latin typeface="Arial"/>
                <a:ea typeface="Arial"/>
                <a:cs typeface="Arial"/>
                <a:sym typeface="Arial"/>
              </a:rPr>
              <a:t>Mereka menempatkan lengan tersebut di atas meja dengan dua bola: satu di dalam nampan A, dan satu lagi di dalam nampan B. Nampan C kosong. Lengan robot mengikuti Algoritma dengan urutan langkah-langkah berikut:</a:t>
            </a:r>
            <a:endParaRPr/>
          </a:p>
          <a:p>
            <a:pPr indent="-342900" lvl="0" marL="457200" rtl="0" algn="l">
              <a:lnSpc>
                <a:spcPct val="100000"/>
              </a:lnSpc>
              <a:spcBef>
                <a:spcPts val="250"/>
              </a:spcBef>
              <a:spcAft>
                <a:spcPts val="0"/>
              </a:spcAft>
              <a:buSzPts val="1800"/>
              <a:buFont typeface="Arial"/>
              <a:buAutoNum type="arabicPeriod"/>
            </a:pPr>
            <a:r>
              <a:rPr b="0" i="0" lang="en-US" sz="1800">
                <a:solidFill>
                  <a:schemeClr val="dk1"/>
                </a:solidFill>
                <a:latin typeface="Arial"/>
                <a:ea typeface="Arial"/>
                <a:cs typeface="Arial"/>
                <a:sym typeface="Arial"/>
              </a:rPr>
              <a:t>Mengambil bola di dalam nampan A dan meletakkannya ke dalam nampan C.</a:t>
            </a:r>
            <a:endParaRPr/>
          </a:p>
          <a:p>
            <a:pPr indent="-342900" lvl="0" marL="457200" rtl="0" algn="l">
              <a:lnSpc>
                <a:spcPct val="100000"/>
              </a:lnSpc>
              <a:spcBef>
                <a:spcPts val="250"/>
              </a:spcBef>
              <a:spcAft>
                <a:spcPts val="0"/>
              </a:spcAft>
              <a:buSzPts val="1800"/>
              <a:buFont typeface="Arial"/>
              <a:buAutoNum type="arabicPeriod"/>
            </a:pPr>
            <a:r>
              <a:rPr b="0" i="0" lang="en-US" sz="1800">
                <a:solidFill>
                  <a:schemeClr val="dk1"/>
                </a:solidFill>
                <a:latin typeface="Arial"/>
                <a:ea typeface="Arial"/>
                <a:cs typeface="Arial"/>
                <a:sym typeface="Arial"/>
              </a:rPr>
              <a:t>Mengambil bola di dalam nampan B dan meletakkannya kedalam nampan A.</a:t>
            </a:r>
            <a:endParaRPr/>
          </a:p>
          <a:p>
            <a:pPr indent="-342900" lvl="0" marL="457200" rtl="0" algn="l">
              <a:lnSpc>
                <a:spcPct val="100000"/>
              </a:lnSpc>
              <a:spcBef>
                <a:spcPts val="250"/>
              </a:spcBef>
              <a:spcAft>
                <a:spcPts val="0"/>
              </a:spcAft>
              <a:buSzPts val="1800"/>
              <a:buFont typeface="Arial"/>
              <a:buAutoNum type="arabicPeriod"/>
            </a:pPr>
            <a:r>
              <a:rPr b="0" i="0" lang="en-US" sz="1800">
                <a:solidFill>
                  <a:schemeClr val="dk1"/>
                </a:solidFill>
                <a:latin typeface="Arial"/>
                <a:ea typeface="Arial"/>
                <a:cs typeface="Arial"/>
                <a:sym typeface="Arial"/>
              </a:rPr>
              <a:t>Mengambil bola di dalam nampan C dan meletakkannya kedalam nampan B.</a:t>
            </a:r>
            <a:endParaRPr/>
          </a:p>
          <a:p>
            <a:pPr indent="0" lvl="0" marL="0" rtl="0" algn="l">
              <a:lnSpc>
                <a:spcPct val="90000"/>
              </a:lnSpc>
              <a:spcBef>
                <a:spcPts val="0"/>
              </a:spcBef>
              <a:spcAft>
                <a:spcPts val="0"/>
              </a:spcAft>
              <a:buSzPts val="2400"/>
              <a:buNone/>
            </a:pPr>
            <a:br>
              <a:rPr lang="en-US">
                <a:solidFill>
                  <a:schemeClr val="dk1"/>
                </a:solidFill>
              </a:rPr>
            </a:br>
            <a:endParaRPr>
              <a:solidFill>
                <a:schemeClr val="dk1"/>
              </a:solidFill>
            </a:endParaRPr>
          </a:p>
        </p:txBody>
      </p:sp>
      <p:sp>
        <p:nvSpPr>
          <p:cNvPr id="314" name="Google Shape;314;p22"/>
          <p:cNvSpPr txBox="1"/>
          <p:nvPr/>
        </p:nvSpPr>
        <p:spPr>
          <a:xfrm>
            <a:off x="780894" y="4935049"/>
            <a:ext cx="10342027" cy="400069"/>
          </a:xfrm>
          <a:prstGeom prst="rect">
            <a:avLst/>
          </a:prstGeom>
          <a:solidFill>
            <a:srgbClr val="FFD966"/>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Ketika lengan robot selesai, manakah pernyataan berikut yang benar?</a:t>
            </a:r>
            <a:endParaRPr b="0" i="0" sz="2000" u="none" cap="none" strike="noStrike">
              <a:solidFill>
                <a:schemeClr val="dk1"/>
              </a:solidFill>
              <a:latin typeface="Calibri"/>
              <a:ea typeface="Calibri"/>
              <a:cs typeface="Calibri"/>
              <a:sym typeface="Calibri"/>
            </a:endParaRPr>
          </a:p>
        </p:txBody>
      </p:sp>
      <p:graphicFrame>
        <p:nvGraphicFramePr>
          <p:cNvPr id="315" name="Google Shape;315;p22"/>
          <p:cNvGraphicFramePr/>
          <p:nvPr/>
        </p:nvGraphicFramePr>
        <p:xfrm>
          <a:off x="1668452" y="5591150"/>
          <a:ext cx="3000000" cy="3000000"/>
        </p:xfrm>
        <a:graphic>
          <a:graphicData uri="http://schemas.openxmlformats.org/drawingml/2006/table">
            <a:tbl>
              <a:tblPr bandRow="1" firstRow="1">
                <a:noFill/>
                <a:tableStyleId>{5E3A9CBF-5860-4AEE-B7D5-FF78217091C9}</a:tableStyleId>
              </a:tblPr>
              <a:tblGrid>
                <a:gridCol w="4064000"/>
                <a:gridCol w="4064000"/>
              </a:tblGrid>
              <a:tr h="370850">
                <a:tc>
                  <a:txBody>
                    <a:bodyPr/>
                    <a:lstStyle/>
                    <a:p>
                      <a:pPr indent="0" lvl="0" marL="0" marR="0" rtl="0" algn="l">
                        <a:lnSpc>
                          <a:spcPct val="100000"/>
                        </a:lnSpc>
                        <a:spcBef>
                          <a:spcPts val="0"/>
                        </a:spcBef>
                        <a:spcAft>
                          <a:spcPts val="0"/>
                        </a:spcAft>
                        <a:buNone/>
                      </a:pPr>
                      <a:r>
                        <a:rPr lang="en-US" sz="1400" u="none" cap="none" strike="noStrike">
                          <a:solidFill>
                            <a:schemeClr val="dk1"/>
                          </a:solidFill>
                        </a:rPr>
                        <a:t>A. </a:t>
                      </a:r>
                      <a:r>
                        <a:rPr lang="en-US" sz="1400" u="none" cap="none" strike="noStrike">
                          <a:solidFill>
                            <a:schemeClr val="dk1"/>
                          </a:solidFill>
                          <a:latin typeface="Helvetica Neue"/>
                          <a:ea typeface="Helvetica Neue"/>
                          <a:cs typeface="Helvetica Neue"/>
                          <a:sym typeface="Helvetica Neue"/>
                        </a:rPr>
                        <a:t>Ada dua bola di nampan A</a:t>
                      </a:r>
                      <a:endParaRPr sz="14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400" u="none" cap="none" strike="noStrike"/>
                        <a:t>B. Tidak ada yang berubah. Setiap bola kembali ke tempat awal</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l">
                        <a:lnSpc>
                          <a:spcPct val="100000"/>
                        </a:lnSpc>
                        <a:spcBef>
                          <a:spcPts val="0"/>
                        </a:spcBef>
                        <a:spcAft>
                          <a:spcPts val="0"/>
                        </a:spcAft>
                        <a:buNone/>
                      </a:pPr>
                      <a:r>
                        <a:rPr lang="en-US" sz="1400" u="none" cap="none" strike="noStrike"/>
                        <a:t>C. Nampan A kosong</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400" u="none" cap="none" strike="noStrike"/>
                        <a:t>D. Nampan C kosong</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pic>
        <p:nvPicPr>
          <p:cNvPr id="316" name="Google Shape;316;p22"/>
          <p:cNvPicPr preferRelativeResize="0"/>
          <p:nvPr/>
        </p:nvPicPr>
        <p:blipFill rotWithShape="1">
          <a:blip r:embed="rId3">
            <a:alphaModFix/>
          </a:blip>
          <a:srcRect b="0" l="0" r="0" t="0"/>
          <a:stretch/>
        </p:blipFill>
        <p:spPr>
          <a:xfrm>
            <a:off x="6680204" y="1170845"/>
            <a:ext cx="4823722" cy="2131913"/>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23"/>
          <p:cNvSpPr txBox="1"/>
          <p:nvPr>
            <p:ph type="title"/>
          </p:nvPr>
        </p:nvSpPr>
        <p:spPr>
          <a:xfrm>
            <a:off x="838200" y="0"/>
            <a:ext cx="10515600" cy="1325563"/>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dk1"/>
              </a:buClr>
              <a:buSzPts val="4000"/>
              <a:buFont typeface="Arial Rounded"/>
              <a:buNone/>
            </a:pPr>
            <a:r>
              <a:rPr b="1" lang="en-US" sz="4000">
                <a:latin typeface="Arial Rounded"/>
                <a:ea typeface="Arial Rounded"/>
                <a:cs typeface="Arial Rounded"/>
                <a:sym typeface="Arial Rounded"/>
              </a:rPr>
              <a:t>Contoh soal CT -  Pilihan</a:t>
            </a:r>
            <a:endParaRPr b="1" sz="4000">
              <a:latin typeface="Arial Rounded"/>
              <a:ea typeface="Arial Rounded"/>
              <a:cs typeface="Arial Rounded"/>
              <a:sym typeface="Arial Rounded"/>
            </a:endParaRPr>
          </a:p>
        </p:txBody>
      </p:sp>
      <p:sp>
        <p:nvSpPr>
          <p:cNvPr id="322" name="Google Shape;322;p23"/>
          <p:cNvSpPr txBox="1"/>
          <p:nvPr>
            <p:ph idx="1" type="body"/>
          </p:nvPr>
        </p:nvSpPr>
        <p:spPr>
          <a:xfrm>
            <a:off x="688074" y="1006760"/>
            <a:ext cx="5767317" cy="229599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400"/>
              <a:buNone/>
            </a:pPr>
            <a:r>
              <a:rPr lang="en-US" sz="2400"/>
              <a:t>Rumah kelinci kecil ada di </a:t>
            </a:r>
            <a:r>
              <a:rPr b="1" lang="en-US" sz="2400"/>
              <a:t>A</a:t>
            </a:r>
            <a:r>
              <a:rPr lang="en-US" sz="2400"/>
              <a:t>.</a:t>
            </a:r>
            <a:endParaRPr/>
          </a:p>
          <a:p>
            <a:pPr indent="0" lvl="0" marL="0" rtl="0" algn="l">
              <a:lnSpc>
                <a:spcPct val="90000"/>
              </a:lnSpc>
              <a:spcBef>
                <a:spcPts val="0"/>
              </a:spcBef>
              <a:spcAft>
                <a:spcPts val="0"/>
              </a:spcAft>
              <a:buClr>
                <a:schemeClr val="dk1"/>
              </a:buClr>
              <a:buSzPts val="2400"/>
              <a:buNone/>
            </a:pPr>
            <a:r>
              <a:rPr lang="en-US" sz="2400"/>
              <a:t>Dimulai dari rumahnya, dia akan mengambil wortel. Wortel-wortel tersebut ditunjukkan dalam gambar di samping.</a:t>
            </a:r>
            <a:endParaRPr/>
          </a:p>
          <a:p>
            <a:pPr indent="0" lvl="0" marL="0" rtl="0" algn="l">
              <a:lnSpc>
                <a:spcPct val="90000"/>
              </a:lnSpc>
              <a:spcBef>
                <a:spcPts val="0"/>
              </a:spcBef>
              <a:spcAft>
                <a:spcPts val="0"/>
              </a:spcAft>
              <a:buClr>
                <a:schemeClr val="dk1"/>
              </a:buClr>
              <a:buSzPts val="2400"/>
              <a:buNone/>
            </a:pPr>
            <a:r>
              <a:rPr lang="en-US" sz="2400"/>
              <a:t>Kelinci kecil ingin mengambil semua wortel dengan kecepatan tercepat dan kembali ke rumahnya. Bisakah Anda membantu kelinci kecil menemukan rute optimal?</a:t>
            </a:r>
            <a:endParaRPr/>
          </a:p>
        </p:txBody>
      </p:sp>
      <p:sp>
        <p:nvSpPr>
          <p:cNvPr id="323" name="Google Shape;323;p23"/>
          <p:cNvSpPr txBox="1"/>
          <p:nvPr/>
        </p:nvSpPr>
        <p:spPr>
          <a:xfrm>
            <a:off x="780893" y="4027015"/>
            <a:ext cx="10342027" cy="400069"/>
          </a:xfrm>
          <a:prstGeom prst="rect">
            <a:avLst/>
          </a:prstGeom>
          <a:solidFill>
            <a:srgbClr val="FFD966"/>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Manakah Rute berikut ini yang paling optimal?</a:t>
            </a:r>
            <a:endParaRPr b="0" i="0" sz="2000" u="none" cap="none" strike="noStrike">
              <a:solidFill>
                <a:schemeClr val="dk1"/>
              </a:solidFill>
              <a:latin typeface="Calibri"/>
              <a:ea typeface="Calibri"/>
              <a:cs typeface="Calibri"/>
              <a:sym typeface="Calibri"/>
            </a:endParaRPr>
          </a:p>
        </p:txBody>
      </p:sp>
      <p:sp>
        <p:nvSpPr>
          <p:cNvPr id="324" name="Google Shape;324;p23"/>
          <p:cNvSpPr txBox="1"/>
          <p:nvPr/>
        </p:nvSpPr>
        <p:spPr>
          <a:xfrm>
            <a:off x="481900" y="3484728"/>
            <a:ext cx="5767317" cy="2295998"/>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325" name="Google Shape;325;p23"/>
          <p:cNvSpPr txBox="1"/>
          <p:nvPr/>
        </p:nvSpPr>
        <p:spPr>
          <a:xfrm>
            <a:off x="780894" y="5042062"/>
            <a:ext cx="9031846" cy="1785064"/>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2200"/>
              <a:buFont typeface="Calibri"/>
              <a:buAutoNum type="alphaUcPeriod"/>
            </a:pPr>
            <a:r>
              <a:rPr b="0" i="0" lang="en-US" sz="2200" u="none" cap="none" strike="noStrike">
                <a:solidFill>
                  <a:schemeClr val="dk1"/>
                </a:solidFill>
                <a:latin typeface="Calibri"/>
                <a:ea typeface="Calibri"/>
                <a:cs typeface="Calibri"/>
                <a:sym typeface="Calibri"/>
              </a:rPr>
              <a:t>ABCDEBDA</a:t>
            </a:r>
            <a:endParaRPr/>
          </a:p>
          <a:p>
            <a:pPr indent="-342900" lvl="0" marL="342900" marR="0" rtl="0" algn="l">
              <a:lnSpc>
                <a:spcPct val="100000"/>
              </a:lnSpc>
              <a:spcBef>
                <a:spcPts val="0"/>
              </a:spcBef>
              <a:spcAft>
                <a:spcPts val="0"/>
              </a:spcAft>
              <a:buClr>
                <a:schemeClr val="dk1"/>
              </a:buClr>
              <a:buSzPts val="2200"/>
              <a:buFont typeface="Calibri"/>
              <a:buAutoNum type="alphaUcPeriod"/>
            </a:pPr>
            <a:r>
              <a:rPr b="0" i="0" lang="en-US" sz="2200" u="none" cap="none" strike="noStrike">
                <a:solidFill>
                  <a:schemeClr val="dk1"/>
                </a:solidFill>
                <a:latin typeface="Calibri"/>
                <a:ea typeface="Calibri"/>
                <a:cs typeface="Calibri"/>
                <a:sym typeface="Calibri"/>
              </a:rPr>
              <a:t>ADEBADCBA</a:t>
            </a:r>
            <a:endParaRPr/>
          </a:p>
          <a:p>
            <a:pPr indent="-342900" lvl="0" marL="342900" marR="0" rtl="0" algn="l">
              <a:lnSpc>
                <a:spcPct val="100000"/>
              </a:lnSpc>
              <a:spcBef>
                <a:spcPts val="0"/>
              </a:spcBef>
              <a:spcAft>
                <a:spcPts val="0"/>
              </a:spcAft>
              <a:buClr>
                <a:schemeClr val="dk1"/>
              </a:buClr>
              <a:buSzPts val="2200"/>
              <a:buFont typeface="Calibri"/>
              <a:buAutoNum type="alphaUcPeriod"/>
            </a:pPr>
            <a:r>
              <a:rPr b="0" i="0" lang="en-US" sz="2200" u="none" cap="none" strike="noStrike">
                <a:solidFill>
                  <a:schemeClr val="dk1"/>
                </a:solidFill>
                <a:latin typeface="Calibri"/>
                <a:ea typeface="Calibri"/>
                <a:cs typeface="Calibri"/>
                <a:sym typeface="Calibri"/>
              </a:rPr>
              <a:t>ABDABCDEBA</a:t>
            </a:r>
            <a:endParaRPr/>
          </a:p>
          <a:p>
            <a:pPr indent="-342900" lvl="0" marL="342900" marR="0" rtl="0" algn="l">
              <a:lnSpc>
                <a:spcPct val="100000"/>
              </a:lnSpc>
              <a:spcBef>
                <a:spcPts val="0"/>
              </a:spcBef>
              <a:spcAft>
                <a:spcPts val="0"/>
              </a:spcAft>
              <a:buClr>
                <a:schemeClr val="dk1"/>
              </a:buClr>
              <a:buSzPts val="2200"/>
              <a:buFont typeface="Calibri"/>
              <a:buAutoNum type="alphaUcPeriod"/>
            </a:pPr>
            <a:r>
              <a:rPr b="0" i="0" lang="en-US" sz="2200" u="none" cap="none" strike="noStrike">
                <a:solidFill>
                  <a:schemeClr val="dk1"/>
                </a:solidFill>
                <a:latin typeface="Calibri"/>
                <a:ea typeface="Calibri"/>
                <a:cs typeface="Calibri"/>
                <a:sym typeface="Calibri"/>
              </a:rPr>
              <a:t>ADEBCDABA</a:t>
            </a:r>
            <a:br>
              <a:rPr b="0" i="0" lang="en-US" sz="2200" u="none" cap="none" strike="noStrike">
                <a:solidFill>
                  <a:schemeClr val="dk1"/>
                </a:solidFill>
                <a:latin typeface="Calibri"/>
                <a:ea typeface="Calibri"/>
                <a:cs typeface="Calibri"/>
                <a:sym typeface="Calibri"/>
              </a:rPr>
            </a:br>
            <a:endParaRPr b="0" i="0" sz="2200" u="none" cap="none" strike="noStrike">
              <a:solidFill>
                <a:schemeClr val="dk1"/>
              </a:solidFill>
              <a:latin typeface="Calibri"/>
              <a:ea typeface="Calibri"/>
              <a:cs typeface="Calibri"/>
              <a:sym typeface="Calibri"/>
            </a:endParaRPr>
          </a:p>
        </p:txBody>
      </p:sp>
      <p:pic>
        <p:nvPicPr>
          <p:cNvPr id="326" name="Google Shape;326;p23"/>
          <p:cNvPicPr preferRelativeResize="0"/>
          <p:nvPr/>
        </p:nvPicPr>
        <p:blipFill rotWithShape="1">
          <a:blip r:embed="rId3">
            <a:alphaModFix/>
          </a:blip>
          <a:srcRect b="0" l="0" r="0" t="0"/>
          <a:stretch/>
        </p:blipFill>
        <p:spPr>
          <a:xfrm>
            <a:off x="6690552" y="1006760"/>
            <a:ext cx="5087421" cy="2974848"/>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24"/>
          <p:cNvSpPr txBox="1"/>
          <p:nvPr>
            <p:ph type="title"/>
          </p:nvPr>
        </p:nvSpPr>
        <p:spPr>
          <a:xfrm>
            <a:off x="838200" y="0"/>
            <a:ext cx="10515600" cy="1325563"/>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dk1"/>
              </a:buClr>
              <a:buSzPts val="4000"/>
              <a:buFont typeface="Arial Rounded"/>
              <a:buNone/>
            </a:pPr>
            <a:r>
              <a:rPr b="1" lang="en-US" sz="4000">
                <a:latin typeface="Arial Rounded"/>
                <a:ea typeface="Arial Rounded"/>
                <a:cs typeface="Arial Rounded"/>
                <a:sym typeface="Arial Rounded"/>
              </a:rPr>
              <a:t>Contoh soal CT - Perulangan</a:t>
            </a:r>
            <a:endParaRPr b="1" sz="4000">
              <a:latin typeface="Arial Rounded"/>
              <a:ea typeface="Arial Rounded"/>
              <a:cs typeface="Arial Rounded"/>
              <a:sym typeface="Arial Rounded"/>
            </a:endParaRPr>
          </a:p>
        </p:txBody>
      </p:sp>
      <p:sp>
        <p:nvSpPr>
          <p:cNvPr id="332" name="Google Shape;332;p24"/>
          <p:cNvSpPr txBox="1"/>
          <p:nvPr>
            <p:ph idx="1" type="body"/>
          </p:nvPr>
        </p:nvSpPr>
        <p:spPr>
          <a:xfrm>
            <a:off x="688074" y="1006760"/>
            <a:ext cx="5944738" cy="4351338"/>
          </a:xfrm>
          <a:prstGeom prst="rect">
            <a:avLst/>
          </a:prstGeom>
          <a:noFill/>
          <a:ln>
            <a:noFill/>
          </a:ln>
        </p:spPr>
        <p:txBody>
          <a:bodyPr anchorCtr="0" anchor="t" bIns="45700" lIns="91425" spcFirstLastPara="1" rIns="91425" wrap="square" tIns="45700">
            <a:normAutofit lnSpcReduction="10000"/>
          </a:bodyPr>
          <a:lstStyle/>
          <a:p>
            <a:pPr indent="-342900" lvl="0" marL="457200" rtl="0" algn="l">
              <a:lnSpc>
                <a:spcPct val="90000"/>
              </a:lnSpc>
              <a:spcBef>
                <a:spcPts val="1000"/>
              </a:spcBef>
              <a:spcAft>
                <a:spcPts val="0"/>
              </a:spcAft>
              <a:buClr>
                <a:schemeClr val="dk1"/>
              </a:buClr>
              <a:buSzPts val="1800"/>
              <a:buChar char="•"/>
            </a:pPr>
            <a:r>
              <a:rPr lang="en-US" sz="2000"/>
              <a:t>Havel memiliki sebuah </a:t>
            </a:r>
            <a:r>
              <a:rPr b="1" lang="en-US" sz="2000"/>
              <a:t>mesin jahit yang bisa diprogram</a:t>
            </a:r>
            <a:r>
              <a:rPr lang="en-US" sz="2000"/>
              <a:t>.</a:t>
            </a:r>
            <a:br>
              <a:rPr lang="en-US" sz="2000"/>
            </a:br>
            <a:r>
              <a:rPr lang="en-US" sz="2000"/>
              <a:t>Mesin ini bisa menjahit dengan jahitan </a:t>
            </a:r>
            <a:r>
              <a:rPr b="1" lang="en-US" sz="2000"/>
              <a:t>“+”</a:t>
            </a:r>
            <a:r>
              <a:rPr lang="en-US" sz="2000"/>
              <a:t> atau jahitan </a:t>
            </a:r>
            <a:r>
              <a:rPr b="1" lang="en-US" sz="2000"/>
              <a:t>“×”</a:t>
            </a:r>
            <a:r>
              <a:rPr lang="en-US" sz="2000"/>
              <a:t>.</a:t>
            </a:r>
            <a:br>
              <a:rPr lang="en-US" sz="2000"/>
            </a:br>
            <a:r>
              <a:rPr lang="en-US" sz="2000"/>
              <a:t>Mesin juga bisa </a:t>
            </a:r>
            <a:r>
              <a:rPr b="1" lang="en-US" sz="2000"/>
              <a:t>memindahkan kain maju 1 langkah</a:t>
            </a:r>
            <a:r>
              <a:rPr lang="en-US" sz="2000"/>
              <a:t>.</a:t>
            </a:r>
            <a:endParaRPr/>
          </a:p>
          <a:p>
            <a:pPr indent="-342900" lvl="0" marL="457200" rtl="0" algn="l">
              <a:lnSpc>
                <a:spcPct val="90000"/>
              </a:lnSpc>
              <a:spcBef>
                <a:spcPts val="1000"/>
              </a:spcBef>
              <a:spcAft>
                <a:spcPts val="0"/>
              </a:spcAft>
              <a:buClr>
                <a:schemeClr val="dk1"/>
              </a:buClr>
              <a:buSzPts val="1800"/>
              <a:buChar char="•"/>
            </a:pPr>
            <a:r>
              <a:rPr lang="en-US" sz="2000"/>
              <a:t>Mesin bisa menjahit kedua jahitan pada tempat yang sama (urutan tidak masalah). Jika keduanya ditumpuk, hasilnya menjadi </a:t>
            </a:r>
            <a:r>
              <a:rPr b="1" lang="en-US" sz="2000"/>
              <a:t>“✱”</a:t>
            </a:r>
            <a:r>
              <a:rPr lang="en-US" sz="2000"/>
              <a:t>.</a:t>
            </a:r>
            <a:endParaRPr/>
          </a:p>
          <a:p>
            <a:pPr indent="-342900" lvl="0" marL="457200" rtl="0" algn="l">
              <a:lnSpc>
                <a:spcPct val="90000"/>
              </a:lnSpc>
              <a:spcBef>
                <a:spcPts val="1000"/>
              </a:spcBef>
              <a:spcAft>
                <a:spcPts val="0"/>
              </a:spcAft>
              <a:buClr>
                <a:schemeClr val="dk1"/>
              </a:buClr>
              <a:buSzPts val="1800"/>
              <a:buChar char="•"/>
            </a:pPr>
            <a:r>
              <a:rPr lang="en-US" sz="2000"/>
              <a:t>Program mesin terdiri dari urutan karakter:  +, x, dan </a:t>
            </a:r>
            <a:r>
              <a:rPr lang="en-US"/>
              <a:t>→</a:t>
            </a:r>
            <a:r>
              <a:rPr lang="en-US" sz="2000"/>
              <a:t>.</a:t>
            </a:r>
            <a:endParaRPr/>
          </a:p>
          <a:p>
            <a:pPr indent="-342900" lvl="0" marL="457200" rtl="0" algn="l">
              <a:lnSpc>
                <a:spcPct val="90000"/>
              </a:lnSpc>
              <a:spcBef>
                <a:spcPts val="1000"/>
              </a:spcBef>
              <a:spcAft>
                <a:spcPts val="0"/>
              </a:spcAft>
              <a:buClr>
                <a:schemeClr val="dk1"/>
              </a:buClr>
              <a:buSzPts val="1800"/>
              <a:buChar char="•"/>
            </a:pPr>
            <a:r>
              <a:rPr lang="en-US" sz="2000"/>
              <a:t>Saat mesin dijalankan, program akan </a:t>
            </a:r>
            <a:r>
              <a:rPr b="1" lang="en-US" sz="2000"/>
              <a:t>berulang terus</a:t>
            </a:r>
            <a:r>
              <a:rPr lang="en-US" sz="2000"/>
              <a:t> selama pedal ditekan.</a:t>
            </a:r>
            <a:br>
              <a:rPr lang="en-US" sz="2000"/>
            </a:br>
            <a:endParaRPr sz="2000"/>
          </a:p>
        </p:txBody>
      </p:sp>
      <p:sp>
        <p:nvSpPr>
          <p:cNvPr id="333" name="Google Shape;333;p24"/>
          <p:cNvSpPr txBox="1"/>
          <p:nvPr/>
        </p:nvSpPr>
        <p:spPr>
          <a:xfrm>
            <a:off x="6632812" y="1634469"/>
            <a:ext cx="4720988" cy="4708981"/>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Calibri"/>
                <a:ea typeface="Calibri"/>
                <a:cs typeface="Calibri"/>
                <a:sym typeface="Calibri"/>
              </a:rPr>
              <a:t>Jika program yang dijalankan: </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Calibri"/>
              <a:ea typeface="Calibri"/>
              <a:cs typeface="Calibri"/>
              <a:sym typeface="Calibri"/>
            </a:endParaRPr>
          </a:p>
          <a:p>
            <a:pPr indent="-215900" lvl="0" marL="3429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Calibri"/>
              <a:ea typeface="Calibri"/>
              <a:cs typeface="Calibri"/>
              <a:sym typeface="Calibri"/>
            </a:endParaRPr>
          </a:p>
          <a:p>
            <a:pPr indent="-342900" lvl="0" marL="34290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Calibri"/>
                <a:ea typeface="Calibri"/>
                <a:cs typeface="Calibri"/>
                <a:sym typeface="Calibri"/>
              </a:rPr>
              <a:t>Maka hasil jahitannya  adalah:</a:t>
            </a:r>
            <a:endParaRPr/>
          </a:p>
          <a:p>
            <a:pPr indent="-215900" lvl="0" marL="3429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Calibri"/>
              <a:ea typeface="Calibri"/>
              <a:cs typeface="Calibri"/>
              <a:sym typeface="Calibri"/>
            </a:endParaRPr>
          </a:p>
          <a:p>
            <a:pPr indent="-215900" lvl="0" marL="3429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Calibri"/>
              <a:ea typeface="Calibri"/>
              <a:cs typeface="Calibri"/>
              <a:sym typeface="Calibri"/>
            </a:endParaRPr>
          </a:p>
          <a:p>
            <a:pPr indent="-215900" lvl="0" marL="3429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Calibri"/>
              <a:ea typeface="Calibri"/>
              <a:cs typeface="Calibri"/>
              <a:sym typeface="Calibri"/>
            </a:endParaRPr>
          </a:p>
          <a:p>
            <a:pPr indent="-342900" lvl="0" marL="34290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Calibri"/>
                <a:ea typeface="Calibri"/>
                <a:cs typeface="Calibri"/>
                <a:sym typeface="Calibri"/>
              </a:rPr>
              <a:t>Jika havel ingin mengasilkan pola jahitan berikut ini :</a:t>
            </a:r>
            <a:br>
              <a:rPr b="0" i="0" lang="en-US" sz="2000" u="none" cap="none" strike="noStrike">
                <a:solidFill>
                  <a:srgbClr val="000000"/>
                </a:solidFill>
                <a:latin typeface="Calibri"/>
                <a:ea typeface="Calibri"/>
                <a:cs typeface="Calibri"/>
                <a:sym typeface="Calibri"/>
              </a:rPr>
            </a:b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Calibri"/>
              <a:ea typeface="Calibri"/>
              <a:cs typeface="Calibri"/>
              <a:sym typeface="Calibri"/>
            </a:endParaRPr>
          </a:p>
          <a:p>
            <a:pPr indent="-342900" lvl="0" marL="34290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Calibri"/>
                <a:ea typeface="Calibri"/>
                <a:cs typeface="Calibri"/>
                <a:sym typeface="Calibri"/>
              </a:rPr>
              <a:t>Maka Program seperti apa yang harus dijalankan havel?</a:t>
            </a:r>
            <a:br>
              <a:rPr b="0" i="0" lang="en-US" sz="2000" u="none" cap="none" strike="noStrike">
                <a:solidFill>
                  <a:srgbClr val="000000"/>
                </a:solidFill>
                <a:latin typeface="Calibri"/>
                <a:ea typeface="Calibri"/>
                <a:cs typeface="Calibri"/>
                <a:sym typeface="Calibri"/>
              </a:rPr>
            </a:br>
            <a:endParaRPr b="0" i="0" sz="2000" u="none" cap="none" strike="noStrike">
              <a:solidFill>
                <a:srgbClr val="000000"/>
              </a:solidFill>
              <a:latin typeface="Calibri"/>
              <a:ea typeface="Calibri"/>
              <a:cs typeface="Calibri"/>
              <a:sym typeface="Calibri"/>
            </a:endParaRPr>
          </a:p>
          <a:p>
            <a:pPr indent="-215900" lvl="0" marL="3429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Calibri"/>
              <a:ea typeface="Calibri"/>
              <a:cs typeface="Calibri"/>
              <a:sym typeface="Calibri"/>
            </a:endParaRPr>
          </a:p>
        </p:txBody>
      </p:sp>
      <p:pic>
        <p:nvPicPr>
          <p:cNvPr id="334" name="Google Shape;334;p24"/>
          <p:cNvPicPr preferRelativeResize="0"/>
          <p:nvPr/>
        </p:nvPicPr>
        <p:blipFill rotWithShape="1">
          <a:blip r:embed="rId3">
            <a:alphaModFix/>
          </a:blip>
          <a:srcRect b="0" l="0" r="0" t="0"/>
          <a:stretch/>
        </p:blipFill>
        <p:spPr>
          <a:xfrm>
            <a:off x="7412366" y="2201631"/>
            <a:ext cx="1422400" cy="292100"/>
          </a:xfrm>
          <a:prstGeom prst="rect">
            <a:avLst/>
          </a:prstGeom>
          <a:noFill/>
          <a:ln>
            <a:noFill/>
          </a:ln>
        </p:spPr>
      </p:pic>
      <p:pic>
        <p:nvPicPr>
          <p:cNvPr id="335" name="Google Shape;335;p24"/>
          <p:cNvPicPr preferRelativeResize="0"/>
          <p:nvPr/>
        </p:nvPicPr>
        <p:blipFill rotWithShape="1">
          <a:blip r:embed="rId4">
            <a:alphaModFix/>
          </a:blip>
          <a:srcRect b="0" l="0" r="0" t="0"/>
          <a:stretch/>
        </p:blipFill>
        <p:spPr>
          <a:xfrm>
            <a:off x="6933155" y="3153842"/>
            <a:ext cx="4813300" cy="381000"/>
          </a:xfrm>
          <a:prstGeom prst="rect">
            <a:avLst/>
          </a:prstGeom>
          <a:noFill/>
          <a:ln>
            <a:noFill/>
          </a:ln>
        </p:spPr>
      </p:pic>
      <p:pic>
        <p:nvPicPr>
          <p:cNvPr id="336" name="Google Shape;336;p24"/>
          <p:cNvPicPr preferRelativeResize="0"/>
          <p:nvPr/>
        </p:nvPicPr>
        <p:blipFill rotWithShape="1">
          <a:blip r:embed="rId5">
            <a:alphaModFix/>
          </a:blip>
          <a:srcRect b="0" l="0" r="0" t="0"/>
          <a:stretch/>
        </p:blipFill>
        <p:spPr>
          <a:xfrm>
            <a:off x="7036457" y="4621646"/>
            <a:ext cx="4889500" cy="3175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5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4400"/>
              <a:buNone/>
            </a:pPr>
            <a:r>
              <a:rPr b="1" lang="en-US">
                <a:latin typeface="Arial Rounded"/>
                <a:ea typeface="Arial Rounded"/>
                <a:cs typeface="Arial Rounded"/>
                <a:sym typeface="Arial Rounded"/>
              </a:rPr>
              <a:t>Algoritma - Runtutan</a:t>
            </a:r>
            <a:endParaRPr b="1">
              <a:latin typeface="Arial Rounded"/>
              <a:ea typeface="Arial Rounded"/>
              <a:cs typeface="Arial Rounded"/>
              <a:sym typeface="Arial Rounded"/>
            </a:endParaRPr>
          </a:p>
        </p:txBody>
      </p:sp>
      <p:sp>
        <p:nvSpPr>
          <p:cNvPr id="342" name="Google Shape;342;p51"/>
          <p:cNvSpPr txBox="1"/>
          <p:nvPr>
            <p:ph idx="1" type="body"/>
          </p:nvPr>
        </p:nvSpPr>
        <p:spPr>
          <a:xfrm>
            <a:off x="328594" y="1359244"/>
            <a:ext cx="6155724" cy="4842433"/>
          </a:xfrm>
          <a:prstGeom prst="rect">
            <a:avLst/>
          </a:prstGeom>
          <a:noFill/>
          <a:ln>
            <a:noFill/>
          </a:ln>
        </p:spPr>
        <p:txBody>
          <a:bodyPr anchorCtr="0" anchor="t" bIns="45700" lIns="91425" spcFirstLastPara="1" rIns="91425" wrap="square" tIns="45700">
            <a:normAutofit fontScale="75500" lnSpcReduction="20000"/>
          </a:bodyPr>
          <a:lstStyle/>
          <a:p>
            <a:pPr indent="0" lvl="0" marL="114300" rtl="0" algn="l">
              <a:lnSpc>
                <a:spcPct val="90000"/>
              </a:lnSpc>
              <a:spcBef>
                <a:spcPts val="1000"/>
              </a:spcBef>
              <a:spcAft>
                <a:spcPts val="0"/>
              </a:spcAft>
              <a:buSzPct val="85147"/>
              <a:buNone/>
            </a:pPr>
            <a:r>
              <a:rPr lang="en-US"/>
              <a:t>Masalah : Bruna punya 2 kotak susu 1 liter yang masing-masing terisi sedikit lebih dari setengah. Ia ingin membuat kue dan perlu mengukur tepat 700ml susu ke salah satu kotak, dibantu 1 botol kosong 500ml dan 1 gelas kosong 100ml. Setiap kali menuang, wadah tujuan harus terisi penuh atau wadah asal harus kosong.</a:t>
            </a:r>
            <a:endParaRPr/>
          </a:p>
          <a:p>
            <a:pPr indent="-342900" lvl="0" marL="457200" rtl="0" algn="l">
              <a:lnSpc>
                <a:spcPct val="90000"/>
              </a:lnSpc>
              <a:spcBef>
                <a:spcPts val="1000"/>
              </a:spcBef>
              <a:spcAft>
                <a:spcPts val="0"/>
              </a:spcAft>
              <a:buClr>
                <a:schemeClr val="dk1"/>
              </a:buClr>
              <a:buSzPct val="85147"/>
              <a:buChar char="•"/>
            </a:pPr>
            <a:r>
              <a:rPr lang="en-US"/>
              <a:t>Input : Kotak 1 (&gt;500ml), Kotak 2 (&gt;500ml), Botol 500ml (kosong), Gelas 100ml (kosong)</a:t>
            </a:r>
            <a:endParaRPr/>
          </a:p>
          <a:p>
            <a:pPr indent="-342900" lvl="0" marL="457200" rtl="0" algn="l">
              <a:lnSpc>
                <a:spcPct val="90000"/>
              </a:lnSpc>
              <a:spcBef>
                <a:spcPts val="1000"/>
              </a:spcBef>
              <a:spcAft>
                <a:spcPts val="0"/>
              </a:spcAft>
              <a:buClr>
                <a:schemeClr val="dk1"/>
              </a:buClr>
              <a:buSzPct val="85147"/>
              <a:buChar char="•"/>
            </a:pPr>
            <a:r>
              <a:rPr lang="en-US"/>
              <a:t>Output : 700ml susu tepat berada di salah satu wadah</a:t>
            </a:r>
            <a:endParaRPr/>
          </a:p>
          <a:p>
            <a:pPr indent="-342900" lvl="0" marL="457200" rtl="0" algn="l">
              <a:lnSpc>
                <a:spcPct val="90000"/>
              </a:lnSpc>
              <a:spcBef>
                <a:spcPts val="1000"/>
              </a:spcBef>
              <a:spcAft>
                <a:spcPts val="0"/>
              </a:spcAft>
              <a:buClr>
                <a:schemeClr val="dk1"/>
              </a:buClr>
              <a:buSzPct val="85147"/>
              <a:buChar char="•"/>
            </a:pPr>
            <a:r>
              <a:rPr lang="en-US"/>
              <a:t>Proses (Jawaban, urutan tuang terpendek) : </a:t>
            </a:r>
            <a:endParaRPr/>
          </a:p>
          <a:p>
            <a:pPr indent="-457200" lvl="1" marL="1028700" rtl="0" algn="l">
              <a:lnSpc>
                <a:spcPct val="90000"/>
              </a:lnSpc>
              <a:spcBef>
                <a:spcPts val="500"/>
              </a:spcBef>
              <a:spcAft>
                <a:spcPts val="0"/>
              </a:spcAft>
              <a:buSzPct val="99338"/>
              <a:buFont typeface="Arial"/>
              <a:buAutoNum type="arabicPeriod"/>
            </a:pPr>
            <a:r>
              <a:rPr lang="en-US"/>
              <a:t>(1)→(2); </a:t>
            </a:r>
            <a:endParaRPr/>
          </a:p>
          <a:p>
            <a:pPr indent="-457200" lvl="1" marL="1028700" rtl="0" algn="l">
              <a:lnSpc>
                <a:spcPct val="90000"/>
              </a:lnSpc>
              <a:spcBef>
                <a:spcPts val="500"/>
              </a:spcBef>
              <a:spcAft>
                <a:spcPts val="0"/>
              </a:spcAft>
              <a:buSzPct val="99338"/>
              <a:buFont typeface="Arial"/>
              <a:buAutoNum type="arabicPeriod"/>
            </a:pPr>
            <a:r>
              <a:rPr lang="en-US"/>
              <a:t>(2)→(3); </a:t>
            </a:r>
            <a:endParaRPr/>
          </a:p>
          <a:p>
            <a:pPr indent="-457200" lvl="1" marL="1028700" rtl="0" algn="l">
              <a:lnSpc>
                <a:spcPct val="90000"/>
              </a:lnSpc>
              <a:spcBef>
                <a:spcPts val="500"/>
              </a:spcBef>
              <a:spcAft>
                <a:spcPts val="0"/>
              </a:spcAft>
              <a:buSzPct val="99338"/>
              <a:buFont typeface="Arial"/>
              <a:buAutoNum type="arabicPeriod"/>
            </a:pPr>
            <a:r>
              <a:rPr lang="en-US"/>
              <a:t>(3)→(4); </a:t>
            </a:r>
            <a:endParaRPr/>
          </a:p>
          <a:p>
            <a:pPr indent="-457200" lvl="1" marL="1028700" rtl="0" algn="l">
              <a:lnSpc>
                <a:spcPct val="90000"/>
              </a:lnSpc>
              <a:spcBef>
                <a:spcPts val="500"/>
              </a:spcBef>
              <a:spcAft>
                <a:spcPts val="0"/>
              </a:spcAft>
              <a:buSzPct val="99338"/>
              <a:buFont typeface="Arial"/>
              <a:buAutoNum type="arabicPeriod"/>
            </a:pPr>
            <a:r>
              <a:rPr lang="en-US"/>
              <a:t>(4)→(2); </a:t>
            </a:r>
            <a:endParaRPr/>
          </a:p>
          <a:p>
            <a:pPr indent="-457200" lvl="1" marL="1028700" rtl="0" algn="l">
              <a:lnSpc>
                <a:spcPct val="90000"/>
              </a:lnSpc>
              <a:spcBef>
                <a:spcPts val="500"/>
              </a:spcBef>
              <a:spcAft>
                <a:spcPts val="0"/>
              </a:spcAft>
              <a:buSzPct val="99338"/>
              <a:buFont typeface="Arial"/>
              <a:buAutoNum type="arabicPeriod"/>
            </a:pPr>
            <a:r>
              <a:rPr lang="en-US"/>
              <a:t>(3)→(4); </a:t>
            </a:r>
            <a:endParaRPr/>
          </a:p>
          <a:p>
            <a:pPr indent="-457200" lvl="1" marL="1028700" rtl="0" algn="l">
              <a:lnSpc>
                <a:spcPct val="90000"/>
              </a:lnSpc>
              <a:spcBef>
                <a:spcPts val="500"/>
              </a:spcBef>
              <a:spcAft>
                <a:spcPts val="0"/>
              </a:spcAft>
              <a:buSzPct val="99338"/>
              <a:buFont typeface="Arial"/>
              <a:buAutoNum type="arabicPeriod"/>
            </a:pPr>
            <a:r>
              <a:rPr lang="en-US"/>
              <a:t>(4)→(2)</a:t>
            </a:r>
            <a:endParaRPr/>
          </a:p>
        </p:txBody>
      </p:sp>
      <p:pic>
        <p:nvPicPr>
          <p:cNvPr id="343" name="Google Shape;343;p51"/>
          <p:cNvPicPr preferRelativeResize="0"/>
          <p:nvPr/>
        </p:nvPicPr>
        <p:blipFill rotWithShape="1">
          <a:blip r:embed="rId3">
            <a:alphaModFix/>
          </a:blip>
          <a:srcRect b="0" l="0" r="0" t="0"/>
          <a:stretch/>
        </p:blipFill>
        <p:spPr>
          <a:xfrm>
            <a:off x="6484318" y="2150075"/>
            <a:ext cx="5115252" cy="3348681"/>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a:latin typeface="Arial Rounded"/>
                <a:ea typeface="Arial Rounded"/>
                <a:cs typeface="Arial Rounded"/>
                <a:sym typeface="Arial Rounded"/>
              </a:rPr>
              <a:t>Algoritma - Pemilihan</a:t>
            </a:r>
            <a:endParaRPr b="1">
              <a:latin typeface="Arial Rounded"/>
              <a:ea typeface="Arial Rounded"/>
              <a:cs typeface="Arial Rounded"/>
              <a:sym typeface="Arial Rounded"/>
            </a:endParaRPr>
          </a:p>
        </p:txBody>
      </p:sp>
      <p:sp>
        <p:nvSpPr>
          <p:cNvPr id="349" name="Google Shape;349;p5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85000" lnSpcReduction="20000"/>
          </a:bodyPr>
          <a:lstStyle/>
          <a:p>
            <a:pPr indent="0" lvl="0" marL="114300" rtl="0" algn="l">
              <a:lnSpc>
                <a:spcPct val="90000"/>
              </a:lnSpc>
              <a:spcBef>
                <a:spcPts val="1000"/>
              </a:spcBef>
              <a:spcAft>
                <a:spcPts val="0"/>
              </a:spcAft>
              <a:buSzPct val="75630"/>
              <a:buNone/>
            </a:pPr>
            <a:r>
              <a:rPr lang="en-US"/>
              <a:t>Tarif parkir motor Rp2.000 untuk 2 jam pertama. Setelah itu, setiap jam terdapat biaya tambahan sebesar Rp1.000. Buatlah algoritma untuk menghitung biaya parkir.</a:t>
            </a:r>
            <a:endParaRPr/>
          </a:p>
          <a:p>
            <a:pPr indent="0" lvl="0" marL="114300" rtl="0" algn="l">
              <a:lnSpc>
                <a:spcPct val="90000"/>
              </a:lnSpc>
              <a:spcBef>
                <a:spcPts val="1000"/>
              </a:spcBef>
              <a:spcAft>
                <a:spcPts val="0"/>
              </a:spcAft>
              <a:buSzPct val="75630"/>
              <a:buNone/>
            </a:pPr>
            <a:r>
              <a:rPr lang="en-US"/>
              <a:t>Jawab :</a:t>
            </a:r>
            <a:endParaRPr/>
          </a:p>
          <a:p>
            <a:pPr indent="-342900" lvl="0" marL="457200" rtl="0" algn="l">
              <a:lnSpc>
                <a:spcPct val="90000"/>
              </a:lnSpc>
              <a:spcBef>
                <a:spcPts val="1000"/>
              </a:spcBef>
              <a:spcAft>
                <a:spcPts val="0"/>
              </a:spcAft>
              <a:buClr>
                <a:schemeClr val="dk1"/>
              </a:buClr>
              <a:buSzPct val="75630"/>
              <a:buChar char="•"/>
            </a:pPr>
            <a:r>
              <a:rPr lang="en-US"/>
              <a:t>Input : lama parkir (jam)</a:t>
            </a:r>
            <a:endParaRPr/>
          </a:p>
          <a:p>
            <a:pPr indent="-342900" lvl="0" marL="457200" rtl="0" algn="l">
              <a:lnSpc>
                <a:spcPct val="90000"/>
              </a:lnSpc>
              <a:spcBef>
                <a:spcPts val="1000"/>
              </a:spcBef>
              <a:spcAft>
                <a:spcPts val="0"/>
              </a:spcAft>
              <a:buClr>
                <a:schemeClr val="dk1"/>
              </a:buClr>
              <a:buSzPct val="75630"/>
              <a:buChar char="•"/>
            </a:pPr>
            <a:r>
              <a:rPr lang="en-US"/>
              <a:t>Proses :</a:t>
            </a:r>
            <a:endParaRPr/>
          </a:p>
          <a:p>
            <a:pPr indent="-342900" lvl="1" marL="914400" rtl="0" algn="l">
              <a:lnSpc>
                <a:spcPct val="90000"/>
              </a:lnSpc>
              <a:spcBef>
                <a:spcPts val="500"/>
              </a:spcBef>
              <a:spcAft>
                <a:spcPts val="0"/>
              </a:spcAft>
              <a:buSzPct val="88235"/>
              <a:buChar char="•"/>
            </a:pPr>
            <a:r>
              <a:rPr lang="en-US"/>
              <a:t>Masukkan lama parkir</a:t>
            </a:r>
            <a:endParaRPr/>
          </a:p>
          <a:p>
            <a:pPr indent="-342900" lvl="1" marL="914400" rtl="0" algn="l">
              <a:lnSpc>
                <a:spcPct val="90000"/>
              </a:lnSpc>
              <a:spcBef>
                <a:spcPts val="500"/>
              </a:spcBef>
              <a:spcAft>
                <a:spcPts val="0"/>
              </a:spcAft>
              <a:buSzPct val="88235"/>
              <a:buChar char="•"/>
            </a:pPr>
            <a:r>
              <a:rPr lang="en-US"/>
              <a:t>Jika lama ≤ 2, maka biaya = 2000</a:t>
            </a:r>
            <a:endParaRPr/>
          </a:p>
          <a:p>
            <a:pPr indent="-342900" lvl="1" marL="914400" rtl="0" algn="l">
              <a:lnSpc>
                <a:spcPct val="90000"/>
              </a:lnSpc>
              <a:spcBef>
                <a:spcPts val="500"/>
              </a:spcBef>
              <a:spcAft>
                <a:spcPts val="0"/>
              </a:spcAft>
              <a:buSzPct val="88235"/>
              <a:buChar char="•"/>
            </a:pPr>
            <a:r>
              <a:rPr lang="en-US"/>
              <a:t>Jika lama &gt; 2, maka biaya = 2000 + (lama - 2) × 1000</a:t>
            </a:r>
            <a:endParaRPr/>
          </a:p>
          <a:p>
            <a:pPr indent="-342900" lvl="1" marL="914400" rtl="0" algn="l">
              <a:lnSpc>
                <a:spcPct val="90000"/>
              </a:lnSpc>
              <a:spcBef>
                <a:spcPts val="500"/>
              </a:spcBef>
              <a:spcAft>
                <a:spcPts val="0"/>
              </a:spcAft>
              <a:buSzPct val="88235"/>
              <a:buChar char="•"/>
            </a:pPr>
            <a:r>
              <a:rPr lang="en-US"/>
              <a:t>Output biaya parkir</a:t>
            </a:r>
            <a:endParaRPr/>
          </a:p>
          <a:p>
            <a:pPr indent="-342900" lvl="0" marL="457200" rtl="0" algn="l">
              <a:lnSpc>
                <a:spcPct val="90000"/>
              </a:lnSpc>
              <a:spcBef>
                <a:spcPts val="1000"/>
              </a:spcBef>
              <a:spcAft>
                <a:spcPts val="0"/>
              </a:spcAft>
              <a:buClr>
                <a:schemeClr val="dk1"/>
              </a:buClr>
              <a:buSzPct val="75630"/>
              <a:buChar char="•"/>
            </a:pPr>
            <a:r>
              <a:rPr lang="en-US"/>
              <a:t>Output : biaya parkir</a:t>
            </a:r>
            <a:endParaRPr/>
          </a:p>
          <a:p>
            <a:pPr indent="-342900" lvl="0" marL="457200" rtl="0" algn="l">
              <a:lnSpc>
                <a:spcPct val="90000"/>
              </a:lnSpc>
              <a:spcBef>
                <a:spcPts val="1000"/>
              </a:spcBef>
              <a:spcAft>
                <a:spcPts val="0"/>
              </a:spcAft>
              <a:buClr>
                <a:schemeClr val="dk1"/>
              </a:buClr>
              <a:buSzPct val="75630"/>
              <a:buChar char="•"/>
            </a:pPr>
            <a:r>
              <a:rPr lang="en-US"/>
              <a:t>Data Lain : -</a:t>
            </a:r>
            <a:endParaRPr/>
          </a:p>
          <a:p>
            <a:pPr indent="-228600" lvl="0" marL="457200" rtl="0" algn="l">
              <a:lnSpc>
                <a:spcPct val="90000"/>
              </a:lnSpc>
              <a:spcBef>
                <a:spcPts val="1000"/>
              </a:spcBef>
              <a:spcAft>
                <a:spcPts val="0"/>
              </a:spcAft>
              <a:buClr>
                <a:schemeClr val="dk1"/>
              </a:buClr>
              <a:buSzPct val="75630"/>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5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a:latin typeface="Arial Rounded"/>
                <a:ea typeface="Arial Rounded"/>
                <a:cs typeface="Arial Rounded"/>
                <a:sym typeface="Arial Rounded"/>
              </a:rPr>
              <a:t>Algoritma - Perulangan</a:t>
            </a:r>
            <a:endParaRPr b="1">
              <a:latin typeface="Arial Rounded"/>
              <a:ea typeface="Arial Rounded"/>
              <a:cs typeface="Arial Rounded"/>
              <a:sym typeface="Arial Rounded"/>
            </a:endParaRPr>
          </a:p>
        </p:txBody>
      </p:sp>
      <p:sp>
        <p:nvSpPr>
          <p:cNvPr id="355" name="Google Shape;355;p53"/>
          <p:cNvSpPr txBox="1"/>
          <p:nvPr>
            <p:ph idx="1" type="body"/>
          </p:nvPr>
        </p:nvSpPr>
        <p:spPr>
          <a:xfrm>
            <a:off x="838200" y="1825625"/>
            <a:ext cx="5373914" cy="4351338"/>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US"/>
              <a:t>Penjelajah bulan yang dikendalikan berang-berang bergerak dari satu arah ke yang lain menggunakan peta di bawah ini. mulai (1,1) sampai (8,8). Angka pertama adalah baris, yang kedua - adalah kolom jumlah. Dimanakah letak objek kawah, batu, dan gunung? Buatlah Algoritmanya : </a:t>
            </a:r>
            <a:endParaRPr/>
          </a:p>
          <a:p>
            <a:pPr indent="-228600" lvl="0" marL="457200" rtl="0" algn="l">
              <a:lnSpc>
                <a:spcPct val="90000"/>
              </a:lnSpc>
              <a:spcBef>
                <a:spcPts val="1000"/>
              </a:spcBef>
              <a:spcAft>
                <a:spcPts val="0"/>
              </a:spcAft>
              <a:buClr>
                <a:schemeClr val="dk1"/>
              </a:buClr>
              <a:buSzPts val="1800"/>
              <a:buNone/>
            </a:pPr>
            <a:r>
              <a:t/>
            </a:r>
            <a:endParaRPr/>
          </a:p>
        </p:txBody>
      </p:sp>
      <p:pic>
        <p:nvPicPr>
          <p:cNvPr id="356" name="Google Shape;356;p53"/>
          <p:cNvPicPr preferRelativeResize="0"/>
          <p:nvPr/>
        </p:nvPicPr>
        <p:blipFill rotWithShape="1">
          <a:blip r:embed="rId3">
            <a:alphaModFix/>
          </a:blip>
          <a:srcRect b="0" l="0" r="0" t="0"/>
          <a:stretch/>
        </p:blipFill>
        <p:spPr>
          <a:xfrm>
            <a:off x="6638206" y="1825625"/>
            <a:ext cx="4715594" cy="4661393"/>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5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a:latin typeface="Arial Rounded"/>
                <a:ea typeface="Arial Rounded"/>
                <a:cs typeface="Arial Rounded"/>
                <a:sym typeface="Arial Rounded"/>
              </a:rPr>
              <a:t>Contoh Studi Kasus Perulangan</a:t>
            </a:r>
            <a:endParaRPr b="1">
              <a:latin typeface="Arial Rounded"/>
              <a:ea typeface="Arial Rounded"/>
              <a:cs typeface="Arial Rounded"/>
              <a:sym typeface="Arial Rounded"/>
            </a:endParaRPr>
          </a:p>
        </p:txBody>
      </p:sp>
      <p:sp>
        <p:nvSpPr>
          <p:cNvPr id="362" name="Google Shape;362;p5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7500" lnSpcReduction="20000"/>
          </a:bodyPr>
          <a:lstStyle/>
          <a:p>
            <a:pPr indent="-342900" lvl="0" marL="457200" rtl="0" algn="l">
              <a:lnSpc>
                <a:spcPct val="90000"/>
              </a:lnSpc>
              <a:spcBef>
                <a:spcPts val="1000"/>
              </a:spcBef>
              <a:spcAft>
                <a:spcPts val="0"/>
              </a:spcAft>
              <a:buClr>
                <a:schemeClr val="dk1"/>
              </a:buClr>
              <a:buSzPct val="82949"/>
              <a:buChar char="•"/>
            </a:pPr>
            <a:r>
              <a:rPr lang="en-US"/>
              <a:t>Input : Peta (baris, kolom), jumlah baris, jumlah kolom</a:t>
            </a:r>
            <a:endParaRPr/>
          </a:p>
          <a:p>
            <a:pPr indent="-342900" lvl="0" marL="457200" rtl="0" algn="l">
              <a:lnSpc>
                <a:spcPct val="90000"/>
              </a:lnSpc>
              <a:spcBef>
                <a:spcPts val="1000"/>
              </a:spcBef>
              <a:spcAft>
                <a:spcPts val="0"/>
              </a:spcAft>
              <a:buClr>
                <a:schemeClr val="dk1"/>
              </a:buClr>
              <a:buSzPct val="82949"/>
              <a:buChar char="•"/>
            </a:pPr>
            <a:r>
              <a:rPr lang="en-US"/>
              <a:t>Output : Posisi Gunung</a:t>
            </a:r>
            <a:endParaRPr/>
          </a:p>
          <a:p>
            <a:pPr indent="-342900" lvl="0" marL="457200" rtl="0" algn="l">
              <a:lnSpc>
                <a:spcPct val="90000"/>
              </a:lnSpc>
              <a:spcBef>
                <a:spcPts val="1000"/>
              </a:spcBef>
              <a:spcAft>
                <a:spcPts val="0"/>
              </a:spcAft>
              <a:buClr>
                <a:schemeClr val="dk1"/>
              </a:buClr>
              <a:buSzPct val="82949"/>
              <a:buChar char="•"/>
            </a:pPr>
            <a:r>
              <a:rPr lang="en-US"/>
              <a:t>Proses : </a:t>
            </a:r>
            <a:endParaRPr/>
          </a:p>
          <a:p>
            <a:pPr indent="-457200" lvl="1" marL="731520" rtl="0" algn="l">
              <a:lnSpc>
                <a:spcPct val="90000"/>
              </a:lnSpc>
              <a:spcBef>
                <a:spcPts val="500"/>
              </a:spcBef>
              <a:spcAft>
                <a:spcPts val="0"/>
              </a:spcAft>
              <a:buSzPct val="96774"/>
              <a:buFont typeface="Arial"/>
              <a:buAutoNum type="arabicPeriod"/>
            </a:pPr>
            <a:r>
              <a:rPr lang="en-US"/>
              <a:t>Lakukan pengecekan secara berulang-ulang mulai dari baris pertama untuk kolom ke-1 sampai dengan ke-8</a:t>
            </a:r>
            <a:endParaRPr/>
          </a:p>
          <a:p>
            <a:pPr indent="-342900" lvl="2" marL="1371600" rtl="0" algn="l">
              <a:lnSpc>
                <a:spcPct val="90000"/>
              </a:lnSpc>
              <a:spcBef>
                <a:spcPts val="500"/>
              </a:spcBef>
              <a:spcAft>
                <a:spcPts val="0"/>
              </a:spcAft>
              <a:buSzPct val="116129"/>
              <a:buChar char="•"/>
            </a:pPr>
            <a:r>
              <a:rPr lang="en-US"/>
              <a:t>Jika menemukan objek simpan informasi posisi baris dan kolom</a:t>
            </a:r>
            <a:endParaRPr/>
          </a:p>
          <a:p>
            <a:pPr indent="-457200" lvl="1" marL="731520" rtl="0" algn="l">
              <a:lnSpc>
                <a:spcPct val="90000"/>
              </a:lnSpc>
              <a:spcBef>
                <a:spcPts val="500"/>
              </a:spcBef>
              <a:spcAft>
                <a:spcPts val="0"/>
              </a:spcAft>
              <a:buSzPct val="96774"/>
              <a:buFont typeface="Arial"/>
              <a:buAutoNum type="arabicPeriod"/>
            </a:pPr>
            <a:r>
              <a:rPr lang="en-US"/>
              <a:t>Lakukan pengecekan secara berulang-ulang mulai dari baris kedua untuk kolom ke-1 sampai dengan ke-8</a:t>
            </a:r>
            <a:endParaRPr/>
          </a:p>
          <a:p>
            <a:pPr indent="-342900" lvl="2" marL="1371600" rtl="0" algn="l">
              <a:lnSpc>
                <a:spcPct val="90000"/>
              </a:lnSpc>
              <a:spcBef>
                <a:spcPts val="500"/>
              </a:spcBef>
              <a:spcAft>
                <a:spcPts val="0"/>
              </a:spcAft>
              <a:buSzPct val="116129"/>
              <a:buChar char="•"/>
            </a:pPr>
            <a:r>
              <a:rPr lang="en-US"/>
              <a:t>Jika menemukan objek simpan informasi posisi baris dan kolom</a:t>
            </a:r>
            <a:endParaRPr/>
          </a:p>
          <a:p>
            <a:pPr indent="-457200" lvl="1" marL="731520" rtl="0" algn="l">
              <a:lnSpc>
                <a:spcPct val="90000"/>
              </a:lnSpc>
              <a:spcBef>
                <a:spcPts val="500"/>
              </a:spcBef>
              <a:spcAft>
                <a:spcPts val="0"/>
              </a:spcAft>
              <a:buSzPct val="96774"/>
              <a:buFont typeface="Arial"/>
              <a:buAutoNum type="arabicPeriod"/>
            </a:pPr>
            <a:r>
              <a:rPr lang="en-US"/>
              <a:t>Lakukan pengecekan secara berulang-ulang mulai dari baris ketiga untuk kolom ke-1 sampai dengan ke-8</a:t>
            </a:r>
            <a:endParaRPr/>
          </a:p>
          <a:p>
            <a:pPr indent="-342900" lvl="2" marL="1371600" rtl="0" algn="l">
              <a:lnSpc>
                <a:spcPct val="90000"/>
              </a:lnSpc>
              <a:spcBef>
                <a:spcPts val="500"/>
              </a:spcBef>
              <a:spcAft>
                <a:spcPts val="0"/>
              </a:spcAft>
              <a:buSzPct val="116129"/>
              <a:buChar char="•"/>
            </a:pPr>
            <a:r>
              <a:rPr lang="en-US"/>
              <a:t>Jika menemukan objek simpan informasi posisi baris dan kolom</a:t>
            </a:r>
            <a:endParaRPr/>
          </a:p>
          <a:p>
            <a:pPr indent="-457200" lvl="1" marL="731520" rtl="0" algn="l">
              <a:lnSpc>
                <a:spcPct val="90000"/>
              </a:lnSpc>
              <a:spcBef>
                <a:spcPts val="500"/>
              </a:spcBef>
              <a:spcAft>
                <a:spcPts val="0"/>
              </a:spcAft>
              <a:buSzPct val="96774"/>
              <a:buFont typeface="Arial"/>
              <a:buAutoNum type="arabicPeriod"/>
            </a:pPr>
            <a:r>
              <a:rPr lang="en-US"/>
              <a:t>Lakukan pengecekan secara berulang-ulang mulai dari baris keempat untuk kolom ke-1 sampai dengan ke-8</a:t>
            </a:r>
            <a:endParaRPr/>
          </a:p>
          <a:p>
            <a:pPr indent="-342900" lvl="2" marL="1371600" rtl="0" algn="l">
              <a:lnSpc>
                <a:spcPct val="90000"/>
              </a:lnSpc>
              <a:spcBef>
                <a:spcPts val="500"/>
              </a:spcBef>
              <a:spcAft>
                <a:spcPts val="0"/>
              </a:spcAft>
              <a:buSzPct val="116129"/>
              <a:buChar char="•"/>
            </a:pPr>
            <a:r>
              <a:rPr lang="en-US"/>
              <a:t>Jika menemukan objek simpan informasi posisi baris dan kolom</a:t>
            </a:r>
            <a:endParaRPr/>
          </a:p>
          <a:p>
            <a:pPr indent="-342900" lvl="1" marL="914400" rtl="0" algn="l">
              <a:lnSpc>
                <a:spcPct val="90000"/>
              </a:lnSpc>
              <a:spcBef>
                <a:spcPts val="500"/>
              </a:spcBef>
              <a:spcAft>
                <a:spcPts val="0"/>
              </a:spcAft>
              <a:buSzPct val="96774"/>
              <a:buChar char="•"/>
            </a:pPr>
            <a:r>
              <a:rPr lang="en-US"/>
              <a:t>Lakukan perulangan sampai baris ke 8</a:t>
            </a:r>
            <a:endParaRPr/>
          </a:p>
          <a:p>
            <a:pPr indent="-228600" lvl="1" marL="914400" rtl="0" algn="l">
              <a:lnSpc>
                <a:spcPct val="90000"/>
              </a:lnSpc>
              <a:spcBef>
                <a:spcPts val="500"/>
              </a:spcBef>
              <a:spcAft>
                <a:spcPts val="0"/>
              </a:spcAft>
              <a:buSzPct val="96774"/>
              <a:buNone/>
            </a:pPr>
            <a:r>
              <a:t/>
            </a:r>
            <a:endParaRPr/>
          </a:p>
          <a:p>
            <a:pPr indent="-228600" lvl="1" marL="914400" rtl="0" algn="l">
              <a:lnSpc>
                <a:spcPct val="90000"/>
              </a:lnSpc>
              <a:spcBef>
                <a:spcPts val="500"/>
              </a:spcBef>
              <a:spcAft>
                <a:spcPts val="0"/>
              </a:spcAft>
              <a:buSzPct val="96774"/>
              <a:buNone/>
            </a:pPr>
            <a:r>
              <a:t/>
            </a:r>
            <a:endParaRPr/>
          </a:p>
          <a:p>
            <a:pPr indent="-228600" lvl="0" marL="457200" rtl="0" algn="l">
              <a:lnSpc>
                <a:spcPct val="90000"/>
              </a:lnSpc>
              <a:spcBef>
                <a:spcPts val="1000"/>
              </a:spcBef>
              <a:spcAft>
                <a:spcPts val="0"/>
              </a:spcAft>
              <a:buClr>
                <a:schemeClr val="dk1"/>
              </a:buClr>
              <a:buSzPct val="82949"/>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26"/>
          <p:cNvSpPr txBox="1"/>
          <p:nvPr>
            <p:ph type="title"/>
          </p:nvPr>
        </p:nvSpPr>
        <p:spPr>
          <a:xfrm>
            <a:off x="259307" y="2876313"/>
            <a:ext cx="11696132"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Arial Rounded"/>
              <a:buNone/>
            </a:pPr>
            <a:r>
              <a:rPr b="1" lang="en-US" sz="6000">
                <a:latin typeface="Arial Rounded"/>
                <a:ea typeface="Arial Rounded"/>
                <a:cs typeface="Arial Rounded"/>
                <a:sym typeface="Arial Rounded"/>
              </a:rPr>
              <a:t>Ada Pertanyaan                 ???</a:t>
            </a:r>
            <a:endParaRPr/>
          </a:p>
        </p:txBody>
      </p:sp>
      <p:pic>
        <p:nvPicPr>
          <p:cNvPr descr="Bebras logos | www.bebras.org" id="368" name="Google Shape;368;p26"/>
          <p:cNvPicPr preferRelativeResize="0"/>
          <p:nvPr/>
        </p:nvPicPr>
        <p:blipFill rotWithShape="1">
          <a:blip r:embed="rId3">
            <a:alphaModFix/>
          </a:blip>
          <a:srcRect b="0" l="0" r="0" t="0"/>
          <a:stretch/>
        </p:blipFill>
        <p:spPr>
          <a:xfrm>
            <a:off x="6351658" y="1564965"/>
            <a:ext cx="3119887" cy="3931059"/>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27"/>
          <p:cNvSpPr txBox="1"/>
          <p:nvPr>
            <p:ph type="title"/>
          </p:nvPr>
        </p:nvSpPr>
        <p:spPr>
          <a:xfrm>
            <a:off x="933734" y="2971847"/>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7200"/>
              <a:buFont typeface="Arial Black"/>
              <a:buNone/>
            </a:pPr>
            <a:r>
              <a:rPr b="1" lang="en-US" sz="7200">
                <a:latin typeface="Arial Black"/>
                <a:ea typeface="Arial Black"/>
                <a:cs typeface="Arial Black"/>
                <a:sym typeface="Arial Black"/>
              </a:rPr>
              <a:t>Latihan</a:t>
            </a:r>
            <a:endParaRPr b="1" sz="7200">
              <a:latin typeface="Arial Black"/>
              <a:ea typeface="Arial Black"/>
              <a:cs typeface="Arial Black"/>
              <a:sym typeface="Arial Black"/>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lang="en-US"/>
              <a:t>Latihan 1</a:t>
            </a:r>
            <a:endParaRPr/>
          </a:p>
        </p:txBody>
      </p:sp>
      <p:sp>
        <p:nvSpPr>
          <p:cNvPr id="379" name="Google Shape;379;p55"/>
          <p:cNvSpPr txBox="1"/>
          <p:nvPr>
            <p:ph idx="1" type="body"/>
          </p:nvPr>
        </p:nvSpPr>
        <p:spPr>
          <a:xfrm>
            <a:off x="838199" y="1825625"/>
            <a:ext cx="5141687" cy="4351338"/>
          </a:xfrm>
          <a:prstGeom prst="rect">
            <a:avLst/>
          </a:prstGeom>
          <a:noFill/>
          <a:ln>
            <a:noFill/>
          </a:ln>
        </p:spPr>
        <p:txBody>
          <a:bodyPr anchorCtr="0" anchor="t" bIns="45700" lIns="91425" spcFirstLastPara="1" rIns="91425" wrap="square" tIns="45700">
            <a:normAutofit fontScale="87000" lnSpcReduction="20000"/>
          </a:bodyPr>
          <a:lstStyle/>
          <a:p>
            <a:pPr indent="0" lvl="0" marL="114300" rtl="0" algn="l">
              <a:lnSpc>
                <a:spcPct val="90000"/>
              </a:lnSpc>
              <a:spcBef>
                <a:spcPts val="1000"/>
              </a:spcBef>
              <a:spcAft>
                <a:spcPts val="0"/>
              </a:spcAft>
              <a:buSzPct val="73892"/>
              <a:buNone/>
            </a:pPr>
            <a:r>
              <a:rPr lang="en-US"/>
              <a:t>Sekelompok berang-berang harus mengurutkan daftar angka dari terkecil ke terbesar. Beaver Boromir mencoba cara berikut, dimulai dari posisi paling kiri: (1) bandingkan angka saat ini dengan angka di sebelah kanannya; (2) jika angka di sebelah kanan lebih kecil, tukar keduanya; (3) pindah ke posisi berikutnya dan ulangi langkah 1-2 sampai akhir daftar (ini disebut satu "pass"). Daftar awal dan hasil setelah pass pertama ditunjukkan pada tabel. Bagaimana bentuk daftar setelah 2 pass lagi (total 3 pass)? Tuliskan algoritmanya!</a:t>
            </a:r>
            <a:endParaRPr/>
          </a:p>
        </p:txBody>
      </p:sp>
      <p:graphicFrame>
        <p:nvGraphicFramePr>
          <p:cNvPr id="380" name="Google Shape;380;p55"/>
          <p:cNvGraphicFramePr/>
          <p:nvPr/>
        </p:nvGraphicFramePr>
        <p:xfrm>
          <a:off x="6096000" y="2200000"/>
          <a:ext cx="3000000" cy="3000000"/>
        </p:xfrm>
        <a:graphic>
          <a:graphicData uri="http://schemas.openxmlformats.org/drawingml/2006/table">
            <a:tbl>
              <a:tblPr bandRow="1" firstRow="1">
                <a:noFill/>
                <a:tableStyleId>{A6EAE1E4-ED47-401D-BB08-45F530BB24D2}</a:tableStyleId>
              </a:tblPr>
              <a:tblGrid>
                <a:gridCol w="1050000"/>
                <a:gridCol w="370000"/>
                <a:gridCol w="370000"/>
                <a:gridCol w="370000"/>
                <a:gridCol w="370000"/>
                <a:gridCol w="370000"/>
                <a:gridCol w="370000"/>
                <a:gridCol w="370000"/>
                <a:gridCol w="370000"/>
                <a:gridCol w="370000"/>
                <a:gridCol w="370000"/>
              </a:tblGrid>
              <a:tr h="500000">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solidFill>
                      <a:schemeClr val="lt1"/>
                    </a:solidFill>
                  </a:tcPr>
                </a:tc>
                <a:tc>
                  <a:txBody>
                    <a:bodyPr/>
                    <a:lstStyle/>
                    <a:p>
                      <a:pPr indent="0" lvl="0" marL="0" marR="0" rtl="0" algn="l">
                        <a:lnSpc>
                          <a:spcPct val="100000"/>
                        </a:lnSpc>
                        <a:spcBef>
                          <a:spcPts val="0"/>
                        </a:spcBef>
                        <a:spcAft>
                          <a:spcPts val="0"/>
                        </a:spcAft>
                        <a:buNone/>
                      </a:pPr>
                      <a:r>
                        <a:rPr lang="en-US" sz="1400" u="none" cap="none" strike="noStrike"/>
                        <a:t>1</a:t>
                      </a:r>
                      <a:endParaRPr/>
                    </a:p>
                  </a:txBody>
                  <a:tcPr marT="45725" marB="45725" marR="91450" marL="91450">
                    <a:solidFill>
                      <a:schemeClr val="lt1"/>
                    </a:solidFill>
                  </a:tcPr>
                </a:tc>
                <a:tc>
                  <a:txBody>
                    <a:bodyPr/>
                    <a:lstStyle/>
                    <a:p>
                      <a:pPr indent="0" lvl="0" marL="0" marR="0" rtl="0" algn="l">
                        <a:lnSpc>
                          <a:spcPct val="100000"/>
                        </a:lnSpc>
                        <a:spcBef>
                          <a:spcPts val="0"/>
                        </a:spcBef>
                        <a:spcAft>
                          <a:spcPts val="0"/>
                        </a:spcAft>
                        <a:buNone/>
                      </a:pPr>
                      <a:r>
                        <a:rPr lang="en-US" sz="1400" u="none" cap="none" strike="noStrike"/>
                        <a:t>2</a:t>
                      </a:r>
                      <a:endParaRPr/>
                    </a:p>
                  </a:txBody>
                  <a:tcPr marT="45725" marB="45725" marR="91450" marL="91450">
                    <a:solidFill>
                      <a:schemeClr val="lt1"/>
                    </a:solidFill>
                  </a:tcPr>
                </a:tc>
                <a:tc>
                  <a:txBody>
                    <a:bodyPr/>
                    <a:lstStyle/>
                    <a:p>
                      <a:pPr indent="0" lvl="0" marL="0" marR="0" rtl="0" algn="l">
                        <a:lnSpc>
                          <a:spcPct val="100000"/>
                        </a:lnSpc>
                        <a:spcBef>
                          <a:spcPts val="0"/>
                        </a:spcBef>
                        <a:spcAft>
                          <a:spcPts val="0"/>
                        </a:spcAft>
                        <a:buNone/>
                      </a:pPr>
                      <a:r>
                        <a:rPr lang="en-US" sz="1400" u="none" cap="none" strike="noStrike"/>
                        <a:t>3</a:t>
                      </a:r>
                      <a:endParaRPr/>
                    </a:p>
                  </a:txBody>
                  <a:tcPr marT="45725" marB="45725" marR="91450" marL="91450">
                    <a:solidFill>
                      <a:schemeClr val="lt1"/>
                    </a:solidFill>
                  </a:tcPr>
                </a:tc>
                <a:tc>
                  <a:txBody>
                    <a:bodyPr/>
                    <a:lstStyle/>
                    <a:p>
                      <a:pPr indent="0" lvl="0" marL="0" marR="0" rtl="0" algn="l">
                        <a:lnSpc>
                          <a:spcPct val="100000"/>
                        </a:lnSpc>
                        <a:spcBef>
                          <a:spcPts val="0"/>
                        </a:spcBef>
                        <a:spcAft>
                          <a:spcPts val="0"/>
                        </a:spcAft>
                        <a:buNone/>
                      </a:pPr>
                      <a:r>
                        <a:rPr lang="en-US" sz="1400" u="none" cap="none" strike="noStrike"/>
                        <a:t>4</a:t>
                      </a:r>
                      <a:endParaRPr/>
                    </a:p>
                  </a:txBody>
                  <a:tcPr marT="45725" marB="45725" marR="91450" marL="91450">
                    <a:solidFill>
                      <a:schemeClr val="lt1"/>
                    </a:solidFill>
                  </a:tcPr>
                </a:tc>
                <a:tc>
                  <a:txBody>
                    <a:bodyPr/>
                    <a:lstStyle/>
                    <a:p>
                      <a:pPr indent="0" lvl="0" marL="0" marR="0" rtl="0" algn="l">
                        <a:lnSpc>
                          <a:spcPct val="100000"/>
                        </a:lnSpc>
                        <a:spcBef>
                          <a:spcPts val="0"/>
                        </a:spcBef>
                        <a:spcAft>
                          <a:spcPts val="0"/>
                        </a:spcAft>
                        <a:buNone/>
                      </a:pPr>
                      <a:r>
                        <a:rPr lang="en-US" sz="1400" u="none" cap="none" strike="noStrike"/>
                        <a:t>5</a:t>
                      </a:r>
                      <a:endParaRPr/>
                    </a:p>
                  </a:txBody>
                  <a:tcPr marT="45725" marB="45725" marR="91450" marL="91450">
                    <a:solidFill>
                      <a:schemeClr val="lt1"/>
                    </a:solidFill>
                  </a:tcPr>
                </a:tc>
                <a:tc>
                  <a:txBody>
                    <a:bodyPr/>
                    <a:lstStyle/>
                    <a:p>
                      <a:pPr indent="0" lvl="0" marL="0" marR="0" rtl="0" algn="l">
                        <a:lnSpc>
                          <a:spcPct val="100000"/>
                        </a:lnSpc>
                        <a:spcBef>
                          <a:spcPts val="0"/>
                        </a:spcBef>
                        <a:spcAft>
                          <a:spcPts val="0"/>
                        </a:spcAft>
                        <a:buNone/>
                      </a:pPr>
                      <a:r>
                        <a:rPr lang="en-US" sz="1400" u="none" cap="none" strike="noStrike"/>
                        <a:t>6</a:t>
                      </a:r>
                      <a:endParaRPr/>
                    </a:p>
                  </a:txBody>
                  <a:tcPr marT="45725" marB="45725" marR="91450" marL="91450">
                    <a:solidFill>
                      <a:schemeClr val="lt1"/>
                    </a:solidFill>
                  </a:tcPr>
                </a:tc>
                <a:tc>
                  <a:txBody>
                    <a:bodyPr/>
                    <a:lstStyle/>
                    <a:p>
                      <a:pPr indent="0" lvl="0" marL="0" marR="0" rtl="0" algn="l">
                        <a:lnSpc>
                          <a:spcPct val="100000"/>
                        </a:lnSpc>
                        <a:spcBef>
                          <a:spcPts val="0"/>
                        </a:spcBef>
                        <a:spcAft>
                          <a:spcPts val="0"/>
                        </a:spcAft>
                        <a:buNone/>
                      </a:pPr>
                      <a:r>
                        <a:rPr lang="en-US" sz="1400" u="none" cap="none" strike="noStrike"/>
                        <a:t>7</a:t>
                      </a:r>
                      <a:endParaRPr/>
                    </a:p>
                  </a:txBody>
                  <a:tcPr marT="45725" marB="45725" marR="91450" marL="91450">
                    <a:solidFill>
                      <a:schemeClr val="lt1"/>
                    </a:solidFill>
                  </a:tcPr>
                </a:tc>
                <a:tc>
                  <a:txBody>
                    <a:bodyPr/>
                    <a:lstStyle/>
                    <a:p>
                      <a:pPr indent="0" lvl="0" marL="0" marR="0" rtl="0" algn="l">
                        <a:lnSpc>
                          <a:spcPct val="100000"/>
                        </a:lnSpc>
                        <a:spcBef>
                          <a:spcPts val="0"/>
                        </a:spcBef>
                        <a:spcAft>
                          <a:spcPts val="0"/>
                        </a:spcAft>
                        <a:buNone/>
                      </a:pPr>
                      <a:r>
                        <a:rPr lang="en-US" sz="1400" u="none" cap="none" strike="noStrike"/>
                        <a:t>8</a:t>
                      </a:r>
                      <a:endParaRPr/>
                    </a:p>
                  </a:txBody>
                  <a:tcPr marT="45725" marB="45725" marR="91450" marL="91450">
                    <a:solidFill>
                      <a:schemeClr val="lt1"/>
                    </a:solidFill>
                  </a:tcPr>
                </a:tc>
                <a:tc>
                  <a:txBody>
                    <a:bodyPr/>
                    <a:lstStyle/>
                    <a:p>
                      <a:pPr indent="0" lvl="0" marL="0" marR="0" rtl="0" algn="l">
                        <a:lnSpc>
                          <a:spcPct val="100000"/>
                        </a:lnSpc>
                        <a:spcBef>
                          <a:spcPts val="0"/>
                        </a:spcBef>
                        <a:spcAft>
                          <a:spcPts val="0"/>
                        </a:spcAft>
                        <a:buNone/>
                      </a:pPr>
                      <a:r>
                        <a:rPr lang="en-US" sz="1400" u="none" cap="none" strike="noStrike"/>
                        <a:t>9</a:t>
                      </a:r>
                      <a:endParaRPr/>
                    </a:p>
                  </a:txBody>
                  <a:tcPr marT="45725" marB="45725" marR="91450" marL="91450">
                    <a:solidFill>
                      <a:schemeClr val="lt1"/>
                    </a:solidFill>
                  </a:tcPr>
                </a:tc>
                <a:tc>
                  <a:txBody>
                    <a:bodyPr/>
                    <a:lstStyle/>
                    <a:p>
                      <a:pPr indent="0" lvl="0" marL="0" marR="0" rtl="0" algn="l">
                        <a:lnSpc>
                          <a:spcPct val="100000"/>
                        </a:lnSpc>
                        <a:spcBef>
                          <a:spcPts val="0"/>
                        </a:spcBef>
                        <a:spcAft>
                          <a:spcPts val="0"/>
                        </a:spcAft>
                        <a:buNone/>
                      </a:pPr>
                      <a:r>
                        <a:rPr lang="en-US" sz="1400" u="none" cap="none" strike="noStrike"/>
                        <a:t>10</a:t>
                      </a:r>
                      <a:endParaRPr/>
                    </a:p>
                  </a:txBody>
                  <a:tcPr marT="45725" marB="45725" marR="91450" marL="91450">
                    <a:solidFill>
                      <a:schemeClr val="lt1"/>
                    </a:solidFill>
                  </a:tcPr>
                </a:tc>
              </a:tr>
              <a:tr h="500000">
                <a:tc>
                  <a:txBody>
                    <a:bodyPr/>
                    <a:lstStyle/>
                    <a:p>
                      <a:pPr indent="0" lvl="0" marL="0" marR="0" rtl="0" algn="l">
                        <a:lnSpc>
                          <a:spcPct val="100000"/>
                        </a:lnSpc>
                        <a:spcBef>
                          <a:spcPts val="0"/>
                        </a:spcBef>
                        <a:spcAft>
                          <a:spcPts val="0"/>
                        </a:spcAft>
                        <a:buNone/>
                      </a:pPr>
                      <a:r>
                        <a:rPr lang="en-US" sz="1400" u="none" cap="none" strike="noStrike"/>
                        <a:t>Awal</a:t>
                      </a:r>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lang="en-US" sz="1400" u="none" cap="none" strike="noStrike"/>
                        <a:t>5</a:t>
                      </a:r>
                      <a:endParaRPr/>
                    </a:p>
                  </a:txBody>
                  <a:tcPr marT="45725" marB="45725" marR="91450" marL="91450" anchor="ctr">
                    <a:solidFill>
                      <a:schemeClr val="accent1"/>
                    </a:solidFill>
                  </a:tcPr>
                </a:tc>
                <a:tc>
                  <a:txBody>
                    <a:bodyPr/>
                    <a:lstStyle/>
                    <a:p>
                      <a:pPr indent="0" lvl="0" marL="0" marR="0" rtl="0" algn="ctr">
                        <a:lnSpc>
                          <a:spcPct val="100000"/>
                        </a:lnSpc>
                        <a:spcBef>
                          <a:spcPts val="0"/>
                        </a:spcBef>
                        <a:spcAft>
                          <a:spcPts val="0"/>
                        </a:spcAft>
                        <a:buNone/>
                      </a:pPr>
                      <a:r>
                        <a:rPr lang="en-US" sz="1400" u="none" cap="none" strike="noStrike"/>
                        <a:t>3</a:t>
                      </a:r>
                      <a:endParaRPr/>
                    </a:p>
                  </a:txBody>
                  <a:tcPr marT="45725" marB="45725" marR="91450" marL="91450" anchor="ctr">
                    <a:solidFill>
                      <a:schemeClr val="accent1"/>
                    </a:solidFill>
                  </a:tcPr>
                </a:tc>
                <a:tc>
                  <a:txBody>
                    <a:bodyPr/>
                    <a:lstStyle/>
                    <a:p>
                      <a:pPr indent="0" lvl="0" marL="0" marR="0" rtl="0" algn="ctr">
                        <a:lnSpc>
                          <a:spcPct val="100000"/>
                        </a:lnSpc>
                        <a:spcBef>
                          <a:spcPts val="0"/>
                        </a:spcBef>
                        <a:spcAft>
                          <a:spcPts val="0"/>
                        </a:spcAft>
                        <a:buNone/>
                      </a:pPr>
                      <a:r>
                        <a:rPr lang="en-US" sz="1400" u="none" cap="none" strike="noStrike"/>
                        <a:t>5</a:t>
                      </a:r>
                      <a:endParaRPr/>
                    </a:p>
                  </a:txBody>
                  <a:tcPr marT="45725" marB="45725" marR="91450" marL="91450" anchor="ctr">
                    <a:solidFill>
                      <a:schemeClr val="accent1"/>
                    </a:solidFill>
                  </a:tcPr>
                </a:tc>
                <a:tc>
                  <a:txBody>
                    <a:bodyPr/>
                    <a:lstStyle/>
                    <a:p>
                      <a:pPr indent="0" lvl="0" marL="0" marR="0" rtl="0" algn="ctr">
                        <a:lnSpc>
                          <a:spcPct val="100000"/>
                        </a:lnSpc>
                        <a:spcBef>
                          <a:spcPts val="0"/>
                        </a:spcBef>
                        <a:spcAft>
                          <a:spcPts val="0"/>
                        </a:spcAft>
                        <a:buNone/>
                      </a:pPr>
                      <a:r>
                        <a:rPr lang="en-US" sz="1400" u="none" cap="none" strike="noStrike"/>
                        <a:t>6</a:t>
                      </a:r>
                      <a:endParaRPr/>
                    </a:p>
                  </a:txBody>
                  <a:tcPr marT="45725" marB="45725" marR="91450" marL="91450" anchor="ctr">
                    <a:solidFill>
                      <a:schemeClr val="accent1"/>
                    </a:solidFill>
                  </a:tcPr>
                </a:tc>
                <a:tc>
                  <a:txBody>
                    <a:bodyPr/>
                    <a:lstStyle/>
                    <a:p>
                      <a:pPr indent="0" lvl="0" marL="0" marR="0" rtl="0" algn="ctr">
                        <a:lnSpc>
                          <a:spcPct val="100000"/>
                        </a:lnSpc>
                        <a:spcBef>
                          <a:spcPts val="0"/>
                        </a:spcBef>
                        <a:spcAft>
                          <a:spcPts val="0"/>
                        </a:spcAft>
                        <a:buNone/>
                      </a:pPr>
                      <a:r>
                        <a:rPr lang="en-US" sz="1400" u="none" cap="none" strike="noStrike"/>
                        <a:t>7</a:t>
                      </a:r>
                      <a:endParaRPr/>
                    </a:p>
                  </a:txBody>
                  <a:tcPr marT="45725" marB="45725" marR="91450" marL="91450" anchor="ctr">
                    <a:solidFill>
                      <a:schemeClr val="accent1"/>
                    </a:solidFill>
                  </a:tcPr>
                </a:tc>
                <a:tc>
                  <a:txBody>
                    <a:bodyPr/>
                    <a:lstStyle/>
                    <a:p>
                      <a:pPr indent="0" lvl="0" marL="0" marR="0" rtl="0" algn="ctr">
                        <a:lnSpc>
                          <a:spcPct val="100000"/>
                        </a:lnSpc>
                        <a:spcBef>
                          <a:spcPts val="0"/>
                        </a:spcBef>
                        <a:spcAft>
                          <a:spcPts val="0"/>
                        </a:spcAft>
                        <a:buNone/>
                      </a:pPr>
                      <a:r>
                        <a:rPr lang="en-US" sz="1400" u="none" cap="none" strike="noStrike"/>
                        <a:t>4</a:t>
                      </a:r>
                      <a:endParaRPr/>
                    </a:p>
                  </a:txBody>
                  <a:tcPr marT="45725" marB="45725" marR="91450" marL="91450" anchor="ctr">
                    <a:solidFill>
                      <a:schemeClr val="accent1"/>
                    </a:solidFill>
                  </a:tcPr>
                </a:tc>
                <a:tc>
                  <a:txBody>
                    <a:bodyPr/>
                    <a:lstStyle/>
                    <a:p>
                      <a:pPr indent="0" lvl="0" marL="0" marR="0" rtl="0" algn="ctr">
                        <a:lnSpc>
                          <a:spcPct val="100000"/>
                        </a:lnSpc>
                        <a:spcBef>
                          <a:spcPts val="0"/>
                        </a:spcBef>
                        <a:spcAft>
                          <a:spcPts val="0"/>
                        </a:spcAft>
                        <a:buNone/>
                      </a:pPr>
                      <a:r>
                        <a:rPr lang="en-US" sz="1400" u="none" cap="none" strike="noStrike"/>
                        <a:t>3</a:t>
                      </a:r>
                      <a:endParaRPr/>
                    </a:p>
                  </a:txBody>
                  <a:tcPr marT="45725" marB="45725" marR="91450" marL="91450" anchor="ctr">
                    <a:solidFill>
                      <a:schemeClr val="accent1"/>
                    </a:solidFill>
                  </a:tcPr>
                </a:tc>
                <a:tc>
                  <a:txBody>
                    <a:bodyPr/>
                    <a:lstStyle/>
                    <a:p>
                      <a:pPr indent="0" lvl="0" marL="0" marR="0" rtl="0" algn="ctr">
                        <a:lnSpc>
                          <a:spcPct val="100000"/>
                        </a:lnSpc>
                        <a:spcBef>
                          <a:spcPts val="0"/>
                        </a:spcBef>
                        <a:spcAft>
                          <a:spcPts val="0"/>
                        </a:spcAft>
                        <a:buNone/>
                      </a:pPr>
                      <a:r>
                        <a:rPr lang="en-US" sz="1400" u="none" cap="none" strike="noStrike"/>
                        <a:t>6</a:t>
                      </a:r>
                      <a:endParaRPr/>
                    </a:p>
                  </a:txBody>
                  <a:tcPr marT="45725" marB="45725" marR="91450" marL="91450" anchor="ctr">
                    <a:solidFill>
                      <a:schemeClr val="accent1"/>
                    </a:solidFill>
                  </a:tcPr>
                </a:tc>
                <a:tc>
                  <a:txBody>
                    <a:bodyPr/>
                    <a:lstStyle/>
                    <a:p>
                      <a:pPr indent="0" lvl="0" marL="0" marR="0" rtl="0" algn="ctr">
                        <a:lnSpc>
                          <a:spcPct val="100000"/>
                        </a:lnSpc>
                        <a:spcBef>
                          <a:spcPts val="0"/>
                        </a:spcBef>
                        <a:spcAft>
                          <a:spcPts val="0"/>
                        </a:spcAft>
                        <a:buNone/>
                      </a:pPr>
                      <a:r>
                        <a:rPr lang="en-US" sz="1400" u="none" cap="none" strike="noStrike"/>
                        <a:t>8</a:t>
                      </a:r>
                      <a:endParaRPr/>
                    </a:p>
                  </a:txBody>
                  <a:tcPr marT="45725" marB="45725" marR="91450" marL="91450" anchor="ctr">
                    <a:solidFill>
                      <a:schemeClr val="accent1"/>
                    </a:solidFill>
                  </a:tcPr>
                </a:tc>
                <a:tc>
                  <a:txBody>
                    <a:bodyPr/>
                    <a:lstStyle/>
                    <a:p>
                      <a:pPr indent="0" lvl="0" marL="0" marR="0" rtl="0" algn="ctr">
                        <a:lnSpc>
                          <a:spcPct val="100000"/>
                        </a:lnSpc>
                        <a:spcBef>
                          <a:spcPts val="0"/>
                        </a:spcBef>
                        <a:spcAft>
                          <a:spcPts val="0"/>
                        </a:spcAft>
                        <a:buNone/>
                      </a:pPr>
                      <a:r>
                        <a:rPr lang="en-US" sz="1400" u="none" cap="none" strike="noStrike"/>
                        <a:t>4</a:t>
                      </a:r>
                      <a:endParaRPr/>
                    </a:p>
                  </a:txBody>
                  <a:tcPr marT="45725" marB="45725" marR="91450" marL="91450" anchor="ctr">
                    <a:solidFill>
                      <a:schemeClr val="accent1"/>
                    </a:solidFill>
                  </a:tcPr>
                </a:tc>
              </a:tr>
              <a:tr h="500000">
                <a:tc>
                  <a:txBody>
                    <a:bodyPr/>
                    <a:lstStyle/>
                    <a:p>
                      <a:pPr indent="0" lvl="0" marL="0" marR="0" rtl="0" algn="l">
                        <a:lnSpc>
                          <a:spcPct val="100000"/>
                        </a:lnSpc>
                        <a:spcBef>
                          <a:spcPts val="0"/>
                        </a:spcBef>
                        <a:spcAft>
                          <a:spcPts val="0"/>
                        </a:spcAft>
                        <a:buNone/>
                      </a:pPr>
                      <a:r>
                        <a:rPr lang="en-US" sz="1400" u="none" cap="none" strike="noStrike"/>
                        <a:t>Setelah Pass 1</a:t>
                      </a:r>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None/>
                      </a:pPr>
                      <a:r>
                        <a:rPr lang="en-US" sz="1400" u="none" cap="none" strike="noStrike"/>
                        <a:t>3</a:t>
                      </a:r>
                      <a:endParaRPr/>
                    </a:p>
                  </a:txBody>
                  <a:tcPr marT="45725" marB="45725" marR="91450" marL="91450" anchor="ctr">
                    <a:solidFill>
                      <a:schemeClr val="accent1"/>
                    </a:solidFill>
                  </a:tcPr>
                </a:tc>
                <a:tc>
                  <a:txBody>
                    <a:bodyPr/>
                    <a:lstStyle/>
                    <a:p>
                      <a:pPr indent="0" lvl="0" marL="0" marR="0" rtl="0" algn="ctr">
                        <a:lnSpc>
                          <a:spcPct val="100000"/>
                        </a:lnSpc>
                        <a:spcBef>
                          <a:spcPts val="0"/>
                        </a:spcBef>
                        <a:spcAft>
                          <a:spcPts val="0"/>
                        </a:spcAft>
                        <a:buNone/>
                      </a:pPr>
                      <a:r>
                        <a:rPr lang="en-US" sz="1400" u="none" cap="none" strike="noStrike"/>
                        <a:t>5</a:t>
                      </a:r>
                      <a:endParaRPr/>
                    </a:p>
                  </a:txBody>
                  <a:tcPr marT="45725" marB="45725" marR="91450" marL="91450" anchor="ctr">
                    <a:solidFill>
                      <a:schemeClr val="accent1"/>
                    </a:solidFill>
                  </a:tcPr>
                </a:tc>
                <a:tc>
                  <a:txBody>
                    <a:bodyPr/>
                    <a:lstStyle/>
                    <a:p>
                      <a:pPr indent="0" lvl="0" marL="0" marR="0" rtl="0" algn="ctr">
                        <a:lnSpc>
                          <a:spcPct val="100000"/>
                        </a:lnSpc>
                        <a:spcBef>
                          <a:spcPts val="0"/>
                        </a:spcBef>
                        <a:spcAft>
                          <a:spcPts val="0"/>
                        </a:spcAft>
                        <a:buNone/>
                      </a:pPr>
                      <a:r>
                        <a:rPr lang="en-US" sz="1400" u="none" cap="none" strike="noStrike"/>
                        <a:t>5</a:t>
                      </a:r>
                      <a:endParaRPr/>
                    </a:p>
                  </a:txBody>
                  <a:tcPr marT="45725" marB="45725" marR="91450" marL="91450" anchor="ctr">
                    <a:solidFill>
                      <a:schemeClr val="accent1"/>
                    </a:solidFill>
                  </a:tcPr>
                </a:tc>
                <a:tc>
                  <a:txBody>
                    <a:bodyPr/>
                    <a:lstStyle/>
                    <a:p>
                      <a:pPr indent="0" lvl="0" marL="0" marR="0" rtl="0" algn="ctr">
                        <a:lnSpc>
                          <a:spcPct val="100000"/>
                        </a:lnSpc>
                        <a:spcBef>
                          <a:spcPts val="0"/>
                        </a:spcBef>
                        <a:spcAft>
                          <a:spcPts val="0"/>
                        </a:spcAft>
                        <a:buNone/>
                      </a:pPr>
                      <a:r>
                        <a:rPr lang="en-US" sz="1400" u="none" cap="none" strike="noStrike"/>
                        <a:t>6</a:t>
                      </a:r>
                      <a:endParaRPr/>
                    </a:p>
                  </a:txBody>
                  <a:tcPr marT="45725" marB="45725" marR="91450" marL="91450" anchor="ctr">
                    <a:solidFill>
                      <a:schemeClr val="accent1"/>
                    </a:solidFill>
                  </a:tcPr>
                </a:tc>
                <a:tc>
                  <a:txBody>
                    <a:bodyPr/>
                    <a:lstStyle/>
                    <a:p>
                      <a:pPr indent="0" lvl="0" marL="0" marR="0" rtl="0" algn="ctr">
                        <a:lnSpc>
                          <a:spcPct val="100000"/>
                        </a:lnSpc>
                        <a:spcBef>
                          <a:spcPts val="0"/>
                        </a:spcBef>
                        <a:spcAft>
                          <a:spcPts val="0"/>
                        </a:spcAft>
                        <a:buNone/>
                      </a:pPr>
                      <a:r>
                        <a:rPr lang="en-US" sz="1400" u="none" cap="none" strike="noStrike"/>
                        <a:t>4</a:t>
                      </a:r>
                      <a:endParaRPr/>
                    </a:p>
                  </a:txBody>
                  <a:tcPr marT="45725" marB="45725" marR="91450" marL="91450" anchor="ctr">
                    <a:solidFill>
                      <a:schemeClr val="accent1"/>
                    </a:solidFill>
                  </a:tcPr>
                </a:tc>
                <a:tc>
                  <a:txBody>
                    <a:bodyPr/>
                    <a:lstStyle/>
                    <a:p>
                      <a:pPr indent="0" lvl="0" marL="0" marR="0" rtl="0" algn="ctr">
                        <a:lnSpc>
                          <a:spcPct val="100000"/>
                        </a:lnSpc>
                        <a:spcBef>
                          <a:spcPts val="0"/>
                        </a:spcBef>
                        <a:spcAft>
                          <a:spcPts val="0"/>
                        </a:spcAft>
                        <a:buNone/>
                      </a:pPr>
                      <a:r>
                        <a:rPr lang="en-US" sz="1400" u="none" cap="none" strike="noStrike"/>
                        <a:t>3</a:t>
                      </a:r>
                      <a:endParaRPr/>
                    </a:p>
                  </a:txBody>
                  <a:tcPr marT="45725" marB="45725" marR="91450" marL="91450" anchor="ctr">
                    <a:solidFill>
                      <a:schemeClr val="accent1"/>
                    </a:solidFill>
                  </a:tcPr>
                </a:tc>
                <a:tc>
                  <a:txBody>
                    <a:bodyPr/>
                    <a:lstStyle/>
                    <a:p>
                      <a:pPr indent="0" lvl="0" marL="0" marR="0" rtl="0" algn="ctr">
                        <a:lnSpc>
                          <a:spcPct val="100000"/>
                        </a:lnSpc>
                        <a:spcBef>
                          <a:spcPts val="0"/>
                        </a:spcBef>
                        <a:spcAft>
                          <a:spcPts val="0"/>
                        </a:spcAft>
                        <a:buNone/>
                      </a:pPr>
                      <a:r>
                        <a:rPr lang="en-US" sz="1400" u="none" cap="none" strike="noStrike"/>
                        <a:t>6</a:t>
                      </a:r>
                      <a:endParaRPr/>
                    </a:p>
                  </a:txBody>
                  <a:tcPr marT="45725" marB="45725" marR="91450" marL="91450" anchor="ctr">
                    <a:solidFill>
                      <a:schemeClr val="accent1"/>
                    </a:solidFill>
                  </a:tcPr>
                </a:tc>
                <a:tc>
                  <a:txBody>
                    <a:bodyPr/>
                    <a:lstStyle/>
                    <a:p>
                      <a:pPr indent="0" lvl="0" marL="0" marR="0" rtl="0" algn="ctr">
                        <a:lnSpc>
                          <a:spcPct val="100000"/>
                        </a:lnSpc>
                        <a:spcBef>
                          <a:spcPts val="0"/>
                        </a:spcBef>
                        <a:spcAft>
                          <a:spcPts val="0"/>
                        </a:spcAft>
                        <a:buNone/>
                      </a:pPr>
                      <a:r>
                        <a:rPr lang="en-US" sz="1400" u="none" cap="none" strike="noStrike"/>
                        <a:t>7</a:t>
                      </a:r>
                      <a:endParaRPr/>
                    </a:p>
                  </a:txBody>
                  <a:tcPr marT="45725" marB="45725" marR="91450" marL="91450" anchor="ctr">
                    <a:solidFill>
                      <a:schemeClr val="accent1"/>
                    </a:solidFill>
                  </a:tcPr>
                </a:tc>
                <a:tc>
                  <a:txBody>
                    <a:bodyPr/>
                    <a:lstStyle/>
                    <a:p>
                      <a:pPr indent="0" lvl="0" marL="0" marR="0" rtl="0" algn="ctr">
                        <a:lnSpc>
                          <a:spcPct val="100000"/>
                        </a:lnSpc>
                        <a:spcBef>
                          <a:spcPts val="0"/>
                        </a:spcBef>
                        <a:spcAft>
                          <a:spcPts val="0"/>
                        </a:spcAft>
                        <a:buNone/>
                      </a:pPr>
                      <a:r>
                        <a:rPr lang="en-US" sz="1400" u="none" cap="none" strike="noStrike"/>
                        <a:t>4</a:t>
                      </a:r>
                      <a:endParaRPr/>
                    </a:p>
                  </a:txBody>
                  <a:tcPr marT="45725" marB="45725" marR="91450" marL="91450" anchor="ctr">
                    <a:solidFill>
                      <a:schemeClr val="accent1"/>
                    </a:solidFill>
                  </a:tcPr>
                </a:tc>
                <a:tc>
                  <a:txBody>
                    <a:bodyPr/>
                    <a:lstStyle/>
                    <a:p>
                      <a:pPr indent="0" lvl="0" marL="0" marR="0" rtl="0" algn="ctr">
                        <a:lnSpc>
                          <a:spcPct val="100000"/>
                        </a:lnSpc>
                        <a:spcBef>
                          <a:spcPts val="0"/>
                        </a:spcBef>
                        <a:spcAft>
                          <a:spcPts val="0"/>
                        </a:spcAft>
                        <a:buNone/>
                      </a:pPr>
                      <a:r>
                        <a:rPr lang="en-US" sz="1400" u="none" cap="none" strike="noStrike"/>
                        <a:t>8</a:t>
                      </a:r>
                      <a:endParaRPr/>
                    </a:p>
                  </a:txBody>
                  <a:tcPr marT="45725" marB="45725" marR="91450" marL="91450" anchor="ctr">
                    <a:solidFill>
                      <a:schemeClr val="accent1"/>
                    </a:solidFill>
                  </a:tcPr>
                </a:tc>
              </a:tr>
              <a:tr h="500000">
                <a:tc>
                  <a:txBody>
                    <a:bodyPr/>
                    <a:lstStyle/>
                    <a:p>
                      <a:pPr indent="0" lvl="0" marL="0" marR="0" rtl="0" algn="l">
                        <a:lnSpc>
                          <a:spcPct val="100000"/>
                        </a:lnSpc>
                        <a:spcBef>
                          <a:spcPts val="0"/>
                        </a:spcBef>
                        <a:spcAft>
                          <a:spcPts val="0"/>
                        </a:spcAft>
                        <a:buNone/>
                      </a:pPr>
                      <a:r>
                        <a:rPr lang="en-US" sz="1400" u="none" cap="none" strike="noStrike"/>
                        <a:t>Setelah 3 Pass (?)</a:t>
                      </a:r>
                      <a:endParaRPr/>
                    </a:p>
                  </a:txBody>
                  <a:tcPr marT="45725" marB="45725" marR="91450" marL="91450">
                    <a:solidFill>
                      <a:schemeClr val="lt1"/>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nchor="ctr">
                    <a:solidFill>
                      <a:schemeClr val="accent1"/>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nchor="ctr">
                    <a:solidFill>
                      <a:schemeClr val="accent1"/>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nchor="ctr">
                    <a:solidFill>
                      <a:schemeClr val="accent1"/>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nchor="ctr">
                    <a:solidFill>
                      <a:schemeClr val="accent1"/>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nchor="ctr">
                    <a:solidFill>
                      <a:schemeClr val="accent1"/>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nchor="ctr">
                    <a:solidFill>
                      <a:schemeClr val="accent1"/>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nchor="ctr">
                    <a:solidFill>
                      <a:schemeClr val="accent1"/>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nchor="ctr">
                    <a:solidFill>
                      <a:schemeClr val="accent1"/>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nchor="ctr">
                    <a:solidFill>
                      <a:schemeClr val="accent1"/>
                    </a:solidFill>
                  </a:tcPr>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nchor="ctr">
                    <a:solidFill>
                      <a:schemeClr val="accent1"/>
                    </a:solidFill>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5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lang="en-US"/>
              <a:t>Latihan 2</a:t>
            </a:r>
            <a:endParaRPr/>
          </a:p>
        </p:txBody>
      </p:sp>
      <p:graphicFrame>
        <p:nvGraphicFramePr>
          <p:cNvPr id="386" name="Google Shape;386;p56"/>
          <p:cNvGraphicFramePr/>
          <p:nvPr/>
        </p:nvGraphicFramePr>
        <p:xfrm>
          <a:off x="7361535" y="2068411"/>
          <a:ext cx="3000000" cy="3000000"/>
        </p:xfrm>
        <a:graphic>
          <a:graphicData uri="http://schemas.openxmlformats.org/drawingml/2006/table">
            <a:tbl>
              <a:tblPr bandRow="1" firstRow="1">
                <a:noFill/>
                <a:tableStyleId>{A6EAE1E4-ED47-401D-BB08-45F530BB24D2}</a:tableStyleId>
              </a:tblPr>
              <a:tblGrid>
                <a:gridCol w="1150000"/>
                <a:gridCol w="900000"/>
                <a:gridCol w="1150000"/>
                <a:gridCol w="1100000"/>
              </a:tblGrid>
              <a:tr h="240000">
                <a:tc>
                  <a:txBody>
                    <a:bodyPr/>
                    <a:lstStyle/>
                    <a:p>
                      <a:pPr indent="0" lvl="0" marL="0" marR="0" rtl="0" algn="ctr">
                        <a:lnSpc>
                          <a:spcPct val="100000"/>
                        </a:lnSpc>
                        <a:spcBef>
                          <a:spcPts val="0"/>
                        </a:spcBef>
                        <a:spcAft>
                          <a:spcPts val="0"/>
                        </a:spcAft>
                        <a:buNone/>
                      </a:pPr>
                      <a:r>
                        <a:rPr b="1" lang="en-US" sz="1000" u="none" cap="none" strike="noStrike"/>
                        <a:t>Pelanggan</a:t>
                      </a:r>
                      <a:endParaRPr/>
                    </a:p>
                  </a:txBody>
                  <a:tcPr marT="45725" marB="45725" marR="91450" marL="91450" anchor="ctr">
                    <a:solidFill>
                      <a:schemeClr val="lt1"/>
                    </a:solidFill>
                  </a:tcPr>
                </a:tc>
                <a:tc>
                  <a:txBody>
                    <a:bodyPr/>
                    <a:lstStyle/>
                    <a:p>
                      <a:pPr indent="0" lvl="0" marL="0" marR="0" rtl="0" algn="ctr">
                        <a:lnSpc>
                          <a:spcPct val="100000"/>
                        </a:lnSpc>
                        <a:spcBef>
                          <a:spcPts val="0"/>
                        </a:spcBef>
                        <a:spcAft>
                          <a:spcPts val="0"/>
                        </a:spcAft>
                        <a:buNone/>
                      </a:pPr>
                      <a:r>
                        <a:rPr b="1" lang="en-US" sz="1000" u="none" cap="none" strike="noStrike"/>
                        <a:t>Loket</a:t>
                      </a:r>
                      <a:endParaRPr/>
                    </a:p>
                  </a:txBody>
                  <a:tcPr marT="45725" marB="45725" marR="91450" marL="91450" anchor="ctr">
                    <a:solidFill>
                      <a:schemeClr val="lt1"/>
                    </a:solidFill>
                  </a:tcPr>
                </a:tc>
                <a:tc>
                  <a:txBody>
                    <a:bodyPr/>
                    <a:lstStyle/>
                    <a:p>
                      <a:pPr indent="0" lvl="0" marL="0" marR="0" rtl="0" algn="ctr">
                        <a:lnSpc>
                          <a:spcPct val="100000"/>
                        </a:lnSpc>
                        <a:spcBef>
                          <a:spcPts val="0"/>
                        </a:spcBef>
                        <a:spcAft>
                          <a:spcPts val="0"/>
                        </a:spcAft>
                        <a:buNone/>
                      </a:pPr>
                      <a:r>
                        <a:rPr b="1" lang="en-US" sz="1000" u="none" cap="none" strike="noStrike"/>
                        <a:t>Mulai (menit)</a:t>
                      </a:r>
                      <a:endParaRPr/>
                    </a:p>
                  </a:txBody>
                  <a:tcPr marT="45725" marB="45725" marR="91450" marL="91450" anchor="ctr">
                    <a:solidFill>
                      <a:schemeClr val="lt1"/>
                    </a:solidFill>
                  </a:tcPr>
                </a:tc>
                <a:tc>
                  <a:txBody>
                    <a:bodyPr/>
                    <a:lstStyle/>
                    <a:p>
                      <a:pPr indent="0" lvl="0" marL="0" marR="0" rtl="0" algn="ctr">
                        <a:lnSpc>
                          <a:spcPct val="100000"/>
                        </a:lnSpc>
                        <a:spcBef>
                          <a:spcPts val="0"/>
                        </a:spcBef>
                        <a:spcAft>
                          <a:spcPts val="0"/>
                        </a:spcAft>
                        <a:buNone/>
                      </a:pPr>
                      <a:r>
                        <a:rPr b="1" lang="en-US" sz="1000" u="none" cap="none" strike="noStrike"/>
                        <a:t>Selesai (menit)</a:t>
                      </a:r>
                      <a:endParaRPr/>
                    </a:p>
                  </a:txBody>
                  <a:tcPr marT="45725" marB="45725" marR="91450" marL="91450" anchor="ctr">
                    <a:solidFill>
                      <a:schemeClr val="lt1"/>
                    </a:solidFill>
                  </a:tcPr>
                </a:tc>
              </a:tr>
              <a:tr h="240000">
                <a:tc>
                  <a:txBody>
                    <a:bodyPr/>
                    <a:lstStyle/>
                    <a:p>
                      <a:pPr indent="0" lvl="0" marL="0" marR="0" rtl="0" algn="ctr">
                        <a:lnSpc>
                          <a:spcPct val="100000"/>
                        </a:lnSpc>
                        <a:spcBef>
                          <a:spcPts val="0"/>
                        </a:spcBef>
                        <a:spcAft>
                          <a:spcPts val="0"/>
                        </a:spcAft>
                        <a:buNone/>
                      </a:pPr>
                      <a:r>
                        <a:rPr lang="en-US" sz="1000" u="none" cap="none" strike="noStrike"/>
                        <a:t>1</a:t>
                      </a:r>
                      <a:endParaRPr/>
                    </a:p>
                  </a:txBody>
                  <a:tcPr marT="45725" marB="45725" marR="91450" marL="91450" anchor="ctr">
                    <a:solidFill>
                      <a:schemeClr val="accent1"/>
                    </a:solidFill>
                  </a:tcPr>
                </a:tc>
                <a:tc>
                  <a:txBody>
                    <a:bodyPr/>
                    <a:lstStyle/>
                    <a:p>
                      <a:pPr indent="0" lvl="0" marL="0" marR="0" rtl="0" algn="ctr">
                        <a:lnSpc>
                          <a:spcPct val="100000"/>
                        </a:lnSpc>
                        <a:spcBef>
                          <a:spcPts val="0"/>
                        </a:spcBef>
                        <a:spcAft>
                          <a:spcPts val="0"/>
                        </a:spcAft>
                        <a:buNone/>
                      </a:pPr>
                      <a:r>
                        <a:rPr lang="en-US" sz="1000" u="none" cap="none" strike="noStrike"/>
                        <a:t>1</a:t>
                      </a:r>
                      <a:endParaRPr/>
                    </a:p>
                  </a:txBody>
                  <a:tcPr marT="45725" marB="45725" marR="91450" marL="91450" anchor="ctr">
                    <a:solidFill>
                      <a:schemeClr val="accent1"/>
                    </a:solidFill>
                  </a:tcPr>
                </a:tc>
                <a:tc>
                  <a:txBody>
                    <a:bodyPr/>
                    <a:lstStyle/>
                    <a:p>
                      <a:pPr indent="0" lvl="0" marL="0" marR="0" rtl="0" algn="ctr">
                        <a:lnSpc>
                          <a:spcPct val="100000"/>
                        </a:lnSpc>
                        <a:spcBef>
                          <a:spcPts val="0"/>
                        </a:spcBef>
                        <a:spcAft>
                          <a:spcPts val="0"/>
                        </a:spcAft>
                        <a:buNone/>
                      </a:pPr>
                      <a:r>
                        <a:rPr lang="en-US" sz="1000" u="none" cap="none" strike="noStrike"/>
                        <a:t>0</a:t>
                      </a:r>
                      <a:endParaRPr/>
                    </a:p>
                  </a:txBody>
                  <a:tcPr marT="45725" marB="45725" marR="91450" marL="91450" anchor="ctr">
                    <a:solidFill>
                      <a:schemeClr val="accent1"/>
                    </a:solidFill>
                  </a:tcPr>
                </a:tc>
                <a:tc>
                  <a:txBody>
                    <a:bodyPr/>
                    <a:lstStyle/>
                    <a:p>
                      <a:pPr indent="0" lvl="0" marL="0" marR="0" rtl="0" algn="ctr">
                        <a:lnSpc>
                          <a:spcPct val="100000"/>
                        </a:lnSpc>
                        <a:spcBef>
                          <a:spcPts val="0"/>
                        </a:spcBef>
                        <a:spcAft>
                          <a:spcPts val="0"/>
                        </a:spcAft>
                        <a:buNone/>
                      </a:pPr>
                      <a:r>
                        <a:rPr lang="en-US" sz="1000" u="none" cap="none" strike="noStrike"/>
                        <a:t>2</a:t>
                      </a:r>
                      <a:endParaRPr/>
                    </a:p>
                  </a:txBody>
                  <a:tcPr marT="45725" marB="45725" marR="91450" marL="91450" anchor="ctr">
                    <a:solidFill>
                      <a:schemeClr val="accent1"/>
                    </a:solidFill>
                  </a:tcPr>
                </a:tc>
              </a:tr>
              <a:tr h="240000">
                <a:tc>
                  <a:txBody>
                    <a:bodyPr/>
                    <a:lstStyle/>
                    <a:p>
                      <a:pPr indent="0" lvl="0" marL="0" marR="0" rtl="0" algn="ctr">
                        <a:lnSpc>
                          <a:spcPct val="100000"/>
                        </a:lnSpc>
                        <a:spcBef>
                          <a:spcPts val="0"/>
                        </a:spcBef>
                        <a:spcAft>
                          <a:spcPts val="0"/>
                        </a:spcAft>
                        <a:buNone/>
                      </a:pPr>
                      <a:r>
                        <a:rPr lang="en-US" sz="1000" u="none" cap="none" strike="noStrike"/>
                        <a:t>2</a:t>
                      </a:r>
                      <a:endParaRPr/>
                    </a:p>
                  </a:txBody>
                  <a:tcPr marT="45725" marB="45725" marR="91450" marL="91450" anchor="ctr">
                    <a:solidFill>
                      <a:schemeClr val="accent1"/>
                    </a:solidFill>
                  </a:tcPr>
                </a:tc>
                <a:tc>
                  <a:txBody>
                    <a:bodyPr/>
                    <a:lstStyle/>
                    <a:p>
                      <a:pPr indent="0" lvl="0" marL="0" marR="0" rtl="0" algn="ctr">
                        <a:lnSpc>
                          <a:spcPct val="100000"/>
                        </a:lnSpc>
                        <a:spcBef>
                          <a:spcPts val="0"/>
                        </a:spcBef>
                        <a:spcAft>
                          <a:spcPts val="0"/>
                        </a:spcAft>
                        <a:buNone/>
                      </a:pPr>
                      <a:r>
                        <a:rPr lang="en-US" sz="1000" u="none" cap="none" strike="noStrike"/>
                        <a:t>1</a:t>
                      </a:r>
                      <a:endParaRPr/>
                    </a:p>
                  </a:txBody>
                  <a:tcPr marT="45725" marB="45725" marR="91450" marL="91450" anchor="ctr">
                    <a:solidFill>
                      <a:schemeClr val="accent1"/>
                    </a:solidFill>
                  </a:tcPr>
                </a:tc>
                <a:tc>
                  <a:txBody>
                    <a:bodyPr/>
                    <a:lstStyle/>
                    <a:p>
                      <a:pPr indent="0" lvl="0" marL="0" marR="0" rtl="0" algn="ctr">
                        <a:lnSpc>
                          <a:spcPct val="100000"/>
                        </a:lnSpc>
                        <a:spcBef>
                          <a:spcPts val="0"/>
                        </a:spcBef>
                        <a:spcAft>
                          <a:spcPts val="0"/>
                        </a:spcAft>
                        <a:buNone/>
                      </a:pPr>
                      <a:r>
                        <a:rPr lang="en-US" sz="1000" u="none" cap="none" strike="noStrike"/>
                        <a:t>2</a:t>
                      </a:r>
                      <a:endParaRPr/>
                    </a:p>
                  </a:txBody>
                  <a:tcPr marT="45725" marB="45725" marR="91450" marL="91450" anchor="ctr">
                    <a:solidFill>
                      <a:schemeClr val="accent1"/>
                    </a:solidFill>
                  </a:tcPr>
                </a:tc>
                <a:tc>
                  <a:txBody>
                    <a:bodyPr/>
                    <a:lstStyle/>
                    <a:p>
                      <a:pPr indent="0" lvl="0" marL="0" marR="0" rtl="0" algn="ctr">
                        <a:lnSpc>
                          <a:spcPct val="100000"/>
                        </a:lnSpc>
                        <a:spcBef>
                          <a:spcPts val="0"/>
                        </a:spcBef>
                        <a:spcAft>
                          <a:spcPts val="0"/>
                        </a:spcAft>
                        <a:buNone/>
                      </a:pPr>
                      <a:r>
                        <a:rPr lang="en-US" sz="1000" u="none" cap="none" strike="noStrike"/>
                        <a:t>4</a:t>
                      </a:r>
                      <a:endParaRPr/>
                    </a:p>
                  </a:txBody>
                  <a:tcPr marT="45725" marB="45725" marR="91450" marL="91450" anchor="ctr">
                    <a:solidFill>
                      <a:schemeClr val="accent1"/>
                    </a:solidFill>
                  </a:tcPr>
                </a:tc>
              </a:tr>
              <a:tr h="240000">
                <a:tc>
                  <a:txBody>
                    <a:bodyPr/>
                    <a:lstStyle/>
                    <a:p>
                      <a:pPr indent="0" lvl="0" marL="0" marR="0" rtl="0" algn="ctr">
                        <a:lnSpc>
                          <a:spcPct val="100000"/>
                        </a:lnSpc>
                        <a:spcBef>
                          <a:spcPts val="0"/>
                        </a:spcBef>
                        <a:spcAft>
                          <a:spcPts val="0"/>
                        </a:spcAft>
                        <a:buNone/>
                      </a:pPr>
                      <a:r>
                        <a:rPr lang="en-US" sz="1000" u="none" cap="none" strike="noStrike"/>
                        <a:t>3</a:t>
                      </a:r>
                      <a:endParaRPr/>
                    </a:p>
                  </a:txBody>
                  <a:tcPr marT="45725" marB="45725" marR="91450" marL="91450" anchor="ctr">
                    <a:solidFill>
                      <a:schemeClr val="accent1"/>
                    </a:solidFill>
                  </a:tcPr>
                </a:tc>
                <a:tc>
                  <a:txBody>
                    <a:bodyPr/>
                    <a:lstStyle/>
                    <a:p>
                      <a:pPr indent="0" lvl="0" marL="0" marR="0" rtl="0" algn="l">
                        <a:lnSpc>
                          <a:spcPct val="100000"/>
                        </a:lnSpc>
                        <a:spcBef>
                          <a:spcPts val="0"/>
                        </a:spcBef>
                        <a:spcAft>
                          <a:spcPts val="0"/>
                        </a:spcAft>
                        <a:buNone/>
                      </a:pPr>
                      <a:r>
                        <a:t/>
                      </a:r>
                      <a:endParaRPr sz="1000" u="none" cap="none" strike="noStrike"/>
                    </a:p>
                  </a:txBody>
                  <a:tcPr marT="45725" marB="45725" marR="91450" marL="91450" anchor="ctr">
                    <a:solidFill>
                      <a:schemeClr val="accent1"/>
                    </a:solidFill>
                  </a:tcPr>
                </a:tc>
                <a:tc>
                  <a:txBody>
                    <a:bodyPr/>
                    <a:lstStyle/>
                    <a:p>
                      <a:pPr indent="0" lvl="0" marL="0" marR="0" rtl="0" algn="l">
                        <a:lnSpc>
                          <a:spcPct val="100000"/>
                        </a:lnSpc>
                        <a:spcBef>
                          <a:spcPts val="0"/>
                        </a:spcBef>
                        <a:spcAft>
                          <a:spcPts val="0"/>
                        </a:spcAft>
                        <a:buNone/>
                      </a:pPr>
                      <a:r>
                        <a:t/>
                      </a:r>
                      <a:endParaRPr sz="1000" u="none" cap="none" strike="noStrike"/>
                    </a:p>
                  </a:txBody>
                  <a:tcPr marT="45725" marB="45725" marR="91450" marL="91450" anchor="ctr">
                    <a:solidFill>
                      <a:schemeClr val="accent1"/>
                    </a:solidFill>
                  </a:tcPr>
                </a:tc>
                <a:tc>
                  <a:txBody>
                    <a:bodyPr/>
                    <a:lstStyle/>
                    <a:p>
                      <a:pPr indent="0" lvl="0" marL="0" marR="0" rtl="0" algn="l">
                        <a:lnSpc>
                          <a:spcPct val="100000"/>
                        </a:lnSpc>
                        <a:spcBef>
                          <a:spcPts val="0"/>
                        </a:spcBef>
                        <a:spcAft>
                          <a:spcPts val="0"/>
                        </a:spcAft>
                        <a:buNone/>
                      </a:pPr>
                      <a:r>
                        <a:t/>
                      </a:r>
                      <a:endParaRPr sz="1000" u="none" cap="none" strike="noStrike"/>
                    </a:p>
                  </a:txBody>
                  <a:tcPr marT="45725" marB="45725" marR="91450" marL="91450" anchor="ctr">
                    <a:solidFill>
                      <a:schemeClr val="accent1"/>
                    </a:solidFill>
                  </a:tcPr>
                </a:tc>
              </a:tr>
              <a:tr h="240000">
                <a:tc>
                  <a:txBody>
                    <a:bodyPr/>
                    <a:lstStyle/>
                    <a:p>
                      <a:pPr indent="0" lvl="0" marL="0" marR="0" rtl="0" algn="ctr">
                        <a:lnSpc>
                          <a:spcPct val="100000"/>
                        </a:lnSpc>
                        <a:spcBef>
                          <a:spcPts val="0"/>
                        </a:spcBef>
                        <a:spcAft>
                          <a:spcPts val="0"/>
                        </a:spcAft>
                        <a:buNone/>
                      </a:pPr>
                      <a:r>
                        <a:rPr lang="en-US" sz="1000" u="none" cap="none" strike="noStrike"/>
                        <a:t>4</a:t>
                      </a:r>
                      <a:endParaRPr/>
                    </a:p>
                  </a:txBody>
                  <a:tcPr marT="45725" marB="45725" marR="91450" marL="91450" anchor="ctr">
                    <a:solidFill>
                      <a:schemeClr val="accent1"/>
                    </a:solidFill>
                  </a:tcPr>
                </a:tc>
                <a:tc>
                  <a:txBody>
                    <a:bodyPr/>
                    <a:lstStyle/>
                    <a:p>
                      <a:pPr indent="0" lvl="0" marL="0" marR="0" rtl="0" algn="l">
                        <a:lnSpc>
                          <a:spcPct val="100000"/>
                        </a:lnSpc>
                        <a:spcBef>
                          <a:spcPts val="0"/>
                        </a:spcBef>
                        <a:spcAft>
                          <a:spcPts val="0"/>
                        </a:spcAft>
                        <a:buNone/>
                      </a:pPr>
                      <a:r>
                        <a:t/>
                      </a:r>
                      <a:endParaRPr sz="1000" u="none" cap="none" strike="noStrike"/>
                    </a:p>
                  </a:txBody>
                  <a:tcPr marT="45725" marB="45725" marR="91450" marL="91450" anchor="ctr">
                    <a:solidFill>
                      <a:schemeClr val="accent1"/>
                    </a:solidFill>
                  </a:tcPr>
                </a:tc>
                <a:tc>
                  <a:txBody>
                    <a:bodyPr/>
                    <a:lstStyle/>
                    <a:p>
                      <a:pPr indent="0" lvl="0" marL="0" marR="0" rtl="0" algn="l">
                        <a:lnSpc>
                          <a:spcPct val="100000"/>
                        </a:lnSpc>
                        <a:spcBef>
                          <a:spcPts val="0"/>
                        </a:spcBef>
                        <a:spcAft>
                          <a:spcPts val="0"/>
                        </a:spcAft>
                        <a:buNone/>
                      </a:pPr>
                      <a:r>
                        <a:t/>
                      </a:r>
                      <a:endParaRPr sz="1000" u="none" cap="none" strike="noStrike"/>
                    </a:p>
                  </a:txBody>
                  <a:tcPr marT="45725" marB="45725" marR="91450" marL="91450" anchor="ctr">
                    <a:solidFill>
                      <a:schemeClr val="accent1"/>
                    </a:solidFill>
                  </a:tcPr>
                </a:tc>
                <a:tc>
                  <a:txBody>
                    <a:bodyPr/>
                    <a:lstStyle/>
                    <a:p>
                      <a:pPr indent="0" lvl="0" marL="0" marR="0" rtl="0" algn="l">
                        <a:lnSpc>
                          <a:spcPct val="100000"/>
                        </a:lnSpc>
                        <a:spcBef>
                          <a:spcPts val="0"/>
                        </a:spcBef>
                        <a:spcAft>
                          <a:spcPts val="0"/>
                        </a:spcAft>
                        <a:buNone/>
                      </a:pPr>
                      <a:r>
                        <a:t/>
                      </a:r>
                      <a:endParaRPr sz="1000" u="none" cap="none" strike="noStrike"/>
                    </a:p>
                  </a:txBody>
                  <a:tcPr marT="45725" marB="45725" marR="91450" marL="91450" anchor="ctr">
                    <a:solidFill>
                      <a:schemeClr val="accent1"/>
                    </a:solidFill>
                  </a:tcPr>
                </a:tc>
              </a:tr>
              <a:tr h="240000">
                <a:tc>
                  <a:txBody>
                    <a:bodyPr/>
                    <a:lstStyle/>
                    <a:p>
                      <a:pPr indent="0" lvl="0" marL="0" marR="0" rtl="0" algn="ctr">
                        <a:lnSpc>
                          <a:spcPct val="100000"/>
                        </a:lnSpc>
                        <a:spcBef>
                          <a:spcPts val="0"/>
                        </a:spcBef>
                        <a:spcAft>
                          <a:spcPts val="0"/>
                        </a:spcAft>
                        <a:buNone/>
                      </a:pPr>
                      <a:r>
                        <a:rPr lang="en-US" sz="1000" u="none" cap="none" strike="noStrike"/>
                        <a:t>5</a:t>
                      </a:r>
                      <a:endParaRPr/>
                    </a:p>
                  </a:txBody>
                  <a:tcPr marT="45725" marB="45725" marR="91450" marL="91450" anchor="ctr">
                    <a:solidFill>
                      <a:schemeClr val="accent1"/>
                    </a:solidFill>
                  </a:tcPr>
                </a:tc>
                <a:tc>
                  <a:txBody>
                    <a:bodyPr/>
                    <a:lstStyle/>
                    <a:p>
                      <a:pPr indent="0" lvl="0" marL="0" marR="0" rtl="0" algn="l">
                        <a:lnSpc>
                          <a:spcPct val="100000"/>
                        </a:lnSpc>
                        <a:spcBef>
                          <a:spcPts val="0"/>
                        </a:spcBef>
                        <a:spcAft>
                          <a:spcPts val="0"/>
                        </a:spcAft>
                        <a:buNone/>
                      </a:pPr>
                      <a:r>
                        <a:t/>
                      </a:r>
                      <a:endParaRPr sz="1000" u="none" cap="none" strike="noStrike"/>
                    </a:p>
                  </a:txBody>
                  <a:tcPr marT="45725" marB="45725" marR="91450" marL="91450" anchor="ctr">
                    <a:solidFill>
                      <a:schemeClr val="accent1"/>
                    </a:solidFill>
                  </a:tcPr>
                </a:tc>
                <a:tc>
                  <a:txBody>
                    <a:bodyPr/>
                    <a:lstStyle/>
                    <a:p>
                      <a:pPr indent="0" lvl="0" marL="0" marR="0" rtl="0" algn="l">
                        <a:lnSpc>
                          <a:spcPct val="100000"/>
                        </a:lnSpc>
                        <a:spcBef>
                          <a:spcPts val="0"/>
                        </a:spcBef>
                        <a:spcAft>
                          <a:spcPts val="0"/>
                        </a:spcAft>
                        <a:buNone/>
                      </a:pPr>
                      <a:r>
                        <a:t/>
                      </a:r>
                      <a:endParaRPr sz="1000" u="none" cap="none" strike="noStrike"/>
                    </a:p>
                  </a:txBody>
                  <a:tcPr marT="45725" marB="45725" marR="91450" marL="91450" anchor="ctr">
                    <a:solidFill>
                      <a:schemeClr val="accent1"/>
                    </a:solidFill>
                  </a:tcPr>
                </a:tc>
                <a:tc>
                  <a:txBody>
                    <a:bodyPr/>
                    <a:lstStyle/>
                    <a:p>
                      <a:pPr indent="0" lvl="0" marL="0" marR="0" rtl="0" algn="l">
                        <a:lnSpc>
                          <a:spcPct val="100000"/>
                        </a:lnSpc>
                        <a:spcBef>
                          <a:spcPts val="0"/>
                        </a:spcBef>
                        <a:spcAft>
                          <a:spcPts val="0"/>
                        </a:spcAft>
                        <a:buNone/>
                      </a:pPr>
                      <a:r>
                        <a:t/>
                      </a:r>
                      <a:endParaRPr sz="1000" u="none" cap="none" strike="noStrike"/>
                    </a:p>
                  </a:txBody>
                  <a:tcPr marT="45725" marB="45725" marR="91450" marL="91450" anchor="ctr">
                    <a:solidFill>
                      <a:schemeClr val="accent1"/>
                    </a:solidFill>
                  </a:tcPr>
                </a:tc>
              </a:tr>
              <a:tr h="240000">
                <a:tc>
                  <a:txBody>
                    <a:bodyPr/>
                    <a:lstStyle/>
                    <a:p>
                      <a:pPr indent="0" lvl="0" marL="0" marR="0" rtl="0" algn="ctr">
                        <a:lnSpc>
                          <a:spcPct val="100000"/>
                        </a:lnSpc>
                        <a:spcBef>
                          <a:spcPts val="0"/>
                        </a:spcBef>
                        <a:spcAft>
                          <a:spcPts val="0"/>
                        </a:spcAft>
                        <a:buNone/>
                      </a:pPr>
                      <a:r>
                        <a:rPr lang="en-US" sz="1000" u="none" cap="none" strike="noStrike"/>
                        <a:t>6</a:t>
                      </a:r>
                      <a:endParaRPr/>
                    </a:p>
                  </a:txBody>
                  <a:tcPr marT="45725" marB="45725" marR="91450" marL="91450" anchor="ctr">
                    <a:solidFill>
                      <a:schemeClr val="accent1"/>
                    </a:solidFill>
                  </a:tcPr>
                </a:tc>
                <a:tc>
                  <a:txBody>
                    <a:bodyPr/>
                    <a:lstStyle/>
                    <a:p>
                      <a:pPr indent="0" lvl="0" marL="0" marR="0" rtl="0" algn="l">
                        <a:lnSpc>
                          <a:spcPct val="100000"/>
                        </a:lnSpc>
                        <a:spcBef>
                          <a:spcPts val="0"/>
                        </a:spcBef>
                        <a:spcAft>
                          <a:spcPts val="0"/>
                        </a:spcAft>
                        <a:buNone/>
                      </a:pPr>
                      <a:r>
                        <a:t/>
                      </a:r>
                      <a:endParaRPr sz="1000" u="none" cap="none" strike="noStrike"/>
                    </a:p>
                  </a:txBody>
                  <a:tcPr marT="45725" marB="45725" marR="91450" marL="91450" anchor="ctr">
                    <a:solidFill>
                      <a:schemeClr val="accent1"/>
                    </a:solidFill>
                  </a:tcPr>
                </a:tc>
                <a:tc>
                  <a:txBody>
                    <a:bodyPr/>
                    <a:lstStyle/>
                    <a:p>
                      <a:pPr indent="0" lvl="0" marL="0" marR="0" rtl="0" algn="l">
                        <a:lnSpc>
                          <a:spcPct val="100000"/>
                        </a:lnSpc>
                        <a:spcBef>
                          <a:spcPts val="0"/>
                        </a:spcBef>
                        <a:spcAft>
                          <a:spcPts val="0"/>
                        </a:spcAft>
                        <a:buNone/>
                      </a:pPr>
                      <a:r>
                        <a:t/>
                      </a:r>
                      <a:endParaRPr sz="1000" u="none" cap="none" strike="noStrike"/>
                    </a:p>
                  </a:txBody>
                  <a:tcPr marT="45725" marB="45725" marR="91450" marL="91450" anchor="ctr">
                    <a:solidFill>
                      <a:schemeClr val="accent1"/>
                    </a:solidFill>
                  </a:tcPr>
                </a:tc>
                <a:tc>
                  <a:txBody>
                    <a:bodyPr/>
                    <a:lstStyle/>
                    <a:p>
                      <a:pPr indent="0" lvl="0" marL="0" marR="0" rtl="0" algn="l">
                        <a:lnSpc>
                          <a:spcPct val="100000"/>
                        </a:lnSpc>
                        <a:spcBef>
                          <a:spcPts val="0"/>
                        </a:spcBef>
                        <a:spcAft>
                          <a:spcPts val="0"/>
                        </a:spcAft>
                        <a:buNone/>
                      </a:pPr>
                      <a:r>
                        <a:t/>
                      </a:r>
                      <a:endParaRPr sz="1000" u="none" cap="none" strike="noStrike"/>
                    </a:p>
                  </a:txBody>
                  <a:tcPr marT="45725" marB="45725" marR="91450" marL="91450" anchor="ctr">
                    <a:solidFill>
                      <a:schemeClr val="accent1"/>
                    </a:solidFill>
                  </a:tcPr>
                </a:tc>
              </a:tr>
              <a:tr h="240000">
                <a:tc>
                  <a:txBody>
                    <a:bodyPr/>
                    <a:lstStyle/>
                    <a:p>
                      <a:pPr indent="0" lvl="0" marL="0" marR="0" rtl="0" algn="ctr">
                        <a:lnSpc>
                          <a:spcPct val="100000"/>
                        </a:lnSpc>
                        <a:spcBef>
                          <a:spcPts val="0"/>
                        </a:spcBef>
                        <a:spcAft>
                          <a:spcPts val="0"/>
                        </a:spcAft>
                        <a:buNone/>
                      </a:pPr>
                      <a:r>
                        <a:rPr lang="en-US" sz="1000" u="none" cap="none" strike="noStrike"/>
                        <a:t>7</a:t>
                      </a:r>
                      <a:endParaRPr/>
                    </a:p>
                  </a:txBody>
                  <a:tcPr marT="45725" marB="45725" marR="91450" marL="91450" anchor="ctr">
                    <a:solidFill>
                      <a:schemeClr val="accent1"/>
                    </a:solidFill>
                  </a:tcPr>
                </a:tc>
                <a:tc>
                  <a:txBody>
                    <a:bodyPr/>
                    <a:lstStyle/>
                    <a:p>
                      <a:pPr indent="0" lvl="0" marL="0" marR="0" rtl="0" algn="l">
                        <a:lnSpc>
                          <a:spcPct val="100000"/>
                        </a:lnSpc>
                        <a:spcBef>
                          <a:spcPts val="0"/>
                        </a:spcBef>
                        <a:spcAft>
                          <a:spcPts val="0"/>
                        </a:spcAft>
                        <a:buNone/>
                      </a:pPr>
                      <a:r>
                        <a:t/>
                      </a:r>
                      <a:endParaRPr sz="1000" u="none" cap="none" strike="noStrike"/>
                    </a:p>
                  </a:txBody>
                  <a:tcPr marT="45725" marB="45725" marR="91450" marL="91450" anchor="ctr">
                    <a:solidFill>
                      <a:schemeClr val="accent1"/>
                    </a:solidFill>
                  </a:tcPr>
                </a:tc>
                <a:tc>
                  <a:txBody>
                    <a:bodyPr/>
                    <a:lstStyle/>
                    <a:p>
                      <a:pPr indent="0" lvl="0" marL="0" marR="0" rtl="0" algn="l">
                        <a:lnSpc>
                          <a:spcPct val="100000"/>
                        </a:lnSpc>
                        <a:spcBef>
                          <a:spcPts val="0"/>
                        </a:spcBef>
                        <a:spcAft>
                          <a:spcPts val="0"/>
                        </a:spcAft>
                        <a:buNone/>
                      </a:pPr>
                      <a:r>
                        <a:t/>
                      </a:r>
                      <a:endParaRPr sz="1000" u="none" cap="none" strike="noStrike"/>
                    </a:p>
                  </a:txBody>
                  <a:tcPr marT="45725" marB="45725" marR="91450" marL="91450" anchor="ctr">
                    <a:solidFill>
                      <a:schemeClr val="accent1"/>
                    </a:solidFill>
                  </a:tcPr>
                </a:tc>
                <a:tc>
                  <a:txBody>
                    <a:bodyPr/>
                    <a:lstStyle/>
                    <a:p>
                      <a:pPr indent="0" lvl="0" marL="0" marR="0" rtl="0" algn="l">
                        <a:lnSpc>
                          <a:spcPct val="100000"/>
                        </a:lnSpc>
                        <a:spcBef>
                          <a:spcPts val="0"/>
                        </a:spcBef>
                        <a:spcAft>
                          <a:spcPts val="0"/>
                        </a:spcAft>
                        <a:buNone/>
                      </a:pPr>
                      <a:r>
                        <a:t/>
                      </a:r>
                      <a:endParaRPr sz="1000" u="none" cap="none" strike="noStrike"/>
                    </a:p>
                  </a:txBody>
                  <a:tcPr marT="45725" marB="45725" marR="91450" marL="91450" anchor="ctr">
                    <a:solidFill>
                      <a:schemeClr val="accent1"/>
                    </a:solidFill>
                  </a:tcPr>
                </a:tc>
              </a:tr>
              <a:tr h="240000">
                <a:tc>
                  <a:txBody>
                    <a:bodyPr/>
                    <a:lstStyle/>
                    <a:p>
                      <a:pPr indent="0" lvl="0" marL="0" marR="0" rtl="0" algn="ctr">
                        <a:lnSpc>
                          <a:spcPct val="100000"/>
                        </a:lnSpc>
                        <a:spcBef>
                          <a:spcPts val="0"/>
                        </a:spcBef>
                        <a:spcAft>
                          <a:spcPts val="0"/>
                        </a:spcAft>
                        <a:buNone/>
                      </a:pPr>
                      <a:r>
                        <a:rPr lang="en-US" sz="1000" u="none" cap="none" strike="noStrike"/>
                        <a:t>8</a:t>
                      </a:r>
                      <a:endParaRPr/>
                    </a:p>
                  </a:txBody>
                  <a:tcPr marT="45725" marB="45725" marR="91450" marL="91450" anchor="ctr">
                    <a:solidFill>
                      <a:schemeClr val="accent1"/>
                    </a:solidFill>
                  </a:tcPr>
                </a:tc>
                <a:tc>
                  <a:txBody>
                    <a:bodyPr/>
                    <a:lstStyle/>
                    <a:p>
                      <a:pPr indent="0" lvl="0" marL="0" marR="0" rtl="0" algn="l">
                        <a:lnSpc>
                          <a:spcPct val="100000"/>
                        </a:lnSpc>
                        <a:spcBef>
                          <a:spcPts val="0"/>
                        </a:spcBef>
                        <a:spcAft>
                          <a:spcPts val="0"/>
                        </a:spcAft>
                        <a:buNone/>
                      </a:pPr>
                      <a:r>
                        <a:t/>
                      </a:r>
                      <a:endParaRPr sz="1000" u="none" cap="none" strike="noStrike"/>
                    </a:p>
                  </a:txBody>
                  <a:tcPr marT="45725" marB="45725" marR="91450" marL="91450" anchor="ctr">
                    <a:solidFill>
                      <a:schemeClr val="accent1"/>
                    </a:solidFill>
                  </a:tcPr>
                </a:tc>
                <a:tc>
                  <a:txBody>
                    <a:bodyPr/>
                    <a:lstStyle/>
                    <a:p>
                      <a:pPr indent="0" lvl="0" marL="0" marR="0" rtl="0" algn="l">
                        <a:lnSpc>
                          <a:spcPct val="100000"/>
                        </a:lnSpc>
                        <a:spcBef>
                          <a:spcPts val="0"/>
                        </a:spcBef>
                        <a:spcAft>
                          <a:spcPts val="0"/>
                        </a:spcAft>
                        <a:buNone/>
                      </a:pPr>
                      <a:r>
                        <a:t/>
                      </a:r>
                      <a:endParaRPr sz="1000" u="none" cap="none" strike="noStrike"/>
                    </a:p>
                  </a:txBody>
                  <a:tcPr marT="45725" marB="45725" marR="91450" marL="91450" anchor="ctr">
                    <a:solidFill>
                      <a:schemeClr val="accent1"/>
                    </a:solidFill>
                  </a:tcPr>
                </a:tc>
                <a:tc>
                  <a:txBody>
                    <a:bodyPr/>
                    <a:lstStyle/>
                    <a:p>
                      <a:pPr indent="0" lvl="0" marL="0" marR="0" rtl="0" algn="l">
                        <a:lnSpc>
                          <a:spcPct val="100000"/>
                        </a:lnSpc>
                        <a:spcBef>
                          <a:spcPts val="0"/>
                        </a:spcBef>
                        <a:spcAft>
                          <a:spcPts val="0"/>
                        </a:spcAft>
                        <a:buNone/>
                      </a:pPr>
                      <a:r>
                        <a:t/>
                      </a:r>
                      <a:endParaRPr sz="1000" u="none" cap="none" strike="noStrike"/>
                    </a:p>
                  </a:txBody>
                  <a:tcPr marT="45725" marB="45725" marR="91450" marL="91450" anchor="ctr">
                    <a:solidFill>
                      <a:schemeClr val="accent1"/>
                    </a:solidFill>
                  </a:tcPr>
                </a:tc>
              </a:tr>
              <a:tr h="240000">
                <a:tc>
                  <a:txBody>
                    <a:bodyPr/>
                    <a:lstStyle/>
                    <a:p>
                      <a:pPr indent="0" lvl="0" marL="0" marR="0" rtl="0" algn="ctr">
                        <a:lnSpc>
                          <a:spcPct val="100000"/>
                        </a:lnSpc>
                        <a:spcBef>
                          <a:spcPts val="0"/>
                        </a:spcBef>
                        <a:spcAft>
                          <a:spcPts val="0"/>
                        </a:spcAft>
                        <a:buNone/>
                      </a:pPr>
                      <a:r>
                        <a:rPr lang="en-US" sz="1000" u="none" cap="none" strike="noStrike"/>
                        <a:t>9</a:t>
                      </a:r>
                      <a:endParaRPr/>
                    </a:p>
                  </a:txBody>
                  <a:tcPr marT="45725" marB="45725" marR="91450" marL="91450" anchor="ctr">
                    <a:solidFill>
                      <a:schemeClr val="accent1"/>
                    </a:solidFill>
                  </a:tcPr>
                </a:tc>
                <a:tc>
                  <a:txBody>
                    <a:bodyPr/>
                    <a:lstStyle/>
                    <a:p>
                      <a:pPr indent="0" lvl="0" marL="0" marR="0" rtl="0" algn="l">
                        <a:lnSpc>
                          <a:spcPct val="100000"/>
                        </a:lnSpc>
                        <a:spcBef>
                          <a:spcPts val="0"/>
                        </a:spcBef>
                        <a:spcAft>
                          <a:spcPts val="0"/>
                        </a:spcAft>
                        <a:buNone/>
                      </a:pPr>
                      <a:r>
                        <a:t/>
                      </a:r>
                      <a:endParaRPr sz="1000" u="none" cap="none" strike="noStrike"/>
                    </a:p>
                  </a:txBody>
                  <a:tcPr marT="45725" marB="45725" marR="91450" marL="91450" anchor="ctr">
                    <a:solidFill>
                      <a:schemeClr val="accent1"/>
                    </a:solidFill>
                  </a:tcPr>
                </a:tc>
                <a:tc>
                  <a:txBody>
                    <a:bodyPr/>
                    <a:lstStyle/>
                    <a:p>
                      <a:pPr indent="0" lvl="0" marL="0" marR="0" rtl="0" algn="l">
                        <a:lnSpc>
                          <a:spcPct val="100000"/>
                        </a:lnSpc>
                        <a:spcBef>
                          <a:spcPts val="0"/>
                        </a:spcBef>
                        <a:spcAft>
                          <a:spcPts val="0"/>
                        </a:spcAft>
                        <a:buNone/>
                      </a:pPr>
                      <a:r>
                        <a:t/>
                      </a:r>
                      <a:endParaRPr sz="1000" u="none" cap="none" strike="noStrike"/>
                    </a:p>
                  </a:txBody>
                  <a:tcPr marT="45725" marB="45725" marR="91450" marL="91450" anchor="ctr">
                    <a:solidFill>
                      <a:schemeClr val="accent1"/>
                    </a:solidFill>
                  </a:tcPr>
                </a:tc>
                <a:tc>
                  <a:txBody>
                    <a:bodyPr/>
                    <a:lstStyle/>
                    <a:p>
                      <a:pPr indent="0" lvl="0" marL="0" marR="0" rtl="0" algn="l">
                        <a:lnSpc>
                          <a:spcPct val="100000"/>
                        </a:lnSpc>
                        <a:spcBef>
                          <a:spcPts val="0"/>
                        </a:spcBef>
                        <a:spcAft>
                          <a:spcPts val="0"/>
                        </a:spcAft>
                        <a:buNone/>
                      </a:pPr>
                      <a:r>
                        <a:t/>
                      </a:r>
                      <a:endParaRPr sz="1000" u="none" cap="none" strike="noStrike"/>
                    </a:p>
                  </a:txBody>
                  <a:tcPr marT="45725" marB="45725" marR="91450" marL="91450" anchor="ctr">
                    <a:solidFill>
                      <a:schemeClr val="accent1"/>
                    </a:solidFill>
                  </a:tcPr>
                </a:tc>
              </a:tr>
              <a:tr h="240000">
                <a:tc>
                  <a:txBody>
                    <a:bodyPr/>
                    <a:lstStyle/>
                    <a:p>
                      <a:pPr indent="0" lvl="0" marL="0" marR="0" rtl="0" algn="ctr">
                        <a:lnSpc>
                          <a:spcPct val="100000"/>
                        </a:lnSpc>
                        <a:spcBef>
                          <a:spcPts val="0"/>
                        </a:spcBef>
                        <a:spcAft>
                          <a:spcPts val="0"/>
                        </a:spcAft>
                        <a:buNone/>
                      </a:pPr>
                      <a:r>
                        <a:rPr lang="en-US" sz="1000" u="none" cap="none" strike="noStrike"/>
                        <a:t>10</a:t>
                      </a:r>
                      <a:endParaRPr/>
                    </a:p>
                  </a:txBody>
                  <a:tcPr marT="45725" marB="45725" marR="91450" marL="91450" anchor="ctr">
                    <a:solidFill>
                      <a:schemeClr val="accent1"/>
                    </a:solidFill>
                  </a:tcPr>
                </a:tc>
                <a:tc>
                  <a:txBody>
                    <a:bodyPr/>
                    <a:lstStyle/>
                    <a:p>
                      <a:pPr indent="0" lvl="0" marL="0" marR="0" rtl="0" algn="l">
                        <a:lnSpc>
                          <a:spcPct val="100000"/>
                        </a:lnSpc>
                        <a:spcBef>
                          <a:spcPts val="0"/>
                        </a:spcBef>
                        <a:spcAft>
                          <a:spcPts val="0"/>
                        </a:spcAft>
                        <a:buNone/>
                      </a:pPr>
                      <a:r>
                        <a:t/>
                      </a:r>
                      <a:endParaRPr sz="1000" u="none" cap="none" strike="noStrike"/>
                    </a:p>
                  </a:txBody>
                  <a:tcPr marT="45725" marB="45725" marR="91450" marL="91450" anchor="ctr">
                    <a:solidFill>
                      <a:schemeClr val="accent1"/>
                    </a:solidFill>
                  </a:tcPr>
                </a:tc>
                <a:tc>
                  <a:txBody>
                    <a:bodyPr/>
                    <a:lstStyle/>
                    <a:p>
                      <a:pPr indent="0" lvl="0" marL="0" marR="0" rtl="0" algn="l">
                        <a:lnSpc>
                          <a:spcPct val="100000"/>
                        </a:lnSpc>
                        <a:spcBef>
                          <a:spcPts val="0"/>
                        </a:spcBef>
                        <a:spcAft>
                          <a:spcPts val="0"/>
                        </a:spcAft>
                        <a:buNone/>
                      </a:pPr>
                      <a:r>
                        <a:t/>
                      </a:r>
                      <a:endParaRPr sz="1000" u="none" cap="none" strike="noStrike"/>
                    </a:p>
                  </a:txBody>
                  <a:tcPr marT="45725" marB="45725" marR="91450" marL="91450" anchor="ctr">
                    <a:solidFill>
                      <a:schemeClr val="accent1"/>
                    </a:solidFill>
                  </a:tcPr>
                </a:tc>
                <a:tc>
                  <a:txBody>
                    <a:bodyPr/>
                    <a:lstStyle/>
                    <a:p>
                      <a:pPr indent="0" lvl="0" marL="0" marR="0" rtl="0" algn="l">
                        <a:lnSpc>
                          <a:spcPct val="100000"/>
                        </a:lnSpc>
                        <a:spcBef>
                          <a:spcPts val="0"/>
                        </a:spcBef>
                        <a:spcAft>
                          <a:spcPts val="0"/>
                        </a:spcAft>
                        <a:buNone/>
                      </a:pPr>
                      <a:r>
                        <a:t/>
                      </a:r>
                      <a:endParaRPr sz="1000" u="none" cap="none" strike="noStrike"/>
                    </a:p>
                  </a:txBody>
                  <a:tcPr marT="45725" marB="45725" marR="91450" marL="91450" anchor="ctr">
                    <a:solidFill>
                      <a:schemeClr val="accent1"/>
                    </a:solidFill>
                  </a:tcPr>
                </a:tc>
              </a:tr>
              <a:tr h="240000">
                <a:tc>
                  <a:txBody>
                    <a:bodyPr/>
                    <a:lstStyle/>
                    <a:p>
                      <a:pPr indent="0" lvl="0" marL="0" marR="0" rtl="0" algn="ctr">
                        <a:lnSpc>
                          <a:spcPct val="100000"/>
                        </a:lnSpc>
                        <a:spcBef>
                          <a:spcPts val="0"/>
                        </a:spcBef>
                        <a:spcAft>
                          <a:spcPts val="0"/>
                        </a:spcAft>
                        <a:buNone/>
                      </a:pPr>
                      <a:r>
                        <a:rPr lang="en-US" sz="1000" u="none" cap="none" strike="noStrike"/>
                        <a:t>11</a:t>
                      </a:r>
                      <a:endParaRPr/>
                    </a:p>
                  </a:txBody>
                  <a:tcPr marT="45725" marB="45725" marR="91450" marL="91450" anchor="ctr">
                    <a:solidFill>
                      <a:schemeClr val="accent1"/>
                    </a:solidFill>
                  </a:tcPr>
                </a:tc>
                <a:tc>
                  <a:txBody>
                    <a:bodyPr/>
                    <a:lstStyle/>
                    <a:p>
                      <a:pPr indent="0" lvl="0" marL="0" marR="0" rtl="0" algn="l">
                        <a:lnSpc>
                          <a:spcPct val="100000"/>
                        </a:lnSpc>
                        <a:spcBef>
                          <a:spcPts val="0"/>
                        </a:spcBef>
                        <a:spcAft>
                          <a:spcPts val="0"/>
                        </a:spcAft>
                        <a:buNone/>
                      </a:pPr>
                      <a:r>
                        <a:t/>
                      </a:r>
                      <a:endParaRPr sz="1000" u="none" cap="none" strike="noStrike"/>
                    </a:p>
                  </a:txBody>
                  <a:tcPr marT="45725" marB="45725" marR="91450" marL="91450" anchor="ctr">
                    <a:solidFill>
                      <a:schemeClr val="accent1"/>
                    </a:solidFill>
                  </a:tcPr>
                </a:tc>
                <a:tc>
                  <a:txBody>
                    <a:bodyPr/>
                    <a:lstStyle/>
                    <a:p>
                      <a:pPr indent="0" lvl="0" marL="0" marR="0" rtl="0" algn="l">
                        <a:lnSpc>
                          <a:spcPct val="100000"/>
                        </a:lnSpc>
                        <a:spcBef>
                          <a:spcPts val="0"/>
                        </a:spcBef>
                        <a:spcAft>
                          <a:spcPts val="0"/>
                        </a:spcAft>
                        <a:buNone/>
                      </a:pPr>
                      <a:r>
                        <a:t/>
                      </a:r>
                      <a:endParaRPr sz="1000" u="none" cap="none" strike="noStrike"/>
                    </a:p>
                  </a:txBody>
                  <a:tcPr marT="45725" marB="45725" marR="91450" marL="91450" anchor="ctr">
                    <a:solidFill>
                      <a:schemeClr val="accent1"/>
                    </a:solidFill>
                  </a:tcPr>
                </a:tc>
                <a:tc>
                  <a:txBody>
                    <a:bodyPr/>
                    <a:lstStyle/>
                    <a:p>
                      <a:pPr indent="0" lvl="0" marL="0" marR="0" rtl="0" algn="l">
                        <a:lnSpc>
                          <a:spcPct val="100000"/>
                        </a:lnSpc>
                        <a:spcBef>
                          <a:spcPts val="0"/>
                        </a:spcBef>
                        <a:spcAft>
                          <a:spcPts val="0"/>
                        </a:spcAft>
                        <a:buNone/>
                      </a:pPr>
                      <a:r>
                        <a:t/>
                      </a:r>
                      <a:endParaRPr sz="1000" u="none" cap="none" strike="noStrike"/>
                    </a:p>
                  </a:txBody>
                  <a:tcPr marT="45725" marB="45725" marR="91450" marL="91450" anchor="ctr">
                    <a:solidFill>
                      <a:schemeClr val="accent1"/>
                    </a:solidFill>
                  </a:tcPr>
                </a:tc>
              </a:tr>
              <a:tr h="240000">
                <a:tc>
                  <a:txBody>
                    <a:bodyPr/>
                    <a:lstStyle/>
                    <a:p>
                      <a:pPr indent="0" lvl="0" marL="0" marR="0" rtl="0" algn="ctr">
                        <a:lnSpc>
                          <a:spcPct val="100000"/>
                        </a:lnSpc>
                        <a:spcBef>
                          <a:spcPts val="0"/>
                        </a:spcBef>
                        <a:spcAft>
                          <a:spcPts val="0"/>
                        </a:spcAft>
                        <a:buNone/>
                      </a:pPr>
                      <a:r>
                        <a:rPr lang="en-US" sz="1000" u="none" cap="none" strike="noStrike"/>
                        <a:t>12</a:t>
                      </a:r>
                      <a:endParaRPr/>
                    </a:p>
                  </a:txBody>
                  <a:tcPr marT="45725" marB="45725" marR="91450" marL="91450" anchor="ctr">
                    <a:solidFill>
                      <a:schemeClr val="accent1"/>
                    </a:solidFill>
                  </a:tcPr>
                </a:tc>
                <a:tc>
                  <a:txBody>
                    <a:bodyPr/>
                    <a:lstStyle/>
                    <a:p>
                      <a:pPr indent="0" lvl="0" marL="0" marR="0" rtl="0" algn="l">
                        <a:lnSpc>
                          <a:spcPct val="100000"/>
                        </a:lnSpc>
                        <a:spcBef>
                          <a:spcPts val="0"/>
                        </a:spcBef>
                        <a:spcAft>
                          <a:spcPts val="0"/>
                        </a:spcAft>
                        <a:buNone/>
                      </a:pPr>
                      <a:r>
                        <a:t/>
                      </a:r>
                      <a:endParaRPr sz="1000" u="none" cap="none" strike="noStrike"/>
                    </a:p>
                  </a:txBody>
                  <a:tcPr marT="45725" marB="45725" marR="91450" marL="91450" anchor="ctr">
                    <a:solidFill>
                      <a:schemeClr val="accent1"/>
                    </a:solidFill>
                  </a:tcPr>
                </a:tc>
                <a:tc>
                  <a:txBody>
                    <a:bodyPr/>
                    <a:lstStyle/>
                    <a:p>
                      <a:pPr indent="0" lvl="0" marL="0" marR="0" rtl="0" algn="l">
                        <a:lnSpc>
                          <a:spcPct val="100000"/>
                        </a:lnSpc>
                        <a:spcBef>
                          <a:spcPts val="0"/>
                        </a:spcBef>
                        <a:spcAft>
                          <a:spcPts val="0"/>
                        </a:spcAft>
                        <a:buNone/>
                      </a:pPr>
                      <a:r>
                        <a:t/>
                      </a:r>
                      <a:endParaRPr sz="1000" u="none" cap="none" strike="noStrike"/>
                    </a:p>
                  </a:txBody>
                  <a:tcPr marT="45725" marB="45725" marR="91450" marL="91450" anchor="ctr">
                    <a:solidFill>
                      <a:schemeClr val="accent1"/>
                    </a:solidFill>
                  </a:tcPr>
                </a:tc>
                <a:tc>
                  <a:txBody>
                    <a:bodyPr/>
                    <a:lstStyle/>
                    <a:p>
                      <a:pPr indent="0" lvl="0" marL="0" marR="0" rtl="0" algn="l">
                        <a:lnSpc>
                          <a:spcPct val="100000"/>
                        </a:lnSpc>
                        <a:spcBef>
                          <a:spcPts val="0"/>
                        </a:spcBef>
                        <a:spcAft>
                          <a:spcPts val="0"/>
                        </a:spcAft>
                        <a:buNone/>
                      </a:pPr>
                      <a:r>
                        <a:t/>
                      </a:r>
                      <a:endParaRPr sz="1000" u="none" cap="none" strike="noStrike"/>
                    </a:p>
                  </a:txBody>
                  <a:tcPr marT="45725" marB="45725" marR="91450" marL="91450" anchor="ctr">
                    <a:solidFill>
                      <a:schemeClr val="accent1"/>
                    </a:solidFill>
                  </a:tcPr>
                </a:tc>
              </a:tr>
            </a:tbl>
          </a:graphicData>
        </a:graphic>
      </p:graphicFrame>
      <p:sp>
        <p:nvSpPr>
          <p:cNvPr id="387" name="Google Shape;387;p56"/>
          <p:cNvSpPr txBox="1"/>
          <p:nvPr/>
        </p:nvSpPr>
        <p:spPr>
          <a:xfrm>
            <a:off x="530465" y="1476117"/>
            <a:ext cx="6525243" cy="5016758"/>
          </a:xfrm>
          <a:prstGeom prst="rect">
            <a:avLst/>
          </a:prstGeom>
          <a:noFill/>
          <a:ln>
            <a:noFill/>
          </a:ln>
        </p:spPr>
        <p:txBody>
          <a:bodyPr anchorCtr="0" anchor="t" bIns="45700" lIns="91425" spcFirstLastPara="1" rIns="91425" wrap="square" tIns="45700">
            <a:spAutoFit/>
          </a:bodyPr>
          <a:lstStyle/>
          <a:p>
            <a:pPr indent="0" lvl="0" marL="11430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alibri"/>
                <a:ea typeface="Calibri"/>
                <a:cs typeface="Calibri"/>
                <a:sym typeface="Calibri"/>
              </a:rPr>
              <a:t>Sebuah toko memiliki 4 loket kasir (1-4). Tiap loket bisa menampung antrean maksimal 4 pelanggan (termasuk yang sedang dilayani), dan tiap pelanggan butuh waktu 2 menit untuk dilayani. Saat ingin membayar, pelanggan mengantre di loket pertama yang belum penuh (dicoba mulai loket 1, lalu 2, dst). Jika semua loket yang sudah buka sudah penuh, dibuka loket baru — tetapi loket baru butuh 1 menit untuk disiapkan, sehingga pelanggan PERTAMA di loket itu dilayani dalam 3 menit (pelanggan berikutnya di loket itu tetap 2 menit seperti biasa). Jika ada pelanggan yang selesai dilayani pada saat yang sama dengan pelanggan baru datang, anggap yang selesai keluar lebih dulu sehingga ada tempat kosong untuk yang baru.</a:t>
            </a:r>
            <a:endParaRPr/>
          </a:p>
          <a:p>
            <a:pPr indent="0" lvl="0" marL="11430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alibri"/>
                <a:ea typeface="Calibri"/>
                <a:cs typeface="Calibri"/>
                <a:sym typeface="Calibri"/>
              </a:rPr>
              <a:t>Tepat saat toko buka, semua antrean kosong dan hanya loket 1 yang buka. 12 pelanggan datang, dua orang setiap menit (2 orang di menit ke-0, 2 lagi di menit ke-1, dst, sampai menit ke-5). Berapa lama waktu yang dibutuhkan untuk melayani SEMUA pelanggan tersebut?</a:t>
            </a:r>
            <a:endParaRPr/>
          </a:p>
          <a:p>
            <a:pPr indent="0" lvl="0" marL="11430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alibri"/>
              <a:ea typeface="Calibri"/>
              <a:cs typeface="Calibri"/>
              <a:sym typeface="Calibri"/>
            </a:endParaRPr>
          </a:p>
          <a:p>
            <a:pPr indent="-342900" lvl="0" marL="457200" marR="0" rtl="0" algn="l">
              <a:lnSpc>
                <a:spcPct val="100000"/>
              </a:lnSpc>
              <a:spcBef>
                <a:spcPts val="0"/>
              </a:spcBef>
              <a:spcAft>
                <a:spcPts val="0"/>
              </a:spcAft>
              <a:buClr>
                <a:srgbClr val="000000"/>
              </a:buClr>
              <a:buSzPts val="1600"/>
              <a:buFont typeface="Arial"/>
              <a:buAutoNum type="alphaLcParenBoth"/>
            </a:pPr>
            <a:r>
              <a:rPr b="0" i="0" lang="en-US" sz="1600" u="none" cap="none" strike="noStrike">
                <a:solidFill>
                  <a:srgbClr val="000000"/>
                </a:solidFill>
                <a:latin typeface="Calibri"/>
                <a:ea typeface="Calibri"/>
                <a:cs typeface="Calibri"/>
                <a:sym typeface="Calibri"/>
              </a:rPr>
              <a:t>12 menit   (b) 11 menit   (c) 13 menit   (d) 8 menit</a:t>
            </a:r>
            <a:endParaRPr b="0" i="0" sz="1600" u="none" cap="none" strike="noStrike">
              <a:solidFill>
                <a:srgbClr val="000000"/>
              </a:solidFill>
              <a:latin typeface="Calibri"/>
              <a:ea typeface="Calibri"/>
              <a:cs typeface="Calibri"/>
              <a:sym typeface="Calibri"/>
            </a:endParaRPr>
          </a:p>
          <a:p>
            <a:pPr indent="0" lvl="0" marL="114300" marR="0" rtl="0" algn="l">
              <a:lnSpc>
                <a:spcPct val="100000"/>
              </a:lnSpc>
              <a:spcBef>
                <a:spcPts val="0"/>
              </a:spcBef>
              <a:spcAft>
                <a:spcPts val="0"/>
              </a:spcAft>
              <a:buNone/>
            </a:pPr>
            <a:r>
              <a:t/>
            </a:r>
            <a:endParaRPr b="0" i="0" sz="1600" u="none" cap="none" strike="noStrike">
              <a:solidFill>
                <a:srgbClr val="000000"/>
              </a:solidFill>
              <a:latin typeface="Calibri"/>
              <a:ea typeface="Calibri"/>
              <a:cs typeface="Calibri"/>
              <a:sym typeface="Calibri"/>
            </a:endParaRPr>
          </a:p>
          <a:p>
            <a:pPr indent="0" lvl="0" marL="11430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alibri"/>
                <a:ea typeface="Calibri"/>
                <a:cs typeface="Calibri"/>
                <a:sym typeface="Calibri"/>
              </a:rPr>
              <a:t>Tabel di samping sudah diisi contoh Pelanggan 1–2 (di Loket 1). Lengkapi sisanya untuk Pelanggan 3–12!</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2020-08-25T07:51:21Z</dcterms:created>
  <dc:creator>vivin</dc:creator>
</cp:coreProperties>
</file>