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40" r:id="rId4"/>
    <p:sldId id="258" r:id="rId5"/>
    <p:sldId id="341" r:id="rId6"/>
    <p:sldId id="259" r:id="rId7"/>
    <p:sldId id="260" r:id="rId8"/>
    <p:sldId id="262" r:id="rId9"/>
    <p:sldId id="313" r:id="rId10"/>
    <p:sldId id="342" r:id="rId11"/>
    <p:sldId id="265" r:id="rId12"/>
    <p:sldId id="343" r:id="rId13"/>
    <p:sldId id="344" r:id="rId14"/>
    <p:sldId id="345" r:id="rId15"/>
    <p:sldId id="269" r:id="rId16"/>
    <p:sldId id="339" r:id="rId17"/>
    <p:sldId id="346" r:id="rId18"/>
    <p:sldId id="347" r:id="rId19"/>
    <p:sldId id="271" r:id="rId20"/>
    <p:sldId id="273" r:id="rId21"/>
    <p:sldId id="274" r:id="rId22"/>
    <p:sldId id="356" r:id="rId23"/>
    <p:sldId id="276" r:id="rId24"/>
    <p:sldId id="355" r:id="rId25"/>
    <p:sldId id="278" r:id="rId26"/>
    <p:sldId id="279" r:id="rId27"/>
    <p:sldId id="351" r:id="rId28"/>
    <p:sldId id="287" r:id="rId29"/>
    <p:sldId id="358" r:id="rId30"/>
    <p:sldId id="359" r:id="rId31"/>
    <p:sldId id="360" r:id="rId32"/>
    <p:sldId id="361" r:id="rId33"/>
    <p:sldId id="365" r:id="rId34"/>
  </p:sldIdLst>
  <p:sldSz cx="12192000" cy="6858000"/>
  <p:notesSz cx="6858000" cy="9144000"/>
  <p:embeddedFontLst>
    <p:embeddedFont>
      <p:font typeface="Comic Sans MS" panose="030F0702030302020204" pitchFamily="66" charset="0"/>
      <p:regular r:id="rId36"/>
      <p:bold r:id="rId37"/>
      <p:italic r:id="rId38"/>
      <p:bold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Overlock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iB0u2EfBisiYYQNkyLK1MuOGqt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62C83-1949-4C94-8DB6-B7BE122E94C0}" v="4" dt="2026-09-20T23:45:4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86835" autoAdjust="0"/>
  </p:normalViewPr>
  <p:slideViewPr>
    <p:cSldViewPr snapToGrid="0">
      <p:cViewPr varScale="1">
        <p:scale>
          <a:sx n="65" d="100"/>
          <a:sy n="65" d="100"/>
        </p:scale>
        <p:origin x="834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87" Type="http://schemas.microsoft.com/office/2016/11/relationships/changesInfo" Target="changesInfos/changesInfo1.xml"/><Relationship Id="rId5" Type="http://schemas.openxmlformats.org/officeDocument/2006/relationships/slide" Target="slides/slide4.xml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 Nur Wijayaningrum" userId="0b83a86bb7892b73" providerId="LiveId" clId="{D92C51FD-37D5-437C-B161-FE5EC77CB0A3}"/>
    <pc:docChg chg="undo redo custSel addSld delSld modSld sldOrd">
      <pc:chgData name="Vivi Nur Wijayaningrum" userId="0b83a86bb7892b73" providerId="LiveId" clId="{D92C51FD-37D5-437C-B161-FE5EC77CB0A3}" dt="2026-09-20T23:48:44.832" v="6942" actId="27636"/>
      <pc:docMkLst>
        <pc:docMk/>
      </pc:docMkLst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56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6"/>
            <ac:spMk id="84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6"/>
            <ac:spMk id="85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57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7"/>
            <ac:spMk id="90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7"/>
            <ac:spMk id="91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58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8"/>
            <ac:spMk id="2" creationId="{340A21D0-352E-B676-D3E0-41BDA634D8AE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8"/>
            <ac:spMk id="3" creationId="{73CAA62D-6E7C-9213-B8B6-E0FD97BFCE7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8"/>
            <ac:spMk id="16" creationId="{BC50A0DF-F1DC-E0DB-F6B5-C964C88CE6A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8"/>
            <ac:spMk id="17" creationId="{F2B906A1-DA7B-C02F-CBF3-C01AA4A027D9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8"/>
            <ac:spMk id="96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8"/>
            <ac:spMk id="97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8:44.832" v="6942" actId="27636"/>
        <pc:sldMkLst>
          <pc:docMk/>
          <pc:sldMk cId="0" sldId="259"/>
        </pc:sldMkLst>
        <pc:spChg chg="mod">
          <ac:chgData name="Vivi Nur Wijayaningrum" userId="0b83a86bb7892b73" providerId="LiveId" clId="{D92C51FD-37D5-437C-B161-FE5EC77CB0A3}" dt="2026-09-20T23:48:44.832" v="6942" actId="27636"/>
          <ac:spMkLst>
            <pc:docMk/>
            <pc:sldMk cId="0" sldId="259"/>
            <ac:spMk id="2" creationId="{5EA64D80-33E8-7DC2-65C4-593377B4621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59"/>
            <ac:spMk id="106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60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0"/>
            <ac:spMk id="112" creationId="{00000000-0000-0000-0000-000000000000}"/>
          </ac:spMkLst>
        </pc:spChg>
      </pc:sldChg>
      <pc:sldChg chg="del">
        <pc:chgData name="Vivi Nur Wijayaningrum" userId="0b83a86bb7892b73" providerId="LiveId" clId="{D92C51FD-37D5-437C-B161-FE5EC77CB0A3}" dt="2026-09-20T23:33:19.500" v="6108" actId="47"/>
        <pc:sldMkLst>
          <pc:docMk/>
          <pc:sldMk cId="2182079693" sldId="261"/>
        </pc:sldMkLst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62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2"/>
            <ac:spMk id="2" creationId="{10B8B372-1150-5699-42CF-C7B902E9745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2"/>
            <ac:spMk id="134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2"/>
            <ac:spMk id="135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2"/>
            <ac:spMk id="137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65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5"/>
            <ac:spMk id="155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69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69"/>
            <ac:spMk id="180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71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1"/>
            <ac:spMk id="6" creationId="{9481F1A6-626E-8814-115D-A56CE8F89309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1"/>
            <ac:spMk id="193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73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3"/>
            <ac:spMk id="207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74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4"/>
            <ac:spMk id="2" creationId="{58CBF197-7B52-7BC1-1240-4AF6B85886B4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4"/>
            <ac:spMk id="3" creationId="{5FE828B6-FFEC-18AB-5653-4DF4955A6EBB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4"/>
            <ac:spMk id="212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4"/>
            <ac:spMk id="213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76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6"/>
            <ac:spMk id="8" creationId="{7F3ABD3E-E288-8F51-3465-864183F062E6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6"/>
            <ac:spMk id="9" creationId="{75FA2961-86EA-5093-26E2-34D4768F3D05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6"/>
            <ac:spMk id="10" creationId="{ACAE3295-A206-7EC9-CF8C-6E74767CC318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78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8"/>
            <ac:spMk id="238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79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9"/>
            <ac:spMk id="243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9"/>
            <ac:spMk id="244" creationId="{00000000-0000-0000-0000-00000000000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79"/>
            <ac:spMk id="245" creationId="{00000000-0000-0000-0000-000000000000}"/>
          </ac:spMkLst>
        </pc:spChg>
      </pc:sldChg>
      <pc:sldChg chg="del">
        <pc:chgData name="Vivi Nur Wijayaningrum" userId="0b83a86bb7892b73" providerId="LiveId" clId="{D92C51FD-37D5-437C-B161-FE5EC77CB0A3}" dt="2026-09-20T23:33:42.935" v="6110" actId="47"/>
        <pc:sldMkLst>
          <pc:docMk/>
          <pc:sldMk cId="0" sldId="281"/>
        </pc:sldMkLst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0" sldId="287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0" sldId="287"/>
            <ac:spMk id="301" creationId="{00000000-0000-0000-0000-00000000000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2523365368" sldId="313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5" creationId="{088EE9FA-DEB7-F8C3-FE9C-2A0055B7846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26" creationId="{054AA807-5DF2-48E5-9DD1-16BD08DC39B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27" creationId="{DAE61CE2-6BB8-49A2-BFA2-CB5B6CA962B1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29" creationId="{946C8D2F-EE9A-43F4-A4A7-7481BD6D9FB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30" creationId="{A7EB924D-D1D6-47EF-834F-F86386C644E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31" creationId="{A5BA5F3F-A86C-4C13-801D-E7D4A495559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32" creationId="{CCBA2CD8-2E6E-4C5B-9BCA-2EB1F4321ABF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38" creationId="{A70C8DC5-2BF2-49D5-98BD-88D8623B558B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39" creationId="{4B8EAEC5-945F-47DE-BC87-AB240E0BF666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23365368" sldId="313"/>
            <ac:spMk id="40" creationId="{7100F099-54BE-4649-9544-F2D3B1660FA1}"/>
          </ac:spMkLst>
        </pc:spChg>
      </pc:sldChg>
      <pc:sldChg chg="del">
        <pc:chgData name="Vivi Nur Wijayaningrum" userId="0b83a86bb7892b73" providerId="LiveId" clId="{D92C51FD-37D5-437C-B161-FE5EC77CB0A3}" dt="2026-09-20T23:33:16.682" v="6105" actId="47"/>
        <pc:sldMkLst>
          <pc:docMk/>
          <pc:sldMk cId="2133516371" sldId="333"/>
        </pc:sldMkLst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1303374158" sldId="339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303374158" sldId="339"/>
            <ac:spMk id="2" creationId="{0C9E40B4-7BA4-2580-222A-7400B2F50AC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303374158" sldId="339"/>
            <ac:spMk id="3" creationId="{0A802819-CE2C-2665-C618-41FDBCA7D27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303374158" sldId="339"/>
            <ac:spMk id="4" creationId="{29C05F30-9072-3AE6-3689-429C706E837B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303374158" sldId="339"/>
            <ac:spMk id="96" creationId="{580009CE-FEAA-3AD9-784F-F2E20C912D85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2588490894" sldId="340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3" creationId="{382DEE04-C15D-EF1B-90F2-B65DA0685909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12" creationId="{7DC597AF-F016-6C7C-39B5-BC074F5D34E6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13" creationId="{AD120316-AA60-8DE0-A5CF-C240D7AEC4F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20" creationId="{D3F1B6B8-1FAC-3CA6-535E-32DBDECF7805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21" creationId="{1455C270-F777-F1DB-5DD0-93C9A6E6D02F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22" creationId="{50F24CFE-AD6F-DC64-0C8E-28DA376C61D9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588490894" sldId="340"/>
            <ac:spMk id="96" creationId="{69D8393B-76DB-D89E-20C6-6A1D3190E4A5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2654093046" sldId="341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17" creationId="{4CEDE3E5-0225-1BA2-C3B6-D880AC5BD65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23" creationId="{F2A7C6FD-5A9F-34B8-AE24-277C23508E8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25" creationId="{6A2E385C-BC41-EAC8-E93B-E9772A8E0959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26" creationId="{C90700C4-94D7-D454-901A-1143C1CC2E47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28" creationId="{38C32002-7813-1CF7-224E-CBD0E008D52A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29" creationId="{70DCC12E-9CF0-F476-FB19-7776A9A3718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34" creationId="{CE596BB6-70EA-E118-0DF4-6A7033ED05E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35" creationId="{34930383-6B12-1FDE-F413-966639D75F5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37" creationId="{BCB17E40-E3C9-B198-6172-E0571B20BEC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654093046" sldId="341"/>
            <ac:spMk id="96" creationId="{87C360B0-9489-AAD4-21EB-0129BA3EC933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504843510" sldId="342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04843510" sldId="342"/>
            <ac:spMk id="3" creationId="{49BB9145-F81E-0A5B-AEDF-17F9175C5A5E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04843510" sldId="342"/>
            <ac:spMk id="5" creationId="{99363C34-AC05-4A65-9BB6-E8F27A91A034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1981664800" sldId="343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981664800" sldId="343"/>
            <ac:spMk id="2" creationId="{E6F5C7D7-963F-3F5F-4235-7ECBE79D47B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981664800" sldId="343"/>
            <ac:spMk id="134" creationId="{900567E1-D940-B2F7-88F6-F6451CF4CF17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981664800" sldId="343"/>
            <ac:spMk id="135" creationId="{CDFDE1C6-A2CF-4CF8-1906-2A2A529A708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981664800" sldId="343"/>
            <ac:spMk id="137" creationId="{19FD3DEB-FC04-3B7A-BD60-CF15868A2AF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616861154" sldId="344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5" creationId="{E8F834FF-8E84-32EF-4B10-BDA36C0053C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26" creationId="{8797CE81-895D-B8EE-0273-4B0D36ED03A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27" creationId="{9D6098EE-63AE-D156-8192-8829F8CB258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29" creationId="{0E2F7AA7-9772-97D2-EBAA-692DDF3A156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30" creationId="{253CBCA8-188E-D9E3-1675-DEFB7BBACAE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32" creationId="{D2FB9CA7-FE9D-27CB-6530-E6E2102ADB3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35" creationId="{261DDBB3-F1D8-CECE-C176-C120210C3F14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36" creationId="{EB2A7B89-DBF5-8E0C-225F-DBDFB50A1A3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39" creationId="{014A3DA0-5D5D-54CA-808E-1FDC23670EE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616861154" sldId="344"/>
            <ac:spMk id="41" creationId="{5DAC1851-35B7-915B-8FD0-89CBE022E327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286825654" sldId="345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86825654" sldId="345"/>
            <ac:spMk id="3" creationId="{09422CC2-43C4-1BD2-EB1D-25893ECBCFD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286825654" sldId="345"/>
            <ac:spMk id="5" creationId="{D5A0F215-DBBA-F3D9-03EA-3CB35277EDD6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158204713" sldId="346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58204713" sldId="346"/>
            <ac:spMk id="2" creationId="{241207D0-D650-B76D-F211-F3BA2C8F5234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58204713" sldId="346"/>
            <ac:spMk id="134" creationId="{870E39B8-3803-33CD-5D6D-6BF16AEB3AA8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58204713" sldId="346"/>
            <ac:spMk id="135" creationId="{07B0325E-0D7D-399E-42EB-D5410ED42F0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58204713" sldId="346"/>
            <ac:spMk id="137" creationId="{A82DE120-6A03-3A94-AB08-A5BC61D4F31D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948129015" sldId="347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5" creationId="{3AD42A10-969B-A2BE-2D75-D3F18E5344AF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26" creationId="{C5C4BD53-758F-D5D2-CFF7-9FEA8E0C04CB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27" creationId="{5583BDD4-5953-0456-178C-91A44EA8A0A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29" creationId="{83F7850D-A183-C880-1C2D-D8795ED25C7E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30" creationId="{550466AD-97B1-BA85-F745-CE137A03180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31" creationId="{27FD5940-B9EF-DA14-72B6-C12518747C4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948129015" sldId="347"/>
            <ac:spMk id="32" creationId="{B2E86FA8-CF40-7371-1E50-CFCA9B8B29AC}"/>
          </ac:spMkLst>
        </pc:spChg>
      </pc:sldChg>
      <pc:sldChg chg="del">
        <pc:chgData name="Vivi Nur Wijayaningrum" userId="0b83a86bb7892b73" providerId="LiveId" clId="{D92C51FD-37D5-437C-B161-FE5EC77CB0A3}" dt="2026-09-20T23:33:15.533" v="6104" actId="47"/>
        <pc:sldMkLst>
          <pc:docMk/>
          <pc:sldMk cId="2304553212" sldId="348"/>
        </pc:sldMkLst>
      </pc:sldChg>
      <pc:sldChg chg="del">
        <pc:chgData name="Vivi Nur Wijayaningrum" userId="0b83a86bb7892b73" providerId="LiveId" clId="{D92C51FD-37D5-437C-B161-FE5EC77CB0A3}" dt="2026-09-20T23:33:17.501" v="6106" actId="47"/>
        <pc:sldMkLst>
          <pc:docMk/>
          <pc:sldMk cId="4244485745" sldId="349"/>
        </pc:sldMkLst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1094238589" sldId="351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5" creationId="{8E8E749A-A86B-B852-A060-08C1B580C031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8" creationId="{41C57CBB-ECBE-C2CF-7A47-0F456F8D23CF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9" creationId="{A2804224-EB81-A456-EE18-93941245F3C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10" creationId="{5051A00C-12A4-99EC-B912-D7C4D500811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11" creationId="{0E9422DF-8657-0004-0E2B-74933F5CD4DE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16" creationId="{0DD51BB1-6798-8D21-FAA7-58B74186B41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17" creationId="{C2F543F1-CD0B-12CA-4DE7-F43D3EF63C3C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19" creationId="{7107D777-9A7A-6705-89D1-019D442DEC09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20" creationId="{25B42ED3-8E84-6223-2DAA-443430F10CB7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094238589" sldId="351"/>
            <ac:spMk id="22" creationId="{8ED1BAA9-51B7-B6C2-A063-B1FED7EF62EA}"/>
          </ac:spMkLst>
        </pc:spChg>
      </pc:sldChg>
      <pc:sldChg chg="del">
        <pc:chgData name="Vivi Nur Wijayaningrum" userId="0b83a86bb7892b73" providerId="LiveId" clId="{D92C51FD-37D5-437C-B161-FE5EC77CB0A3}" dt="2026-09-20T23:33:43.464" v="6111" actId="47"/>
        <pc:sldMkLst>
          <pc:docMk/>
          <pc:sldMk cId="3404351829" sldId="352"/>
        </pc:sldMkLst>
      </pc:sldChg>
      <pc:sldChg chg="del">
        <pc:chgData name="Vivi Nur Wijayaningrum" userId="0b83a86bb7892b73" providerId="LiveId" clId="{D92C51FD-37D5-437C-B161-FE5EC77CB0A3}" dt="2026-09-20T23:33:44.124" v="6112" actId="47"/>
        <pc:sldMkLst>
          <pc:docMk/>
          <pc:sldMk cId="2475494253" sldId="353"/>
        </pc:sldMkLst>
      </pc:sldChg>
      <pc:sldChg chg="del">
        <pc:chgData name="Vivi Nur Wijayaningrum" userId="0b83a86bb7892b73" providerId="LiveId" clId="{D92C51FD-37D5-437C-B161-FE5EC77CB0A3}" dt="2026-09-20T23:33:18.479" v="6107" actId="47"/>
        <pc:sldMkLst>
          <pc:docMk/>
          <pc:sldMk cId="1334798222" sldId="354"/>
        </pc:sldMkLst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594586572" sldId="355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94586572" sldId="355"/>
            <ac:spMk id="243" creationId="{C3A6BE39-3A84-6899-A992-8C4456DD76E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94586572" sldId="355"/>
            <ac:spMk id="244" creationId="{568C6939-D31D-4C84-7089-9D8E013C4EC6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660498534" sldId="356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5" creationId="{9106A1C8-36FB-F242-4782-498C9806D9AE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26" creationId="{1DB17755-5DD9-25EF-93E9-6EEF36CBE7A2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27" creationId="{3979E888-5195-3E73-B1A2-2A6FA213D87B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29" creationId="{CBBB119C-7D67-A20B-3727-979625FBE10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30" creationId="{49715E1C-84BC-B3B4-CFD0-3CD2E6A8FC0B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31" creationId="{7C1BCCBA-3629-9586-20BF-7C311FF91C50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660498534" sldId="356"/>
            <ac:spMk id="32" creationId="{6E7BE6ED-DEB4-5EA6-26C8-3D1210394C35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724302153" sldId="358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724302153" sldId="358"/>
            <ac:spMk id="243" creationId="{78171AE6-F653-3611-504D-1A8195331207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724302153" sldId="358"/>
            <ac:spMk id="244" creationId="{EB8B680A-8467-2D88-7498-54F126B1E87B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506925469" sldId="359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06925469" sldId="359"/>
            <ac:spMk id="2" creationId="{9C38B29D-362A-C8CD-62C0-860F17EFB351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06925469" sldId="359"/>
            <ac:spMk id="4" creationId="{4F11A9F1-7453-18A3-CF85-73C48338AA27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73370938" sldId="360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73370938" sldId="360"/>
            <ac:spMk id="243" creationId="{55DE0C33-C6A4-C55C-C9A2-9F38CF13EE23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73370938" sldId="360"/>
            <ac:spMk id="244" creationId="{F2284660-D904-7F2C-5BBE-F1136DCE7B60}"/>
          </ac:spMkLst>
        </pc:spChg>
      </pc:sldChg>
      <pc:sldChg chg="modSp mod">
        <pc:chgData name="Vivi Nur Wijayaningrum" userId="0b83a86bb7892b73" providerId="LiveId" clId="{D92C51FD-37D5-437C-B161-FE5EC77CB0A3}" dt="2026-09-20T23:46:39.782" v="6901" actId="790"/>
        <pc:sldMkLst>
          <pc:docMk/>
          <pc:sldMk cId="3539184133" sldId="361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39184133" sldId="361"/>
            <ac:spMk id="2" creationId="{6CA2A331-A94B-4E26-00BC-5DC91B52A31D}"/>
          </ac:spMkLst>
        </pc:spChg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3539184133" sldId="361"/>
            <ac:spMk id="14" creationId="{91AA3B65-0BCB-2C90-EAD1-7DC252E58C2F}"/>
          </ac:spMkLst>
        </pc:spChg>
      </pc:sldChg>
      <pc:sldChg chg="del">
        <pc:chgData name="Vivi Nur Wijayaningrum" userId="0b83a86bb7892b73" providerId="LiveId" clId="{D92C51FD-37D5-437C-B161-FE5EC77CB0A3}" dt="2026-09-20T23:34:08.142" v="6113" actId="47"/>
        <pc:sldMkLst>
          <pc:docMk/>
          <pc:sldMk cId="284274079" sldId="362"/>
        </pc:sldMkLst>
      </pc:sldChg>
      <pc:sldChg chg="del">
        <pc:chgData name="Vivi Nur Wijayaningrum" userId="0b83a86bb7892b73" providerId="LiveId" clId="{D92C51FD-37D5-437C-B161-FE5EC77CB0A3}" dt="2026-09-20T23:34:09.508" v="6115" actId="47"/>
        <pc:sldMkLst>
          <pc:docMk/>
          <pc:sldMk cId="3702833753" sldId="363"/>
        </pc:sldMkLst>
      </pc:sldChg>
      <pc:sldChg chg="del">
        <pc:chgData name="Vivi Nur Wijayaningrum" userId="0b83a86bb7892b73" providerId="LiveId" clId="{D92C51FD-37D5-437C-B161-FE5EC77CB0A3}" dt="2026-09-20T23:34:08.629" v="6114" actId="47"/>
        <pc:sldMkLst>
          <pc:docMk/>
          <pc:sldMk cId="3129245192" sldId="364"/>
        </pc:sldMkLst>
      </pc:sldChg>
      <pc:sldChg chg="addSp modSp mod">
        <pc:chgData name="Vivi Nur Wijayaningrum" userId="0b83a86bb7892b73" providerId="LiveId" clId="{D92C51FD-37D5-437C-B161-FE5EC77CB0A3}" dt="2026-09-20T23:47:17.269" v="6912" actId="20577"/>
        <pc:sldMkLst>
          <pc:docMk/>
          <pc:sldMk cId="1582041398" sldId="365"/>
        </pc:sldMkLst>
        <pc:spChg chg="mod">
          <ac:chgData name="Vivi Nur Wijayaningrum" userId="0b83a86bb7892b73" providerId="LiveId" clId="{D92C51FD-37D5-437C-B161-FE5EC77CB0A3}" dt="2026-09-20T23:46:39.782" v="6901" actId="790"/>
          <ac:spMkLst>
            <pc:docMk/>
            <pc:sldMk cId="1582041398" sldId="365"/>
            <ac:spMk id="2" creationId="{DB8D0D5A-39AE-2025-AB38-44A4D658E696}"/>
          </ac:spMkLst>
        </pc:spChg>
        <pc:spChg chg="mod">
          <ac:chgData name="Vivi Nur Wijayaningrum" userId="0b83a86bb7892b73" providerId="LiveId" clId="{D92C51FD-37D5-437C-B161-FE5EC77CB0A3}" dt="2026-09-20T23:47:17.269" v="6912" actId="20577"/>
          <ac:spMkLst>
            <pc:docMk/>
            <pc:sldMk cId="1582041398" sldId="365"/>
            <ac:spMk id="3" creationId="{D42CE435-62A9-BF74-05F5-CEECA24A58CB}"/>
          </ac:spMkLst>
        </pc:spChg>
        <pc:graphicFrameChg chg="add mod modGraphic">
          <ac:chgData name="Vivi Nur Wijayaningrum" userId="0b83a86bb7892b73" providerId="LiveId" clId="{D92C51FD-37D5-437C-B161-FE5EC77CB0A3}" dt="2026-09-20T23:46:39.782" v="6901" actId="790"/>
          <ac:graphicFrameMkLst>
            <pc:docMk/>
            <pc:sldMk cId="1582041398" sldId="365"/>
            <ac:graphicFrameMk id="4" creationId="{4DCAB9DA-9BAB-CE6E-D588-74890B4956BF}"/>
          </ac:graphicFrameMkLst>
        </pc:graphicFrameChg>
      </pc:sldChg>
      <pc:sldMasterChg chg="delSldLayout">
        <pc:chgData name="Vivi Nur Wijayaningrum" userId="0b83a86bb7892b73" providerId="LiveId" clId="{D92C51FD-37D5-437C-B161-FE5EC77CB0A3}" dt="2026-09-20T23:33:19.500" v="6108" actId="47"/>
        <pc:sldMasterMkLst>
          <pc:docMk/>
          <pc:sldMasterMk cId="0" sldId="2147483648"/>
        </pc:sldMasterMkLst>
        <pc:sldLayoutChg chg="del">
          <pc:chgData name="Vivi Nur Wijayaningrum" userId="0b83a86bb7892b73" providerId="LiveId" clId="{D92C51FD-37D5-437C-B161-FE5EC77CB0A3}" dt="2026-09-20T23:33:19.500" v="6108" actId="47"/>
          <pc:sldLayoutMkLst>
            <pc:docMk/>
            <pc:sldMasterMk cId="0" sldId="2147483648"/>
            <pc:sldLayoutMk cId="703633940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F06A1E-D0CC-7C83-425B-FE07A2F2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093B37A7-A694-92AF-ACF9-681DEDE43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3474D536-920C-1333-DDD3-30B54E2D5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930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587F1DD-3924-1132-3E0D-26243C88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35457F87-9F63-D699-6C58-EF0D08DCA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16402BE0-EB46-6E4D-4D11-2AF12D6DC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0272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Bahasa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lian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Kasih </a:t>
            </a:r>
            <a:r>
              <a:rPr lang="en-US" dirty="0" err="1"/>
              <a:t>contoh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relasi</a:t>
            </a:r>
            <a:r>
              <a:rPr lang="en-US" dirty="0"/>
              <a:t> &lt; &gt;</a:t>
            </a:r>
          </a:p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&amp;&amp;</a:t>
            </a:r>
          </a:p>
          <a:p>
            <a:r>
              <a:rPr lang="en-US" dirty="0"/>
              <a:t>Condition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Boolean, operator </a:t>
            </a:r>
            <a:r>
              <a:rPr lang="en-US" dirty="0" err="1"/>
              <a:t>relasi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string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gak?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DD0-DEBF-8345-B76B-0A7771E0C4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60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385F-6720-ED53-F52D-FBB22C90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34F92-1E6C-1B58-0A3A-3037E13F6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3AD92-5418-B68A-C202-52C3E1AB9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relasi</a:t>
            </a:r>
            <a:r>
              <a:rPr lang="en-US" dirty="0"/>
              <a:t> &lt; &gt;</a:t>
            </a:r>
          </a:p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&amp;&amp;</a:t>
            </a:r>
          </a:p>
          <a:p>
            <a:r>
              <a:rPr lang="en-US" dirty="0"/>
              <a:t>Condition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Boolean, operator </a:t>
            </a:r>
            <a:r>
              <a:rPr lang="en-US" dirty="0" err="1"/>
              <a:t>relasi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string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gak?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4861C-79FF-DFC7-FA53-F3093214D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DD0-DEBF-8345-B76B-0A7771E0C4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39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A5DD076-8CED-EFE1-A76D-88CA71DD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1E90B6B3-7D6B-5F11-8FCA-F73E78767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Kasih </a:t>
            </a:r>
            <a:r>
              <a:rPr lang="en-US" dirty="0" err="1"/>
              <a:t>contoh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87913D6C-F407-118C-8F24-234118862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0410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F3DA-C3C6-9A26-E396-ABF426EF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2B996-B968-6BB8-4559-AC7E0275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0C1A9-9503-3CFB-D31A-D13929E98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relasi</a:t>
            </a:r>
            <a:r>
              <a:rPr lang="en-US" dirty="0"/>
              <a:t> &lt; &gt;</a:t>
            </a:r>
          </a:p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&amp;&amp;</a:t>
            </a:r>
          </a:p>
          <a:p>
            <a:r>
              <a:rPr lang="en-US" dirty="0"/>
              <a:t>Condition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Boolean, operator </a:t>
            </a:r>
            <a:r>
              <a:rPr lang="en-US" dirty="0" err="1"/>
              <a:t>relasi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string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gak?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A31E0-9100-C5D3-F3DC-2F7736E86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DD0-DEBF-8345-B76B-0A7771E0C4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87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A3CF-59CF-6DAC-0A7B-9BE49254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09A2C-70E1-B297-59F2-EA19B72F3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0FFB3-A557-62F7-F25E-C7C298B03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relasi</a:t>
            </a:r>
            <a:r>
              <a:rPr lang="en-US" dirty="0"/>
              <a:t> &lt; &gt;</a:t>
            </a:r>
          </a:p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&amp;&amp;</a:t>
            </a:r>
          </a:p>
          <a:p>
            <a:r>
              <a:rPr lang="en-US" dirty="0"/>
              <a:t>Condition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Boolean, operator </a:t>
            </a:r>
            <a:r>
              <a:rPr lang="en-US" dirty="0" err="1"/>
              <a:t>relasi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string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gak?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F8A7A-A0E1-9257-54DC-9F1EC10F1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DD0-DEBF-8345-B76B-0A7771E0C4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94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78072FC-89C4-5378-E8EF-8A392DEA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F77A77C9-AD58-CF9D-2534-8701BA051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16FCDB8C-F608-65C7-201B-D06A707AF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154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A44261D2-8B0D-EDD0-8787-8BEA0ACB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>
            <a:extLst>
              <a:ext uri="{FF2B5EF4-FFF2-40B4-BE49-F238E27FC236}">
                <a16:creationId xmlns:a16="http://schemas.microsoft.com/office/drawing/2014/main" id="{37B8CCD4-BF94-1B57-F75C-02F261576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Kasih </a:t>
            </a:r>
            <a:r>
              <a:rPr lang="en-US" dirty="0" err="1"/>
              <a:t>contoh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32" name="Google Shape;132;p7:notes">
            <a:extLst>
              <a:ext uri="{FF2B5EF4-FFF2-40B4-BE49-F238E27FC236}">
                <a16:creationId xmlns:a16="http://schemas.microsoft.com/office/drawing/2014/main" id="{DA7358CF-49DB-AAAB-16FB-30AC3DB58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8547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C58A-B551-3E95-51F0-811D3D66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28789-16B6-8406-1DE2-0D1F29F5D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34278-1A83-E322-2377-ABB32962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relasi</a:t>
            </a:r>
            <a:r>
              <a:rPr lang="en-US" dirty="0"/>
              <a:t> &lt; &gt;</a:t>
            </a:r>
          </a:p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&amp;&amp;</a:t>
            </a:r>
          </a:p>
          <a:p>
            <a:r>
              <a:rPr lang="en-US" dirty="0"/>
              <a:t>Condition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Boolean, operator </a:t>
            </a:r>
            <a:r>
              <a:rPr lang="en-US" dirty="0" err="1"/>
              <a:t>relasi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string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gak?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259B2-30CD-2773-70F6-831E76F06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DD0-DEBF-8345-B76B-0A7771E0C4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27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335A-46E1-E805-2DC5-4EB81563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58A08-9FC4-BE6B-C1E9-418C3596D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5A424-82C5-662A-F266-0F71832D8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relasi</a:t>
            </a:r>
            <a:r>
              <a:rPr lang="en-US" dirty="0"/>
              <a:t> &lt; &gt;</a:t>
            </a:r>
          </a:p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&amp;&amp;</a:t>
            </a:r>
          </a:p>
          <a:p>
            <a:r>
              <a:rPr lang="en-US" dirty="0"/>
              <a:t>Condition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Boolean, operator </a:t>
            </a:r>
            <a:r>
              <a:rPr lang="en-US" dirty="0" err="1"/>
              <a:t>relasi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string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gak?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CA99-8EAB-F75D-B1E2-3259E3FD4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DD0-DEBF-8345-B76B-0A7771E0C4C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0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9124D37-22EA-40D6-7E5C-92A27526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>
            <a:extLst>
              <a:ext uri="{FF2B5EF4-FFF2-40B4-BE49-F238E27FC236}">
                <a16:creationId xmlns:a16="http://schemas.microsoft.com/office/drawing/2014/main" id="{AC63CFF6-00D7-2EF4-04DD-7A08C67A4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>
            <a:extLst>
              <a:ext uri="{FF2B5EF4-FFF2-40B4-BE49-F238E27FC236}">
                <a16:creationId xmlns:a16="http://schemas.microsoft.com/office/drawing/2014/main" id="{A2D1239E-1DC5-614E-7046-D39B307EC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4727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B505CD0B-2AC0-A22D-F8D5-F09DB14F6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>
            <a:extLst>
              <a:ext uri="{FF2B5EF4-FFF2-40B4-BE49-F238E27FC236}">
                <a16:creationId xmlns:a16="http://schemas.microsoft.com/office/drawing/2014/main" id="{EB9977BE-6D0A-C857-F005-177017190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>
            <a:extLst>
              <a:ext uri="{FF2B5EF4-FFF2-40B4-BE49-F238E27FC236}">
                <a16:creationId xmlns:a16="http://schemas.microsoft.com/office/drawing/2014/main" id="{40599C0E-0BEF-4B84-6DEC-0916DD8A5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7991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DC81F2C3-D44C-1909-0A12-41000F4B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>
            <a:extLst>
              <a:ext uri="{FF2B5EF4-FFF2-40B4-BE49-F238E27FC236}">
                <a16:creationId xmlns:a16="http://schemas.microsoft.com/office/drawing/2014/main" id="{3D601098-5262-9CA0-3479-36B072464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>
            <a:extLst>
              <a:ext uri="{FF2B5EF4-FFF2-40B4-BE49-F238E27FC236}">
                <a16:creationId xmlns:a16="http://schemas.microsoft.com/office/drawing/2014/main" id="{B5915270-2981-88D5-86BB-3AE02A92A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55416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2D5A8927-C52C-590D-F8AF-074D16C8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>
            <a:extLst>
              <a:ext uri="{FF2B5EF4-FFF2-40B4-BE49-F238E27FC236}">
                <a16:creationId xmlns:a16="http://schemas.microsoft.com/office/drawing/2014/main" id="{9BC64F12-B6BE-C448-BB31-692748DE6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>
            <a:extLst>
              <a:ext uri="{FF2B5EF4-FFF2-40B4-BE49-F238E27FC236}">
                <a16:creationId xmlns:a16="http://schemas.microsoft.com/office/drawing/2014/main" id="{55049101-E9CD-666F-0AC2-9D417AE6F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2572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058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8032-red-cross-hd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pngall.com/checklist-png/download/4572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Overlock"/>
              <a:buNone/>
            </a:pPr>
            <a:r>
              <a:rPr lang="id-ID" sz="7200" b="1" noProof="0" dirty="0">
                <a:latin typeface="Overlock"/>
                <a:ea typeface="Overlock"/>
                <a:cs typeface="Overlock"/>
                <a:sym typeface="Overlock"/>
              </a:rPr>
              <a:t>Pemilihan 1</a:t>
            </a: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id-ID" sz="3600" noProof="0" dirty="0"/>
              <a:t>Team </a:t>
            </a:r>
            <a:r>
              <a:rPr lang="id-ID" sz="3600" noProof="0" dirty="0" err="1"/>
              <a:t>Teaching</a:t>
            </a:r>
            <a:r>
              <a:rPr lang="id-ID" sz="3600" noProof="0" dirty="0"/>
              <a:t> Dasar Pemrograman </a:t>
            </a:r>
            <a:endParaRPr lang="id-ID" noProof="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id-ID" sz="3600" noProof="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Tujuan Pembelajaran</a:t>
            </a:r>
            <a:endParaRPr lang="id-ID" noProof="0"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id-ID" sz="2800" noProof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Mahasiswa mampu memahami struktur kontrol pemilihan</a:t>
            </a:r>
            <a:endParaRPr lang="id-ID" noProof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id-ID" sz="2800" noProof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Mahasiswa mampu menyelesaikan permasalahan sederhana menggunakan </a:t>
            </a:r>
            <a:r>
              <a:rPr lang="id-ID" sz="2800" noProof="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if</a:t>
            </a:r>
            <a:r>
              <a:rPr lang="id-ID" sz="2800" noProof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id-ID" sz="2800" noProof="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if-else</a:t>
            </a:r>
            <a:r>
              <a:rPr lang="id-ID" sz="2800" noProof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dan </a:t>
            </a:r>
            <a:r>
              <a:rPr lang="id-ID" sz="2800" noProof="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switch-case</a:t>
            </a:r>
            <a:endParaRPr lang="id-ID" sz="2800" noProof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2D00A60-E617-FBB8-C037-B8CF6248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69D8393B-76DB-D89E-20C6-6A1D3190E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  <a:tabLst>
                <a:tab pos="4043363" algn="l"/>
              </a:tabLst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Contoh Pemilihan dalam Kehidupan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DEE04-C15D-EF1B-90F2-B65DA0685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noProof="0" dirty="0"/>
              <a:t>Ketika kita akan melakukan pembayaran, keberadaan dompet adalah kondisi. Cara kita membayar (</a:t>
            </a:r>
            <a:r>
              <a:rPr lang="id-ID" noProof="0" dirty="0" err="1"/>
              <a:t>cash</a:t>
            </a:r>
            <a:r>
              <a:rPr lang="id-ID" noProof="0" dirty="0"/>
              <a:t> atau e-</a:t>
            </a:r>
            <a:r>
              <a:rPr lang="id-ID" noProof="0" dirty="0" err="1"/>
              <a:t>wallet</a:t>
            </a:r>
            <a:r>
              <a:rPr lang="id-ID" noProof="0" dirty="0"/>
              <a:t>) adalah aksi yang dipilih berdasarkan kondisi tersebut.</a:t>
            </a:r>
          </a:p>
        </p:txBody>
      </p:sp>
      <p:pic>
        <p:nvPicPr>
          <p:cNvPr id="7" name="Picture 6" descr="A brown wallet with green paper inside&#10;&#10;AI-generated content may be incorrect.">
            <a:extLst>
              <a:ext uri="{FF2B5EF4-FFF2-40B4-BE49-F238E27FC236}">
                <a16:creationId xmlns:a16="http://schemas.microsoft.com/office/drawing/2014/main" id="{C7DD3DC7-07DC-4D7C-7A5E-876B6E8B0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35" t="13104" r="9127" b="13650"/>
          <a:stretch>
            <a:fillRect/>
          </a:stretch>
        </p:blipFill>
        <p:spPr>
          <a:xfrm>
            <a:off x="2050025" y="3913294"/>
            <a:ext cx="1769807" cy="1607574"/>
          </a:xfrm>
          <a:prstGeom prst="rect">
            <a:avLst/>
          </a:prstGeom>
        </p:spPr>
      </p:pic>
      <p:cxnSp>
        <p:nvCxnSpPr>
          <p:cNvPr id="10" name="Elbow Connector 4">
            <a:extLst>
              <a:ext uri="{FF2B5EF4-FFF2-40B4-BE49-F238E27FC236}">
                <a16:creationId xmlns:a16="http://schemas.microsoft.com/office/drawing/2014/main" id="{9875BA4E-A201-F123-B5F3-3D59F17DE321}"/>
              </a:ext>
            </a:extLst>
          </p:cNvPr>
          <p:cNvCxnSpPr/>
          <p:nvPr/>
        </p:nvCxnSpPr>
        <p:spPr>
          <a:xfrm flipV="1">
            <a:off x="3940349" y="3711433"/>
            <a:ext cx="1756398" cy="12159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5">
            <a:extLst>
              <a:ext uri="{FF2B5EF4-FFF2-40B4-BE49-F238E27FC236}">
                <a16:creationId xmlns:a16="http://schemas.microsoft.com/office/drawing/2014/main" id="{485E51E3-F006-8198-04B2-9D2F9BBE2F5F}"/>
              </a:ext>
            </a:extLst>
          </p:cNvPr>
          <p:cNvCxnSpPr>
            <a:cxnSpLocks/>
          </p:cNvCxnSpPr>
          <p:nvPr/>
        </p:nvCxnSpPr>
        <p:spPr>
          <a:xfrm>
            <a:off x="3940349" y="4927406"/>
            <a:ext cx="1756398" cy="99260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DC597AF-F016-6C7C-39B5-BC074F5D34E6}"/>
              </a:ext>
            </a:extLst>
          </p:cNvPr>
          <p:cNvSpPr txBox="1"/>
          <p:nvPr/>
        </p:nvSpPr>
        <p:spPr>
          <a:xfrm>
            <a:off x="4818548" y="3309109"/>
            <a:ext cx="849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d-ID" sz="2000" b="1" noProof="0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120316-AA60-8DE0-A5CF-C240D7AEC4F0}"/>
              </a:ext>
            </a:extLst>
          </p:cNvPr>
          <p:cNvSpPr txBox="1"/>
          <p:nvPr/>
        </p:nvSpPr>
        <p:spPr>
          <a:xfrm>
            <a:off x="4841791" y="5489562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D93DC07-EF83-9215-8E11-AE4F2FA27E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5" t="7788" r="4796" b="9646"/>
          <a:stretch>
            <a:fillRect/>
          </a:stretch>
        </p:blipFill>
        <p:spPr bwMode="auto">
          <a:xfrm>
            <a:off x="5826428" y="3139773"/>
            <a:ext cx="1337653" cy="121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hand holding a phone&#10;&#10;AI-generated content may be incorrect.">
            <a:extLst>
              <a:ext uri="{FF2B5EF4-FFF2-40B4-BE49-F238E27FC236}">
                <a16:creationId xmlns:a16="http://schemas.microsoft.com/office/drawing/2014/main" id="{3C574023-8EC4-C92A-F8AD-3656B219D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963" y="4844869"/>
            <a:ext cx="1500316" cy="15003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F1B6B8-1FAC-3CA6-535E-32DBDECF7805}"/>
              </a:ext>
            </a:extLst>
          </p:cNvPr>
          <p:cNvSpPr txBox="1"/>
          <p:nvPr/>
        </p:nvSpPr>
        <p:spPr>
          <a:xfrm>
            <a:off x="1902434" y="5458784"/>
            <a:ext cx="2064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 dompet?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55C270-F777-F1DB-5DD0-93C9A6E6D02F}"/>
              </a:ext>
            </a:extLst>
          </p:cNvPr>
          <p:cNvSpPr txBox="1"/>
          <p:nvPr/>
        </p:nvSpPr>
        <p:spPr>
          <a:xfrm>
            <a:off x="7293762" y="3490523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Bayar </a:t>
            </a:r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</a:t>
            </a:r>
            <a:endParaRPr lang="id-ID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F24CFE-AD6F-DC64-0C8E-28DA376C61D9}"/>
              </a:ext>
            </a:extLst>
          </p:cNvPr>
          <p:cNvSpPr txBox="1"/>
          <p:nvPr/>
        </p:nvSpPr>
        <p:spPr>
          <a:xfrm>
            <a:off x="7096437" y="5290035"/>
            <a:ext cx="2975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Bayar dengan e-</a:t>
            </a:r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wallet</a:t>
            </a:r>
            <a:endParaRPr lang="id-ID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49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Definisi Pemilihan</a:t>
            </a: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054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id-ID" noProof="0" dirty="0"/>
              <a:t>Pemilihan (</a:t>
            </a:r>
            <a:r>
              <a:rPr lang="id-ID" i="1" noProof="0" dirty="0" err="1"/>
              <a:t>selection</a:t>
            </a:r>
            <a:r>
              <a:rPr lang="id-ID" noProof="0" dirty="0"/>
              <a:t>) adalah instruksi untuk menentukan </a:t>
            </a:r>
            <a:r>
              <a:rPr lang="id-ID" b="1" noProof="0" dirty="0"/>
              <a:t>aksi</a:t>
            </a:r>
            <a:r>
              <a:rPr lang="id-ID" noProof="0" dirty="0"/>
              <a:t> berdasarkan suatu </a:t>
            </a:r>
            <a:r>
              <a:rPr lang="id-ID" b="1" noProof="0" dirty="0"/>
              <a:t>kondisi</a:t>
            </a:r>
            <a:r>
              <a:rPr lang="id-ID" noProof="0" dirty="0"/>
              <a:t>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endParaRPr lang="id-ID" noProof="0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id-ID" noProof="0" dirty="0"/>
              <a:t>Kondisi adalah ekspresi logika yang bernilai </a:t>
            </a:r>
            <a:r>
              <a:rPr lang="id-ID" b="1" noProof="0" dirty="0"/>
              <a:t>BENAR (</a:t>
            </a:r>
            <a:r>
              <a:rPr lang="id-ID" b="1" noProof="0" dirty="0" err="1"/>
              <a:t>True</a:t>
            </a:r>
            <a:r>
              <a:rPr lang="id-ID" b="1" noProof="0" dirty="0"/>
              <a:t>)</a:t>
            </a:r>
            <a:r>
              <a:rPr lang="id-ID" noProof="0" dirty="0"/>
              <a:t> atau </a:t>
            </a:r>
            <a:r>
              <a:rPr lang="id-ID" b="1" noProof="0" dirty="0"/>
              <a:t>SALAH (</a:t>
            </a:r>
            <a:r>
              <a:rPr lang="id-ID" b="1" noProof="0" dirty="0" err="1"/>
              <a:t>False</a:t>
            </a:r>
            <a:r>
              <a:rPr lang="id-ID" b="1" noProof="0" dirty="0"/>
              <a:t>)</a:t>
            </a:r>
            <a:r>
              <a:rPr lang="id-ID" noProof="0" dirty="0"/>
              <a:t>.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340A21D0-352E-B676-D3E0-41BDA634D8AE}"/>
              </a:ext>
            </a:extLst>
          </p:cNvPr>
          <p:cNvSpPr/>
          <p:nvPr/>
        </p:nvSpPr>
        <p:spPr>
          <a:xfrm>
            <a:off x="7988968" y="2574758"/>
            <a:ext cx="1828800" cy="1828800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18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AA62D-6E7C-9213-B8B6-E0FD97BFCE78}"/>
              </a:ext>
            </a:extLst>
          </p:cNvPr>
          <p:cNvSpPr txBox="1"/>
          <p:nvPr/>
        </p:nvSpPr>
        <p:spPr>
          <a:xfrm>
            <a:off x="8198688" y="3167390"/>
            <a:ext cx="1409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Kondisi?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92F970-36D2-09D5-F6EA-CF76A2530CFC}"/>
              </a:ext>
            </a:extLst>
          </p:cNvPr>
          <p:cNvCxnSpPr/>
          <p:nvPr/>
        </p:nvCxnSpPr>
        <p:spPr>
          <a:xfrm>
            <a:off x="9817768" y="3481161"/>
            <a:ext cx="1080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6BFDD2-F16C-C2BD-74CB-50765300C9F3}"/>
              </a:ext>
            </a:extLst>
          </p:cNvPr>
          <p:cNvCxnSpPr/>
          <p:nvPr/>
        </p:nvCxnSpPr>
        <p:spPr>
          <a:xfrm>
            <a:off x="6897308" y="3481161"/>
            <a:ext cx="1080000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3D86A39D-CE47-B95B-2D92-931F4B00D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00892" y="3052589"/>
            <a:ext cx="857143" cy="85714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93E088F-4468-93A4-B05F-01491822A9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557261" y="2750662"/>
            <a:ext cx="1356675" cy="13566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50A0DF-F1DC-E0DB-F6B5-C964C88CE6AC}"/>
              </a:ext>
            </a:extLst>
          </p:cNvPr>
          <p:cNvSpPr txBox="1"/>
          <p:nvPr/>
        </p:nvSpPr>
        <p:spPr>
          <a:xfrm>
            <a:off x="7139055" y="3069066"/>
            <a:ext cx="849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d-ID" sz="2000" b="1" noProof="0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B906A1-DA7B-C02F-CBF3-C01AA4A027D9}"/>
              </a:ext>
            </a:extLst>
          </p:cNvPr>
          <p:cNvSpPr txBox="1"/>
          <p:nvPr/>
        </p:nvSpPr>
        <p:spPr>
          <a:xfrm>
            <a:off x="9864256" y="3069066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B4B9C939-1063-890F-28F7-88DFA213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87C360B0-9489-AAD4-21EB-0129BA3EC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  <a:tabLst>
                <a:tab pos="4043363" algn="l"/>
              </a:tabLst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Contoh Pemilihan dalam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A856F-8A0F-DCCF-B295-6E5864152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noProof="0" dirty="0"/>
              <a:t>Program tidak selalu berjalan berurutan (</a:t>
            </a:r>
            <a:r>
              <a:rPr lang="id-ID" noProof="0" dirty="0" err="1"/>
              <a:t>sekuensial</a:t>
            </a:r>
            <a:r>
              <a:rPr lang="id-ID" noProof="0" dirty="0"/>
              <a:t>).</a:t>
            </a:r>
          </a:p>
          <a:p>
            <a:r>
              <a:rPr lang="id-ID" noProof="0" dirty="0"/>
              <a:t>Program juga bisa berjalan berdasarkan </a:t>
            </a:r>
            <a:r>
              <a:rPr lang="id-ID" b="1" noProof="0" dirty="0"/>
              <a:t>kondisi tertentu</a:t>
            </a:r>
            <a:r>
              <a:rPr lang="id-ID" noProof="0" dirty="0"/>
              <a:t>.</a:t>
            </a:r>
          </a:p>
          <a:p>
            <a:r>
              <a:rPr lang="id-ID" noProof="0" dirty="0"/>
              <a:t>Contoh: </a:t>
            </a:r>
            <a:r>
              <a:rPr lang="id-ID" noProof="0" dirty="0" err="1"/>
              <a:t>Login</a:t>
            </a:r>
            <a:r>
              <a:rPr lang="id-ID" noProof="0" dirty="0"/>
              <a:t> </a:t>
            </a:r>
            <a:r>
              <a:rPr lang="id-ID" noProof="0" dirty="0">
                <a:sym typeface="Wingdings" panose="05000000000000000000" pitchFamily="2" charset="2"/>
              </a:rPr>
              <a:t> kondisi </a:t>
            </a:r>
            <a:r>
              <a:rPr lang="id-ID" noProof="0" dirty="0" err="1">
                <a:sym typeface="Wingdings" panose="05000000000000000000" pitchFamily="2" charset="2"/>
              </a:rPr>
              <a:t>username</a:t>
            </a:r>
            <a:r>
              <a:rPr lang="id-ID" noProof="0" dirty="0">
                <a:sym typeface="Wingdings" panose="05000000000000000000" pitchFamily="2" charset="2"/>
              </a:rPr>
              <a:t> &amp; </a:t>
            </a:r>
            <a:r>
              <a:rPr lang="id-ID" noProof="0" dirty="0" err="1">
                <a:sym typeface="Wingdings" panose="05000000000000000000" pitchFamily="2" charset="2"/>
              </a:rPr>
              <a:t>password</a:t>
            </a:r>
            <a:endParaRPr lang="id-ID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4A166E-30A8-A527-218F-55FE62F4F754}"/>
              </a:ext>
            </a:extLst>
          </p:cNvPr>
          <p:cNvGrpSpPr/>
          <p:nvPr/>
        </p:nvGrpSpPr>
        <p:grpSpPr>
          <a:xfrm>
            <a:off x="1415495" y="3939648"/>
            <a:ext cx="4233138" cy="2018700"/>
            <a:chOff x="2385840" y="401610"/>
            <a:chExt cx="8115954" cy="558671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CEDE3E5-0225-1BA2-C3B6-D880AC5BD652}"/>
                </a:ext>
              </a:extLst>
            </p:cNvPr>
            <p:cNvSpPr/>
            <p:nvPr userDrawn="1"/>
          </p:nvSpPr>
          <p:spPr>
            <a:xfrm>
              <a:off x="2534045" y="523047"/>
              <a:ext cx="7967749" cy="5465281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CC7511D-AC10-23FE-BC64-E760BDDCA20A}"/>
                </a:ext>
              </a:extLst>
            </p:cNvPr>
            <p:cNvSpPr/>
            <p:nvPr userDrawn="1"/>
          </p:nvSpPr>
          <p:spPr>
            <a:xfrm>
              <a:off x="2385840" y="401610"/>
              <a:ext cx="7967747" cy="5456583"/>
            </a:xfrm>
            <a:prstGeom prst="roundRect">
              <a:avLst>
                <a:gd name="adj" fmla="val 4463"/>
              </a:avLst>
            </a:prstGeom>
            <a:pattFill prst="dkVert">
              <a:fgClr>
                <a:srgbClr val="EEEEEE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2A7C6FD-5A9F-34B8-AE24-277C23508E88}"/>
                </a:ext>
              </a:extLst>
            </p:cNvPr>
            <p:cNvSpPr/>
            <p:nvPr userDrawn="1"/>
          </p:nvSpPr>
          <p:spPr>
            <a:xfrm>
              <a:off x="9209344" y="550822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DF94F2A-F46E-B415-5794-0E571963247F}"/>
                </a:ext>
              </a:extLst>
            </p:cNvPr>
            <p:cNvSpPr/>
            <p:nvPr userDrawn="1"/>
          </p:nvSpPr>
          <p:spPr>
            <a:xfrm>
              <a:off x="9562424" y="550822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2E385C-BC41-EAC8-E93B-E9772A8E0959}"/>
                </a:ext>
              </a:extLst>
            </p:cNvPr>
            <p:cNvSpPr/>
            <p:nvPr userDrawn="1"/>
          </p:nvSpPr>
          <p:spPr>
            <a:xfrm>
              <a:off x="9915504" y="553998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90700C4-94D7-D454-901A-1143C1CC2E47}"/>
              </a:ext>
            </a:extLst>
          </p:cNvPr>
          <p:cNvSpPr/>
          <p:nvPr/>
        </p:nvSpPr>
        <p:spPr>
          <a:xfrm>
            <a:off x="2935969" y="5173191"/>
            <a:ext cx="2282522" cy="366329"/>
          </a:xfrm>
          <a:prstGeom prst="roundRect">
            <a:avLst>
              <a:gd name="adj" fmla="val 30201"/>
            </a:avLst>
          </a:prstGeom>
          <a:solidFill>
            <a:srgbClr val="92D050"/>
          </a:solidFill>
          <a:ln w="31750">
            <a:solidFill>
              <a:schemeClr val="tx1"/>
            </a:solidFill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*****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5FBD445-E854-BC75-CF0B-D71507533E70}"/>
              </a:ext>
            </a:extLst>
          </p:cNvPr>
          <p:cNvSpPr/>
          <p:nvPr/>
        </p:nvSpPr>
        <p:spPr>
          <a:xfrm>
            <a:off x="2935969" y="4458382"/>
            <a:ext cx="2282522" cy="366329"/>
          </a:xfrm>
          <a:prstGeom prst="roundRect">
            <a:avLst>
              <a:gd name="adj" fmla="val 30201"/>
            </a:avLst>
          </a:prstGeom>
          <a:solidFill>
            <a:srgbClr val="92D050"/>
          </a:solidFill>
          <a:ln w="31750">
            <a:solidFill>
              <a:schemeClr val="tx1"/>
            </a:solidFill>
          </a:ln>
          <a:effectLst>
            <a:outerShdw dist="381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noProof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user</a:t>
            </a:r>
            <a:endParaRPr lang="id-ID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C32002-7813-1CF7-224E-CBD0E008D52A}"/>
              </a:ext>
            </a:extLst>
          </p:cNvPr>
          <p:cNvSpPr txBox="1"/>
          <p:nvPr/>
        </p:nvSpPr>
        <p:spPr>
          <a:xfrm>
            <a:off x="1741085" y="4453877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noProof="0" dirty="0" err="1">
                <a:latin typeface="Comic Sans MS" panose="030F0702030302020204" pitchFamily="66" charset="0"/>
              </a:rPr>
              <a:t>username</a:t>
            </a:r>
            <a:endParaRPr lang="id-ID" noProof="0" dirty="0">
              <a:latin typeface="Comic Sans MS" panose="030F07020303020202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DCC12E-9CF0-F476-FB19-7776A9A37182}"/>
              </a:ext>
            </a:extLst>
          </p:cNvPr>
          <p:cNvSpPr txBox="1"/>
          <p:nvPr/>
        </p:nvSpPr>
        <p:spPr>
          <a:xfrm>
            <a:off x="1720025" y="5170188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noProof="0" dirty="0" err="1">
                <a:latin typeface="Comic Sans MS" panose="030F0702030302020204" pitchFamily="66" charset="0"/>
              </a:rPr>
              <a:t>password</a:t>
            </a:r>
            <a:endParaRPr lang="id-ID" noProof="0" dirty="0">
              <a:latin typeface="Comic Sans MS" panose="030F0702030302020204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046B1D-94A6-645F-0EF8-D8D2613DB6B9}"/>
              </a:ext>
            </a:extLst>
          </p:cNvPr>
          <p:cNvSpPr txBox="1"/>
          <p:nvPr/>
        </p:nvSpPr>
        <p:spPr>
          <a:xfrm>
            <a:off x="1588440" y="6081067"/>
            <a:ext cx="3964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Username</a:t>
            </a:r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</a:t>
            </a:r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benar?</a:t>
            </a:r>
          </a:p>
        </p:txBody>
      </p:sp>
      <p:cxnSp>
        <p:nvCxnSpPr>
          <p:cNvPr id="32" name="Elbow Connector 4">
            <a:extLst>
              <a:ext uri="{FF2B5EF4-FFF2-40B4-BE49-F238E27FC236}">
                <a16:creationId xmlns:a16="http://schemas.microsoft.com/office/drawing/2014/main" id="{43084D27-6D65-3284-9E34-05F8631839B4}"/>
              </a:ext>
            </a:extLst>
          </p:cNvPr>
          <p:cNvCxnSpPr>
            <a:cxnSpLocks/>
          </p:cNvCxnSpPr>
          <p:nvPr/>
        </p:nvCxnSpPr>
        <p:spPr>
          <a:xfrm flipV="1">
            <a:off x="5837140" y="4147961"/>
            <a:ext cx="1756398" cy="9371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5">
            <a:extLst>
              <a:ext uri="{FF2B5EF4-FFF2-40B4-BE49-F238E27FC236}">
                <a16:creationId xmlns:a16="http://schemas.microsoft.com/office/drawing/2014/main" id="{CB7E13E5-1C38-2014-87B0-11E2E7DED987}"/>
              </a:ext>
            </a:extLst>
          </p:cNvPr>
          <p:cNvCxnSpPr>
            <a:cxnSpLocks/>
          </p:cNvCxnSpPr>
          <p:nvPr/>
        </p:nvCxnSpPr>
        <p:spPr>
          <a:xfrm>
            <a:off x="5837140" y="5085071"/>
            <a:ext cx="1756398" cy="99260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E596BB6-70EA-E118-0DF4-6A7033ED05E3}"/>
              </a:ext>
            </a:extLst>
          </p:cNvPr>
          <p:cNvSpPr txBox="1"/>
          <p:nvPr/>
        </p:nvSpPr>
        <p:spPr>
          <a:xfrm>
            <a:off x="6743625" y="3747851"/>
            <a:ext cx="849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d-ID" sz="2000" b="1" noProof="0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30383-6B12-1FDE-F413-966639D75F52}"/>
              </a:ext>
            </a:extLst>
          </p:cNvPr>
          <p:cNvSpPr txBox="1"/>
          <p:nvPr/>
        </p:nvSpPr>
        <p:spPr>
          <a:xfrm>
            <a:off x="6738582" y="5647227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noProof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9330A-DB4A-B019-E3E8-1534AB53EF48}"/>
              </a:ext>
            </a:extLst>
          </p:cNvPr>
          <p:cNvSpPr txBox="1"/>
          <p:nvPr/>
        </p:nvSpPr>
        <p:spPr>
          <a:xfrm>
            <a:off x="7713340" y="3836205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Sukses </a:t>
            </a:r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</a:t>
            </a:r>
            <a:endParaRPr lang="id-ID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B17E40-E3C9-B198-6172-E0571B20BEC8}"/>
              </a:ext>
            </a:extLst>
          </p:cNvPr>
          <p:cNvSpPr txBox="1"/>
          <p:nvPr/>
        </p:nvSpPr>
        <p:spPr>
          <a:xfrm>
            <a:off x="7665030" y="5816504"/>
            <a:ext cx="1576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</a:t>
            </a:r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gagal</a:t>
            </a:r>
          </a:p>
        </p:txBody>
      </p:sp>
    </p:spTree>
    <p:extLst>
      <p:ext uri="{BB962C8B-B14F-4D97-AF65-F5344CB8AC3E}">
        <p14:creationId xmlns:p14="http://schemas.microsoft.com/office/powerpoint/2010/main" val="265409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Struktur Pemilihan di Java</a:t>
            </a:r>
            <a:endParaRPr lang="id-ID" noProof="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EA64D80-33E8-7DC2-65C4-593377B46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id-ID" noProof="0" dirty="0"/>
              <a:t>Dalam kehidupan sehari-hari, kita sering mengambil keputusan berdasarkan kondisi.</a:t>
            </a:r>
          </a:p>
          <a:p>
            <a:r>
              <a:rPr lang="id-ID" noProof="0" dirty="0"/>
              <a:t>Dalam pemrograman, keputusan tersebut dituliskan dengan </a:t>
            </a:r>
            <a:r>
              <a:rPr lang="id-ID" b="1" noProof="0" dirty="0"/>
              <a:t>struktur pemilihan</a:t>
            </a:r>
            <a:r>
              <a:rPr lang="id-ID" noProof="0" dirty="0"/>
              <a:t>.</a:t>
            </a:r>
          </a:p>
          <a:p>
            <a:r>
              <a:rPr lang="id-ID" noProof="0" dirty="0"/>
              <a:t>Struktur pemilihan di Java terdiri dari:</a:t>
            </a:r>
          </a:p>
          <a:p>
            <a:pPr marL="1028700" lvl="1" indent="-457200">
              <a:buFont typeface="+mj-lt"/>
              <a:buAutoNum type="alphaLcPeriod"/>
            </a:pPr>
            <a:r>
              <a:rPr lang="id-ID" noProof="0" dirty="0"/>
              <a:t>IF</a:t>
            </a:r>
          </a:p>
          <a:p>
            <a:pPr marL="1028700" lvl="1" indent="-457200">
              <a:buFont typeface="+mj-lt"/>
              <a:buAutoNum type="alphaLcPeriod"/>
            </a:pPr>
            <a:r>
              <a:rPr lang="id-ID" noProof="0" dirty="0"/>
              <a:t>IF-ELSE</a:t>
            </a:r>
          </a:p>
          <a:p>
            <a:pPr marL="1028700" lvl="1" indent="-457200">
              <a:buFont typeface="+mj-lt"/>
              <a:buAutoNum type="alphaLcPeriod"/>
            </a:pPr>
            <a:r>
              <a:rPr lang="id-ID" noProof="0" dirty="0"/>
              <a:t>IF-ELSE </a:t>
            </a:r>
            <a:r>
              <a:rPr lang="id-ID" noProof="0" dirty="0" err="1"/>
              <a:t>IF-ELSE</a:t>
            </a:r>
            <a:endParaRPr lang="id-ID" noProof="0" dirty="0"/>
          </a:p>
          <a:p>
            <a:pPr marL="1028700" lvl="1" indent="-457200">
              <a:buFont typeface="+mj-lt"/>
              <a:buAutoNum type="alphaLcPeriod"/>
            </a:pPr>
            <a:r>
              <a:rPr lang="id-ID" noProof="0" dirty="0"/>
              <a:t>SWITCH-CASE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1919930" y="2488139"/>
            <a:ext cx="8544949" cy="14465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400" b="1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Struktur Pemilihan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400" b="1" cap="none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IF</a:t>
            </a:r>
            <a:endParaRPr lang="id-ID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Struktur Pemilihan IF</a:t>
            </a:r>
            <a:endParaRPr lang="id-ID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d-ID" noProof="0" dirty="0" err="1"/>
              <a:t>Sintaks</a:t>
            </a:r>
            <a:r>
              <a:rPr lang="id-ID" noProof="0" dirty="0"/>
              <a:t> pada Java:</a:t>
            </a:r>
          </a:p>
        </p:txBody>
      </p:sp>
      <p:sp>
        <p:nvSpPr>
          <p:cNvPr id="137" name="Google Shape;137;p7"/>
          <p:cNvSpPr txBox="1"/>
          <p:nvPr/>
        </p:nvSpPr>
        <p:spPr>
          <a:xfrm>
            <a:off x="5869858" y="2021978"/>
            <a:ext cx="5890771" cy="224672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Jika 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kondisi</a:t>
            </a:r>
            <a:r>
              <a:rPr lang="id-ID" sz="2800" i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bernilai </a:t>
            </a:r>
            <a:r>
              <a:rPr lang="id-ID" sz="28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BENAR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maka 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pernyataan</a:t>
            </a:r>
            <a:r>
              <a:rPr lang="id-ID" sz="2800" i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 dieksekusi.</a:t>
            </a:r>
            <a:endParaRPr lang="id-ID" noProof="0"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Sebaliknya, jika 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kondisi</a:t>
            </a:r>
            <a:r>
              <a:rPr lang="id-ID" sz="2800" i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bernilai </a:t>
            </a:r>
            <a:r>
              <a:rPr lang="id-ID" sz="2800" b="1" noProof="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SALAH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maka 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pernyataan</a:t>
            </a:r>
            <a:r>
              <a:rPr lang="id-ID" sz="2800" i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tidak akan </a:t>
            </a:r>
            <a:r>
              <a:rPr lang="id-ID" sz="28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diekseskusi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id-ID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8B372-1150-5699-42CF-C7B902E97458}"/>
              </a:ext>
            </a:extLst>
          </p:cNvPr>
          <p:cNvSpPr/>
          <p:nvPr/>
        </p:nvSpPr>
        <p:spPr>
          <a:xfrm>
            <a:off x="956187" y="2460410"/>
            <a:ext cx="3746090" cy="19371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id-ID" sz="2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Pernyataan;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F3B7F5E-6F30-485E-9F32-803DFA3D5F79}"/>
              </a:ext>
            </a:extLst>
          </p:cNvPr>
          <p:cNvGrpSpPr/>
          <p:nvPr/>
        </p:nvGrpSpPr>
        <p:grpSpPr>
          <a:xfrm>
            <a:off x="5575718" y="4014306"/>
            <a:ext cx="6090258" cy="1746410"/>
            <a:chOff x="6852735" y="2229162"/>
            <a:chExt cx="4869623" cy="24270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4DF076D-9561-49C6-9E1C-8F20B93142E0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9D72DFF-A682-4BED-8503-CECB9CE57EA3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20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2000" b="1" noProof="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waktuPengumpulan</a:t>
              </a:r>
              <a:r>
                <a:rPr lang="id-ID" sz="20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&lt;= </a:t>
              </a:r>
              <a:r>
                <a:rPr lang="id-ID" sz="2000" b="1" noProof="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deadline</a:t>
              </a:r>
              <a:r>
                <a:rPr lang="id-ID" sz="20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352425"/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(“Tugas dikumpulkan tepat waktu”)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16D2A2A-39C7-498C-AB7B-5E4EA9988338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70C8DC5-2BF2-49D5-98BD-88D8623B558B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B8EAEC5-945F-47DE-BC87-AB240E0BF666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100F099-54BE-4649-9544-F2D3B1660FA1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AF244E-945E-4D87-AA87-14D8E5D97B22}"/>
                </a:ext>
              </a:extLst>
            </p:cNvPr>
            <p:cNvSpPr txBox="1"/>
            <p:nvPr/>
          </p:nvSpPr>
          <p:spPr>
            <a:xfrm>
              <a:off x="6926164" y="2280364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7D4031-4899-4F2E-B378-66CACCAE4523}"/>
              </a:ext>
            </a:extLst>
          </p:cNvPr>
          <p:cNvGrpSpPr/>
          <p:nvPr/>
        </p:nvGrpSpPr>
        <p:grpSpPr>
          <a:xfrm>
            <a:off x="5575718" y="1670775"/>
            <a:ext cx="6090257" cy="1746411"/>
            <a:chOff x="6852735" y="2229161"/>
            <a:chExt cx="4869623" cy="242700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54AA807-5DF2-48E5-9DD1-16BD08DC39B2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AE61CE2-6BB8-49A2-BFA2-CB5B6CA962B1}"/>
                </a:ext>
              </a:extLst>
            </p:cNvPr>
            <p:cNvSpPr/>
            <p:nvPr/>
          </p:nvSpPr>
          <p:spPr>
            <a:xfrm>
              <a:off x="6852735" y="2229161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20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2000" b="1" noProof="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isLogin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273050"/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(“Selamat datang di SIAKAD”)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6DC597-7404-4361-AFC0-C70321BB4DBC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46C8D2F-EE9A-43F4-A4A7-7481BD6D9FB8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7EB924D-D1D6-47EF-834F-F86386C644E2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5BA5F3F-A86C-4C13-801D-E7D4A4955593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BA2CD8-2E6E-4C5B-9BCA-2EB1F4321ABF}"/>
                </a:ext>
              </a:extLst>
            </p:cNvPr>
            <p:cNvSpPr txBox="1"/>
            <p:nvPr/>
          </p:nvSpPr>
          <p:spPr>
            <a:xfrm>
              <a:off x="6926164" y="2280363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89805EB-A44A-FBC7-F5A4-5B8670317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740" y="1660016"/>
            <a:ext cx="2311519" cy="18542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8C836E-1655-05AB-8865-9F8E52CCD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42" y="3978145"/>
            <a:ext cx="3899100" cy="1905098"/>
          </a:xfrm>
          <a:prstGeom prst="rect">
            <a:avLst/>
          </a:prstGeom>
        </p:spPr>
      </p:pic>
      <p:sp>
        <p:nvSpPr>
          <p:cNvPr id="5" name="Google Shape;134;p7">
            <a:extLst>
              <a:ext uri="{FF2B5EF4-FFF2-40B4-BE49-F238E27FC236}">
                <a16:creationId xmlns:a16="http://schemas.microsoft.com/office/drawing/2014/main" id="{088EE9FA-DEB7-F8C3-FE9C-2A0055B784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Overlock"/>
              <a:buNone/>
            </a:pP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Contoh Penggunaan IF</a:t>
            </a:r>
            <a:endParaRPr lang="id-ID" sz="4400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2523365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D455-FCFD-1CD2-6205-346227BC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4;p7">
            <a:extLst>
              <a:ext uri="{FF2B5EF4-FFF2-40B4-BE49-F238E27FC236}">
                <a16:creationId xmlns:a16="http://schemas.microsoft.com/office/drawing/2014/main" id="{99363C34-AC05-4A65-9BB6-E8F27A91A0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Overlock"/>
              <a:buNone/>
            </a:pPr>
            <a:r>
              <a:rPr lang="id-ID" sz="4400" b="1" noProof="0" dirty="0" err="1">
                <a:latin typeface="Overlock"/>
                <a:ea typeface="Overlock"/>
                <a:cs typeface="Overlock"/>
                <a:sym typeface="Overlock"/>
              </a:rPr>
              <a:t>Flowchart</a:t>
            </a: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id-ID" sz="4400" b="1" noProof="0" dirty="0" err="1">
                <a:latin typeface="Overlock"/>
                <a:ea typeface="Overlock"/>
                <a:cs typeface="Overlock"/>
                <a:sym typeface="Overlock"/>
              </a:rPr>
              <a:t>Pseudocode</a:t>
            </a: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 IF</a:t>
            </a:r>
            <a:endParaRPr lang="id-ID" sz="4400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BB9145-F81E-0A5B-AEDF-17F9175C5A5E}"/>
              </a:ext>
            </a:extLst>
          </p:cNvPr>
          <p:cNvSpPr/>
          <p:nvPr/>
        </p:nvSpPr>
        <p:spPr>
          <a:xfrm>
            <a:off x="6619568" y="2359741"/>
            <a:ext cx="3746090" cy="21385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pPr algn="just"/>
            <a:endParaRPr lang="id-ID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A diagram of a flowchart&#10;&#10;AI-generated content may be incorrect.">
            <a:extLst>
              <a:ext uri="{FF2B5EF4-FFF2-40B4-BE49-F238E27FC236}">
                <a16:creationId xmlns:a16="http://schemas.microsoft.com/office/drawing/2014/main" id="{54A48CC4-0C16-9CCE-0A65-3D71FA061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74" y="1859985"/>
            <a:ext cx="3874781" cy="313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4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1715213" y="2501899"/>
            <a:ext cx="8544949" cy="156966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800" b="1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Struktur Pemilihan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800" b="1" cap="none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IF-ELSE</a:t>
            </a:r>
            <a:endParaRPr lang="id-ID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6533761E-BE2F-A52B-CB73-7255F029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900567E1-D940-B2F7-88F6-F6451CF4C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Struktur Pemilihan IF-ELSE</a:t>
            </a:r>
            <a:endParaRPr lang="id-ID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CDFDE1C6-A2CF-4CF8-1906-2A2A529A7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id-ID" noProof="0" dirty="0" err="1"/>
              <a:t>Sintaks</a:t>
            </a:r>
            <a:r>
              <a:rPr lang="id-ID" noProof="0" dirty="0"/>
              <a:t> pada Java:</a:t>
            </a:r>
          </a:p>
        </p:txBody>
      </p:sp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19FD3DEB-FC04-3B7A-BD60-CF15868A2AF0}"/>
              </a:ext>
            </a:extLst>
          </p:cNvPr>
          <p:cNvSpPr txBox="1"/>
          <p:nvPr/>
        </p:nvSpPr>
        <p:spPr>
          <a:xfrm>
            <a:off x="5869858" y="2021978"/>
            <a:ext cx="5890771" cy="37548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Struktur pemilihan IF-ELSE memiliki dua pernyataan.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Jika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ondisi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bernilai </a:t>
            </a:r>
            <a:r>
              <a:rPr lang="id-ID" sz="28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atau terpenuhi, maka 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Pernyataan-1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akan dieksekusi.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Namun, jika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kondisi 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bernilai </a:t>
            </a:r>
            <a:r>
              <a:rPr lang="id-ID" sz="2800" b="1" noProof="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SALAH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maka </a:t>
            </a:r>
            <a:r>
              <a:rPr lang="id-ID" sz="2800" b="1" noProof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Pernyataan-2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yang akan dieksekusi.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endParaRPr lang="id-ID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F5C7D7-963F-3F5F-4235-7ECBE79D47B2}"/>
              </a:ext>
            </a:extLst>
          </p:cNvPr>
          <p:cNvSpPr/>
          <p:nvPr/>
        </p:nvSpPr>
        <p:spPr>
          <a:xfrm>
            <a:off x="956187" y="2460409"/>
            <a:ext cx="3746090" cy="329146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id-ID" sz="2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Pernyataan-1;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/>
            <a:r>
              <a:rPr lang="id-ID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id-ID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Pernyataan-2;</a:t>
            </a:r>
          </a:p>
          <a:p>
            <a:pPr algn="just"/>
            <a:r>
              <a:rPr lang="id-ID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166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076C-F447-31FF-3C95-94FDD5D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16C18E5-EC15-9457-B15F-16D8AB5093C0}"/>
              </a:ext>
            </a:extLst>
          </p:cNvPr>
          <p:cNvGrpSpPr/>
          <p:nvPr/>
        </p:nvGrpSpPr>
        <p:grpSpPr>
          <a:xfrm>
            <a:off x="6315966" y="2020608"/>
            <a:ext cx="5585981" cy="3008591"/>
            <a:chOff x="6852735" y="2229162"/>
            <a:chExt cx="4869623" cy="24270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61DDBB3-F1D8-CECE-C176-C120210C3F14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B2A7B89-DBF5-8E0C-225F-DBDFB50A1A38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1800" b="1" noProof="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waktuPengumpulan</a:t>
              </a:r>
              <a:r>
                <a:rPr lang="id-ID" sz="18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&lt;= </a:t>
              </a:r>
              <a:r>
                <a:rPr lang="id-ID" sz="1800" b="1" noProof="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deadline</a:t>
              </a:r>
              <a:r>
                <a:rPr lang="id-ID" sz="18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352425"/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(“Tugas dikumpulkan tepat waktu”)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else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{</a:t>
              </a:r>
            </a:p>
            <a:p>
              <a:pPr marL="354013"/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(”Tugas terlambat!”)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568FF89-9870-4BFE-F0A4-21C7B2D0EB3C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F281960-46BE-490F-01F7-4EB874904137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14A3DA0-5D5D-54CA-808E-1FDC23670EE2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535EC82-4BEC-72FA-A39C-E14BD29051A6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DAC1851-35B7-915B-8FD0-89CBE022E327}"/>
                </a:ext>
              </a:extLst>
            </p:cNvPr>
            <p:cNvSpPr txBox="1"/>
            <p:nvPr/>
          </p:nvSpPr>
          <p:spPr>
            <a:xfrm>
              <a:off x="6926164" y="2280364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CCA8974-F7DE-76BC-1E0E-DAE1B36C0D89}"/>
              </a:ext>
            </a:extLst>
          </p:cNvPr>
          <p:cNvGrpSpPr/>
          <p:nvPr/>
        </p:nvGrpSpPr>
        <p:grpSpPr>
          <a:xfrm>
            <a:off x="290053" y="2022475"/>
            <a:ext cx="5755157" cy="3006725"/>
            <a:chOff x="6852735" y="2229161"/>
            <a:chExt cx="4869623" cy="242700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797CE81-895D-B8EE-0273-4B0D36ED03AC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D6098EE-63AE-D156-8192-8829F8CB258D}"/>
                </a:ext>
              </a:extLst>
            </p:cNvPr>
            <p:cNvSpPr/>
            <p:nvPr/>
          </p:nvSpPr>
          <p:spPr>
            <a:xfrm>
              <a:off x="6852735" y="2229161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1800" b="1" noProof="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isLogin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273050"/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(“Selamat datang di SIAKAD”)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else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{</a:t>
              </a:r>
            </a:p>
            <a:p>
              <a:pPr marL="265113"/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Login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gagal,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silahkan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coba lagi”)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85B334E-1387-B803-4AF6-27B090446A79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E2F7AA7-9772-97D2-EBAA-692DDF3A1568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53CBCA8-188E-D9E3-1675-DEFB7BBACAEC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055D879-BBE4-4200-8BE2-1FC5552D39A6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2FB9CA7-FE9D-27CB-6530-E6E2102ADB3C}"/>
                </a:ext>
              </a:extLst>
            </p:cNvPr>
            <p:cNvSpPr txBox="1"/>
            <p:nvPr/>
          </p:nvSpPr>
          <p:spPr>
            <a:xfrm>
              <a:off x="6926164" y="2280363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5" name="Google Shape;134;p7">
            <a:extLst>
              <a:ext uri="{FF2B5EF4-FFF2-40B4-BE49-F238E27FC236}">
                <a16:creationId xmlns:a16="http://schemas.microsoft.com/office/drawing/2014/main" id="{E8F834FF-8E84-32EF-4B10-BDA36C0053C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Overlock"/>
              <a:buNone/>
            </a:pP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Contoh Penggunaan IF-ELSE</a:t>
            </a:r>
            <a:endParaRPr lang="id-ID" sz="4400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616861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3A667-5D01-1CB3-658A-9405E792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4;p7">
            <a:extLst>
              <a:ext uri="{FF2B5EF4-FFF2-40B4-BE49-F238E27FC236}">
                <a16:creationId xmlns:a16="http://schemas.microsoft.com/office/drawing/2014/main" id="{D5A0F215-DBBA-F3D9-03EA-3CB35277EDD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Overlock"/>
              <a:buNone/>
            </a:pPr>
            <a:r>
              <a:rPr lang="id-ID" sz="4400" b="1" noProof="0" dirty="0" err="1">
                <a:latin typeface="Overlock"/>
                <a:ea typeface="Overlock"/>
                <a:cs typeface="Overlock"/>
                <a:sym typeface="Overlock"/>
              </a:rPr>
              <a:t>Flowchart</a:t>
            </a: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id-ID" sz="4400" b="1" noProof="0" dirty="0" err="1">
                <a:latin typeface="Overlock"/>
                <a:ea typeface="Overlock"/>
                <a:cs typeface="Overlock"/>
                <a:sym typeface="Overlock"/>
              </a:rPr>
              <a:t>Pseudocode</a:t>
            </a: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 IF-ELSE</a:t>
            </a:r>
            <a:endParaRPr lang="id-ID" sz="4400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422CC2-43C4-1BD2-EB1D-25893ECBCFD0}"/>
              </a:ext>
            </a:extLst>
          </p:cNvPr>
          <p:cNvSpPr/>
          <p:nvPr/>
        </p:nvSpPr>
        <p:spPr>
          <a:xfrm>
            <a:off x="6309852" y="2846566"/>
            <a:ext cx="3746090" cy="21385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Pernyataan-1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Pernyataan-2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97BEBD43-8BB8-211A-F881-5D62C47E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80" y="1690688"/>
            <a:ext cx="3458497" cy="445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5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1346723" y="2492897"/>
            <a:ext cx="8544949" cy="156962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800" b="1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Struktur Pemilihan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800" b="1" cap="none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IF-ELSE </a:t>
            </a:r>
            <a:r>
              <a:rPr lang="id-ID" sz="4800" b="1" cap="none" noProof="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IF-ELSE</a:t>
            </a:r>
            <a:endParaRPr lang="id-ID" sz="4800" b="1" cap="none" noProof="0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0A06367-BEC9-EC6B-4D28-2A86A567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580009CE-FEAA-3AD9-784F-F2E20C912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Contoh Pemilihan dengan Banyak Kondisi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02819-CE2C-2665-C618-41FDBCA7D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00000"/>
            </a:pPr>
            <a:r>
              <a:rPr lang="id-ID" sz="2400" noProof="0" dirty="0"/>
              <a:t>Saat berkendara menuju kampus, kita sering bertemu lampu lalu lintas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05F30-9072-3AE6-3689-429C706E837B}"/>
              </a:ext>
            </a:extLst>
          </p:cNvPr>
          <p:cNvSpPr txBox="1"/>
          <p:nvPr/>
        </p:nvSpPr>
        <p:spPr>
          <a:xfrm>
            <a:off x="4423581" y="2575904"/>
            <a:ext cx="60082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Setiap warna lampu adalah </a:t>
            </a:r>
            <a:r>
              <a:rPr lang="id-ID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aksi kita tergantung pada kondisi tersebut.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id-ID" sz="24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Merah </a:t>
            </a:r>
            <a:r>
              <a:rPr lang="id-ID" sz="24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Berhenti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id-ID" sz="24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Hijau </a:t>
            </a:r>
            <a:r>
              <a:rPr lang="id-ID" sz="24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Jalan terus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id-ID" sz="24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Kuning </a:t>
            </a:r>
            <a:r>
              <a:rPr lang="id-ID" sz="24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Bersiap, hati-hati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4A7C1F-529C-3A63-E56B-067F80417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141" y="2575904"/>
            <a:ext cx="20955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9E40B4-7BA4-2580-222A-7400B2F50AC2}"/>
              </a:ext>
            </a:extLst>
          </p:cNvPr>
          <p:cNvSpPr/>
          <p:nvPr/>
        </p:nvSpPr>
        <p:spPr>
          <a:xfrm>
            <a:off x="4541568" y="4758506"/>
            <a:ext cx="6008297" cy="15212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d-ID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 contoh ini kita bisa lihat kalau </a:t>
            </a:r>
            <a:r>
              <a:rPr lang="id-ID" sz="2200" noProof="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tidak hanya ada dua kemungkinan</a:t>
            </a:r>
            <a:r>
              <a:rPr lang="id-ID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tapi ada beberapa kondisi yang berbeda. Dalam pemrograman, situasi seperti ini bisa ditangani dengan struktur </a:t>
            </a:r>
            <a:r>
              <a:rPr lang="id-ID" sz="22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– ELSE IF – ELSE</a:t>
            </a:r>
            <a:r>
              <a:rPr lang="id-ID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37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8C0981B-E0D4-3C4C-CC73-ECE7EF0E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>
            <a:extLst>
              <a:ext uri="{FF2B5EF4-FFF2-40B4-BE49-F238E27FC236}">
                <a16:creationId xmlns:a16="http://schemas.microsoft.com/office/drawing/2014/main" id="{870E39B8-3803-33CD-5D6D-6BF16AEB3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Struktur Pemilihan IF-ELSE </a:t>
            </a: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IF-ELSE</a:t>
            </a:r>
            <a:endParaRPr lang="id-ID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5" name="Google Shape;135;p7">
            <a:extLst>
              <a:ext uri="{FF2B5EF4-FFF2-40B4-BE49-F238E27FC236}">
                <a16:creationId xmlns:a16="http://schemas.microsoft.com/office/drawing/2014/main" id="{07B0325E-0D7D-399E-42EB-D5410ED42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id-ID" noProof="0" dirty="0" err="1"/>
              <a:t>Sintaks</a:t>
            </a:r>
            <a:r>
              <a:rPr lang="id-ID" noProof="0" dirty="0"/>
              <a:t> pada Java:</a:t>
            </a:r>
          </a:p>
        </p:txBody>
      </p:sp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A82DE120-6A03-3A94-AB08-A5BC61D4F31D}"/>
              </a:ext>
            </a:extLst>
          </p:cNvPr>
          <p:cNvSpPr txBox="1"/>
          <p:nvPr/>
        </p:nvSpPr>
        <p:spPr>
          <a:xfrm>
            <a:off x="5869858" y="2021978"/>
            <a:ext cx="5890771" cy="418572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Pernyataan-1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akan dieksekusi apabila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kondisi-1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bernilai </a:t>
            </a:r>
            <a:r>
              <a:rPr lang="id-ID" sz="28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kondisi-1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bernilai </a:t>
            </a:r>
            <a:r>
              <a:rPr lang="id-ID" sz="2800" b="1" noProof="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SALAH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maka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kondisi-2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akan dicek.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Jika kondisi-2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d-ID" sz="28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maka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Pernyataan-2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dieksekusi, dst.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Jika tidak ada </a:t>
            </a:r>
            <a:r>
              <a:rPr lang="id-ID" sz="28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satupun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kondisi yang terpenuhi, maka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Pernyataan-x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akan dieksekusi.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endParaRPr lang="id-ID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1207D0-D650-B76D-F211-F3BA2C8F5234}"/>
              </a:ext>
            </a:extLst>
          </p:cNvPr>
          <p:cNvSpPr/>
          <p:nvPr/>
        </p:nvSpPr>
        <p:spPr>
          <a:xfrm>
            <a:off x="956187" y="2460408"/>
            <a:ext cx="3746090" cy="403246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kondisi-1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Pernyataan-1;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kondisi-2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Pernyataan-2;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kondisi-3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Pernyataan-3;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algn="just"/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Pernyataan-x;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204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17D0-0373-AD8F-96CA-D7CAD3C1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FF3A803-D1B0-9C40-A72B-283E09E23215}"/>
              </a:ext>
            </a:extLst>
          </p:cNvPr>
          <p:cNvGrpSpPr/>
          <p:nvPr/>
        </p:nvGrpSpPr>
        <p:grpSpPr>
          <a:xfrm>
            <a:off x="1994256" y="1690688"/>
            <a:ext cx="6869523" cy="4267660"/>
            <a:chOff x="6852735" y="2229161"/>
            <a:chExt cx="4869623" cy="242700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5C4BD53-758F-D5D2-CFF7-9FEA8E0C04CB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583BDD4-5953-0456-178C-91A44EA8A0AD}"/>
                </a:ext>
              </a:extLst>
            </p:cNvPr>
            <p:cNvSpPr/>
            <p:nvPr/>
          </p:nvSpPr>
          <p:spPr>
            <a:xfrm>
              <a:off x="6852735" y="2229161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20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id-ID" sz="20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20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kendaraan == ”mobil”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273050"/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(“Biaya parkir Rp 5.000”)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else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20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kendaraan == ”sepeda motor”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273050"/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(“Biaya parkir Rp 3.000”)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else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20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kendaraan == ”sepeda”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 marL="265113"/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(“Biaya parkir Rp 2.000”)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else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{</a:t>
              </a:r>
            </a:p>
            <a:p>
              <a:pPr marL="265113"/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(“Jenis kendaraan tidak dikenal”)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C40B306-1A3A-A543-8330-1DDDE8C037A6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3F7850D-A183-C880-1C2D-D8795ED25C7E}"/>
                </a:ext>
              </a:extLst>
            </p:cNvPr>
            <p:cNvSpPr/>
            <p:nvPr/>
          </p:nvSpPr>
          <p:spPr>
            <a:xfrm>
              <a:off x="10485564" y="2353797"/>
              <a:ext cx="204876" cy="163785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50466AD-97B1-BA85-F745-CE137A03180D}"/>
                </a:ext>
              </a:extLst>
            </p:cNvPr>
            <p:cNvSpPr/>
            <p:nvPr/>
          </p:nvSpPr>
          <p:spPr>
            <a:xfrm>
              <a:off x="10838644" y="2353797"/>
              <a:ext cx="204876" cy="163785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7FD5940-B9EF-DA14-72B6-C12518747C43}"/>
                </a:ext>
              </a:extLst>
            </p:cNvPr>
            <p:cNvSpPr/>
            <p:nvPr/>
          </p:nvSpPr>
          <p:spPr>
            <a:xfrm>
              <a:off x="11191724" y="2356973"/>
              <a:ext cx="204876" cy="163785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E86FA8-CF40-7371-1E50-CFCA9B8B29AC}"/>
                </a:ext>
              </a:extLst>
            </p:cNvPr>
            <p:cNvSpPr txBox="1"/>
            <p:nvPr/>
          </p:nvSpPr>
          <p:spPr>
            <a:xfrm>
              <a:off x="6926164" y="2280363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5" name="Google Shape;134;p7">
            <a:extLst>
              <a:ext uri="{FF2B5EF4-FFF2-40B4-BE49-F238E27FC236}">
                <a16:creationId xmlns:a16="http://schemas.microsoft.com/office/drawing/2014/main" id="{3AD42A10-969B-A2BE-2D75-D3F18E5344A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Overlock"/>
              <a:buNone/>
            </a:pP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Contoh Penggunaan IF-ELSE </a:t>
            </a:r>
            <a:r>
              <a:rPr lang="id-ID" sz="4400" b="1" noProof="0" dirty="0" err="1">
                <a:latin typeface="Overlock"/>
                <a:ea typeface="Overlock"/>
                <a:cs typeface="Overlock"/>
                <a:sym typeface="Overlock"/>
              </a:rPr>
              <a:t>IF-ELSE</a:t>
            </a:r>
            <a:endParaRPr lang="id-ID" sz="4400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3948129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DCFF60EF-76B8-59AB-4B74-00C60816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39" y="1443458"/>
            <a:ext cx="7228399" cy="3753440"/>
          </a:xfrm>
          <a:prstGeom prst="rect">
            <a:avLst/>
          </a:prstGeom>
        </p:spPr>
      </p:pic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Flowchart</a:t>
            </a: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Pseudocode</a:t>
            </a: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 IF-ELSE </a:t>
            </a: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IF-ELSE</a:t>
            </a:r>
            <a:endParaRPr lang="id-ID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81F1A6-626E-8814-115D-A56CE8F89309}"/>
              </a:ext>
            </a:extLst>
          </p:cNvPr>
          <p:cNvSpPr/>
          <p:nvPr/>
        </p:nvSpPr>
        <p:spPr>
          <a:xfrm>
            <a:off x="7414368" y="3320178"/>
            <a:ext cx="4326193" cy="31726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kondisi-1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Pernyataan-1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kondisi-2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Pernyataan-2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kondisi-3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THEN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Pernyataan-3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Pernyataan-x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1392071" y="2329123"/>
            <a:ext cx="9703559" cy="156966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800" b="1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Struktur Pemilihan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800" b="1" cap="none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SWITCH-CASE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verlock"/>
              <a:buNone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Struktur Pemilihan SWITCH-CASE</a:t>
            </a:r>
            <a:endParaRPr lang="id-ID" sz="4800" noProof="0" dirty="0"/>
          </a:p>
        </p:txBody>
      </p:sp>
      <p:sp>
        <p:nvSpPr>
          <p:cNvPr id="213" name="Google Shape;21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id-ID" noProof="0" dirty="0" err="1"/>
              <a:t>Sintaks</a:t>
            </a:r>
            <a:r>
              <a:rPr lang="id-ID" noProof="0" dirty="0"/>
              <a:t> pada Java: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BF197-7B52-7BC1-1240-4AF6B85886B4}"/>
              </a:ext>
            </a:extLst>
          </p:cNvPr>
          <p:cNvSpPr/>
          <p:nvPr/>
        </p:nvSpPr>
        <p:spPr>
          <a:xfrm>
            <a:off x="956187" y="2460408"/>
            <a:ext cx="3746090" cy="403246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variabel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2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Konstanta-1: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Pernyataan-1;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2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2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Konstanta-2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Pernyataan-2;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2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2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Pernyataan-x;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Google Shape;137;p7">
            <a:extLst>
              <a:ext uri="{FF2B5EF4-FFF2-40B4-BE49-F238E27FC236}">
                <a16:creationId xmlns:a16="http://schemas.microsoft.com/office/drawing/2014/main" id="{5FE828B6-FFEC-18AB-5653-4DF4955A6EBB}"/>
              </a:ext>
            </a:extLst>
          </p:cNvPr>
          <p:cNvSpPr txBox="1"/>
          <p:nvPr/>
        </p:nvSpPr>
        <p:spPr>
          <a:xfrm>
            <a:off x="5456903" y="2021978"/>
            <a:ext cx="6430297" cy="440116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Sintaks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pemilihan ini menjalankan </a:t>
            </a:r>
            <a:r>
              <a:rPr lang="id-ID" sz="2800" noProof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salah satu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dari beberapa pernyataan </a:t>
            </a:r>
            <a:r>
              <a:rPr lang="id-ID" sz="2800" b="1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case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sesuai dengan nilai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variabel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yang ada di dalam </a:t>
            </a:r>
            <a:r>
              <a:rPr lang="id-ID" sz="2800" b="1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switch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Proses akan dilanjutkan sampai ditemukan pernyataan </a:t>
            </a:r>
            <a:r>
              <a:rPr lang="id-ID" sz="2800" b="1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break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Jika tidak ada nilai pada </a:t>
            </a:r>
            <a:r>
              <a:rPr lang="id-ID" sz="2800" b="1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case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yang sesuai dengan nilai </a:t>
            </a:r>
            <a:r>
              <a:rPr lang="id-ID" sz="28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kondisi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maka proses akan dilanjutkan ke pernyataan yang ada di dalam </a:t>
            </a:r>
            <a:r>
              <a:rPr lang="id-ID" sz="2800" b="1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default</a:t>
            </a:r>
            <a:r>
              <a:rPr lang="id-ID" sz="2800" noProof="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C2F5-84A3-C5F8-E347-7504087D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300B8E-FB59-32CF-383A-02C617BAB989}"/>
              </a:ext>
            </a:extLst>
          </p:cNvPr>
          <p:cNvGrpSpPr/>
          <p:nvPr/>
        </p:nvGrpSpPr>
        <p:grpSpPr>
          <a:xfrm>
            <a:off x="1994256" y="1690688"/>
            <a:ext cx="6869523" cy="4802187"/>
            <a:chOff x="6852735" y="2229161"/>
            <a:chExt cx="4869623" cy="242700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DB17755-5DD9-25EF-93E9-6EEF36CBE7A2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979E888-5195-3E73-B1A2-2A6FA213D87B}"/>
                </a:ext>
              </a:extLst>
            </p:cNvPr>
            <p:cNvSpPr/>
            <p:nvPr/>
          </p:nvSpPr>
          <p:spPr>
            <a:xfrm>
              <a:off x="6852735" y="2229161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switch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</a:t>
              </a:r>
              <a:r>
                <a:rPr lang="id-ID" sz="18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menu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){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case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18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1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("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Input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Nilai”)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break</a:t>
              </a:r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case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18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2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("Lihat Transkrip”)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break</a:t>
              </a:r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case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id-ID" sz="1800" b="1" noProof="0" dirty="0">
                  <a:solidFill>
                    <a:srgbClr val="0070C0"/>
                  </a:solidFill>
                  <a:latin typeface="Consolas" panose="020B0609020204030204" pitchFamily="49" charset="0"/>
                </a:rPr>
                <a:t>3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("Cetak KRS”)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break</a:t>
              </a:r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default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("Menu tidak valid”)</a:t>
              </a: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D40169-D6BC-2D5A-7DDD-4DD234800AE5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BBB119C-7D67-A20B-3727-979625FBE10D}"/>
                </a:ext>
              </a:extLst>
            </p:cNvPr>
            <p:cNvSpPr/>
            <p:nvPr/>
          </p:nvSpPr>
          <p:spPr>
            <a:xfrm>
              <a:off x="10485564" y="2353797"/>
              <a:ext cx="204876" cy="145554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9715E1C-84BC-B3B4-CFD0-3CD2E6A8FC0B}"/>
                </a:ext>
              </a:extLst>
            </p:cNvPr>
            <p:cNvSpPr/>
            <p:nvPr/>
          </p:nvSpPr>
          <p:spPr>
            <a:xfrm>
              <a:off x="10838644" y="2353797"/>
              <a:ext cx="204876" cy="145554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C1BCCBA-3629-9586-20BF-7C311FF91C50}"/>
                </a:ext>
              </a:extLst>
            </p:cNvPr>
            <p:cNvSpPr/>
            <p:nvPr/>
          </p:nvSpPr>
          <p:spPr>
            <a:xfrm>
              <a:off x="11191724" y="2356973"/>
              <a:ext cx="204876" cy="145554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E7BE6ED-DEB4-5EA6-26C8-3D1210394C35}"/>
                </a:ext>
              </a:extLst>
            </p:cNvPr>
            <p:cNvSpPr txBox="1"/>
            <p:nvPr/>
          </p:nvSpPr>
          <p:spPr>
            <a:xfrm>
              <a:off x="6926164" y="2280363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5" name="Google Shape;134;p7">
            <a:extLst>
              <a:ext uri="{FF2B5EF4-FFF2-40B4-BE49-F238E27FC236}">
                <a16:creationId xmlns:a16="http://schemas.microsoft.com/office/drawing/2014/main" id="{9106A1C8-36FB-F242-4782-498C9806D9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Overlock"/>
              <a:buNone/>
            </a:pPr>
            <a:r>
              <a:rPr lang="id-ID" sz="4400" b="1" noProof="0" dirty="0">
                <a:latin typeface="Overlock"/>
                <a:ea typeface="Overlock"/>
                <a:cs typeface="Overlock"/>
                <a:sym typeface="Overlock"/>
              </a:rPr>
              <a:t>Contoh Penggunaan SWITCH-CASE</a:t>
            </a:r>
            <a:endParaRPr lang="id-ID" sz="4400" noProof="0" dirty="0">
              <a:latin typeface="Overlock"/>
              <a:ea typeface="Overlock"/>
              <a:cs typeface="Overlock"/>
              <a:sym typeface="Overlock"/>
            </a:endParaRPr>
          </a:p>
        </p:txBody>
      </p:sp>
    </p:spTree>
    <p:extLst>
      <p:ext uri="{BB962C8B-B14F-4D97-AF65-F5344CB8AC3E}">
        <p14:creationId xmlns:p14="http://schemas.microsoft.com/office/powerpoint/2010/main" val="366049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320CE8D7-84B6-86A0-3B84-5EA0D8A7E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02" y="1253328"/>
            <a:ext cx="5365566" cy="5486685"/>
          </a:xfrm>
          <a:prstGeom prst="rect">
            <a:avLst/>
          </a:prstGeom>
        </p:spPr>
      </p:pic>
      <p:sp>
        <p:nvSpPr>
          <p:cNvPr id="8" name="Google Shape;193;p16">
            <a:extLst>
              <a:ext uri="{FF2B5EF4-FFF2-40B4-BE49-F238E27FC236}">
                <a16:creationId xmlns:a16="http://schemas.microsoft.com/office/drawing/2014/main" id="{7F3ABD3E-E288-8F51-3465-864183F06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Flowchart</a:t>
            </a: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 dan </a:t>
            </a: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Pseudocode</a:t>
            </a: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 SWITCH-CASE</a:t>
            </a:r>
            <a:endParaRPr lang="id-ID" noProof="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FA2961-86EA-5093-26E2-34D4768F3D05}"/>
              </a:ext>
            </a:extLst>
          </p:cNvPr>
          <p:cNvSpPr/>
          <p:nvPr/>
        </p:nvSpPr>
        <p:spPr>
          <a:xfrm>
            <a:off x="7296381" y="2266772"/>
            <a:ext cx="4326193" cy="322153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SWITCH (</a:t>
            </a:r>
            <a:r>
              <a:rPr lang="id-ID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variabel</a:t>
            </a:r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konstanta-1: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Pernyataan-1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konstanta-2: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Pernyataan-2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DEFAULT: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Pernyataan-x</a:t>
            </a:r>
          </a:p>
          <a:p>
            <a:pPr algn="just"/>
            <a:r>
              <a:rPr lang="id-ID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E3295-A206-7EC9-CF8C-6E74767CC318}"/>
              </a:ext>
            </a:extLst>
          </p:cNvPr>
          <p:cNvSpPr txBox="1"/>
          <p:nvPr/>
        </p:nvSpPr>
        <p:spPr>
          <a:xfrm>
            <a:off x="6697068" y="5604672"/>
            <a:ext cx="5200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</a:t>
            </a:r>
            <a:r>
              <a:rPr lang="id-ID" sz="20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pseudocode</a:t>
            </a:r>
            <a:r>
              <a:rPr lang="id-ID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tidak perlu menuliskan </a:t>
            </a:r>
            <a:r>
              <a:rPr lang="id-ID" sz="2000" b="1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</a:t>
            </a:r>
            <a:endParaRPr lang="id-ID" sz="2000" b="1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5E0D342E-F563-CED0-DC51-998CE228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>
            <a:extLst>
              <a:ext uri="{FF2B5EF4-FFF2-40B4-BE49-F238E27FC236}">
                <a16:creationId xmlns:a16="http://schemas.microsoft.com/office/drawing/2014/main" id="{C3A6BE39-3A84-6899-A992-8C4456DD7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Memilih Struktur Pemilihan yang Tepat</a:t>
            </a:r>
            <a:endParaRPr lang="id-ID" noProof="0" dirty="0"/>
          </a:p>
        </p:txBody>
      </p:sp>
      <p:sp>
        <p:nvSpPr>
          <p:cNvPr id="244" name="Google Shape;244;p24">
            <a:extLst>
              <a:ext uri="{FF2B5EF4-FFF2-40B4-BE49-F238E27FC236}">
                <a16:creationId xmlns:a16="http://schemas.microsoft.com/office/drawing/2014/main" id="{568C6939-D31D-4C84-7089-9D8E013C4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LcPeriod"/>
            </a:pPr>
            <a:r>
              <a:rPr lang="id-ID" noProof="0" dirty="0"/>
              <a:t>IF </a:t>
            </a:r>
            <a:r>
              <a:rPr lang="id-ID" noProof="0" dirty="0">
                <a:sym typeface="Wingdings" panose="05000000000000000000" pitchFamily="2" charset="2"/>
              </a:rPr>
              <a:t> untuk kondisi sederhana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LcPeriod"/>
            </a:pPr>
            <a:r>
              <a:rPr lang="id-ID" noProof="0" dirty="0">
                <a:sym typeface="Wingdings" panose="05000000000000000000" pitchFamily="2" charset="2"/>
              </a:rPr>
              <a:t>IF-ELSE  jika ada dua kondisi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LcPeriod"/>
            </a:pPr>
            <a:r>
              <a:rPr lang="id-ID" noProof="0" dirty="0">
                <a:sym typeface="Wingdings" panose="05000000000000000000" pitchFamily="2" charset="2"/>
              </a:rPr>
              <a:t>IF-ELSE </a:t>
            </a:r>
            <a:r>
              <a:rPr lang="id-ID" noProof="0" dirty="0" err="1">
                <a:sym typeface="Wingdings" panose="05000000000000000000" pitchFamily="2" charset="2"/>
              </a:rPr>
              <a:t>IF-ELSE</a:t>
            </a:r>
            <a:r>
              <a:rPr lang="id-ID" noProof="0" dirty="0">
                <a:sym typeface="Wingdings" panose="05000000000000000000" pitchFamily="2" charset="2"/>
              </a:rPr>
              <a:t>  jika ada banyak kategori (kondisi lebih dari dua)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LcPeriod"/>
            </a:pPr>
            <a:r>
              <a:rPr lang="id-ID" noProof="0" dirty="0">
                <a:sym typeface="Wingdings" panose="05000000000000000000" pitchFamily="2" charset="2"/>
              </a:rPr>
              <a:t>SWITCH-CASE  jika pilihan tetap dan jumlah banyak</a:t>
            </a:r>
          </a:p>
        </p:txBody>
      </p:sp>
    </p:spTree>
    <p:extLst>
      <p:ext uri="{BB962C8B-B14F-4D97-AF65-F5344CB8AC3E}">
        <p14:creationId xmlns:p14="http://schemas.microsoft.com/office/powerpoint/2010/main" val="3594586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/>
          <p:nvPr/>
        </p:nvSpPr>
        <p:spPr>
          <a:xfrm>
            <a:off x="1606031" y="2658098"/>
            <a:ext cx="8544949" cy="1015663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6000" b="1" noProof="0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Ternary</a:t>
            </a:r>
            <a:r>
              <a:rPr lang="id-ID" sz="6000" b="1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Operator </a:t>
            </a:r>
            <a:endParaRPr lang="id-ID" sz="6000" b="1" cap="none" noProof="0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Ternary</a:t>
            </a: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 Operator ( ? : )</a:t>
            </a:r>
            <a:endParaRPr lang="id-ID" noProof="0" dirty="0"/>
          </a:p>
        </p:txBody>
      </p:sp>
      <p:sp>
        <p:nvSpPr>
          <p:cNvPr id="244" name="Google Shape;244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d-ID" noProof="0" dirty="0"/>
              <a:t>Bentuk singkat dari </a:t>
            </a:r>
            <a:r>
              <a:rPr lang="id-ID" noProof="0" dirty="0">
                <a:solidFill>
                  <a:srgbClr val="0070C0"/>
                </a:solidFill>
              </a:rPr>
              <a:t>IF-ELSE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d-ID" noProof="0" dirty="0"/>
              <a:t>Hanya digunakan jika ada </a:t>
            </a:r>
            <a:r>
              <a:rPr lang="id-ID" b="1" noProof="0" dirty="0"/>
              <a:t>satu pernyataan </a:t>
            </a:r>
            <a:r>
              <a:rPr lang="id-ID" noProof="0" dirty="0"/>
              <a:t>untuk kondisi </a:t>
            </a:r>
            <a:r>
              <a:rPr lang="id-ID" b="1" noProof="0" dirty="0">
                <a:solidFill>
                  <a:srgbClr val="00B050"/>
                </a:solidFill>
              </a:rPr>
              <a:t>BENAR</a:t>
            </a:r>
            <a:r>
              <a:rPr lang="id-ID" noProof="0" dirty="0"/>
              <a:t> dan </a:t>
            </a:r>
            <a:r>
              <a:rPr lang="id-ID" b="1" noProof="0" dirty="0">
                <a:solidFill>
                  <a:srgbClr val="C00000"/>
                </a:solidFill>
              </a:rPr>
              <a:t>SALAH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d-ID" noProof="0" dirty="0" err="1"/>
              <a:t>Sintaks</a:t>
            </a:r>
            <a:r>
              <a:rPr lang="id-ID" noProof="0" dirty="0"/>
              <a:t>: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id-ID" noProof="0" dirty="0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id-ID" noProof="0" dirty="0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d-ID" noProof="0" dirty="0" err="1"/>
              <a:t>Ternary</a:t>
            </a:r>
            <a:r>
              <a:rPr lang="id-ID" noProof="0" dirty="0"/>
              <a:t> operator </a:t>
            </a:r>
            <a:r>
              <a:rPr lang="id-ID" b="1" noProof="0" dirty="0"/>
              <a:t>hanya cara singkat di kode program</a:t>
            </a:r>
            <a:r>
              <a:rPr lang="id-ID" noProof="0" dirty="0"/>
              <a:t>. Dalam </a:t>
            </a:r>
            <a:r>
              <a:rPr lang="id-ID" noProof="0" dirty="0" err="1"/>
              <a:t>pseudocode</a:t>
            </a:r>
            <a:r>
              <a:rPr lang="id-ID" noProof="0" dirty="0"/>
              <a:t>/</a:t>
            </a:r>
            <a:r>
              <a:rPr lang="id-ID" noProof="0" dirty="0" err="1"/>
              <a:t>flowchart</a:t>
            </a:r>
            <a:r>
              <a:rPr lang="id-ID" noProof="0" dirty="0"/>
              <a:t>, tetap digunakan IF-ELSE</a:t>
            </a:r>
          </a:p>
        </p:txBody>
      </p:sp>
      <p:sp>
        <p:nvSpPr>
          <p:cNvPr id="245" name="Google Shape;245;p24"/>
          <p:cNvSpPr txBox="1"/>
          <p:nvPr/>
        </p:nvSpPr>
        <p:spPr>
          <a:xfrm>
            <a:off x="1019021" y="3884141"/>
            <a:ext cx="8744412" cy="461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d-ID" sz="2400" noProof="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 (Kondisi) ? </a:t>
            </a:r>
            <a:r>
              <a:rPr lang="id-ID" sz="2400" noProof="0" dirty="0" err="1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aksi_jika_benar</a:t>
            </a:r>
            <a:r>
              <a:rPr lang="id-ID" sz="2400" noProof="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: </a:t>
            </a:r>
            <a:r>
              <a:rPr lang="id-ID" sz="2400" noProof="0" dirty="0" err="1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aksi_jika_salah</a:t>
            </a:r>
            <a:endParaRPr lang="id-ID" sz="11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3B7ABFC8-3BC6-603A-C69D-C806291B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>
            <a:extLst>
              <a:ext uri="{FF2B5EF4-FFF2-40B4-BE49-F238E27FC236}">
                <a16:creationId xmlns:a16="http://schemas.microsoft.com/office/drawing/2014/main" id="{F620DB04-C3C7-38BE-2B2C-A60D50F7D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Contoh Penggunaan </a:t>
            </a:r>
            <a:r>
              <a:rPr lang="id-ID" b="1" noProof="0" dirty="0" err="1">
                <a:latin typeface="Overlock"/>
                <a:ea typeface="Overlock"/>
                <a:cs typeface="Overlock"/>
                <a:sym typeface="Overlock"/>
              </a:rPr>
              <a:t>Ternary</a:t>
            </a: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 Operator </a:t>
            </a:r>
            <a:endParaRPr lang="id-ID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437F36-DF16-D9E3-6702-FC1CB3553251}"/>
              </a:ext>
            </a:extLst>
          </p:cNvPr>
          <p:cNvGrpSpPr/>
          <p:nvPr/>
        </p:nvGrpSpPr>
        <p:grpSpPr>
          <a:xfrm>
            <a:off x="838200" y="1749680"/>
            <a:ext cx="6875206" cy="2512602"/>
            <a:chOff x="6852735" y="2229161"/>
            <a:chExt cx="4869623" cy="242700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E8E749A-A86B-B852-A060-08C1B580C031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81FD998-F4AA-37AC-938B-4CA4285A6958}"/>
                </a:ext>
              </a:extLst>
            </p:cNvPr>
            <p:cNvSpPr/>
            <p:nvPr/>
          </p:nvSpPr>
          <p:spPr>
            <a:xfrm>
              <a:off x="6852735" y="2229161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20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(saldo &gt;= 20000) {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pesan = "Bisa beli kopi kekinian";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 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else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pesan = "Saldo tidak cukup, top-</a:t>
              </a:r>
              <a:r>
                <a:rPr lang="id-ID" sz="20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up</a:t>
              </a:r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dulu";</a:t>
              </a:r>
            </a:p>
            <a:p>
              <a:r>
                <a:rPr lang="id-ID" sz="20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56ECAC4-E352-ED9F-6558-8D9B9895DB77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C57CBB-ECBE-C2CF-7A47-0F456F8D23CF}"/>
                </a:ext>
              </a:extLst>
            </p:cNvPr>
            <p:cNvSpPr/>
            <p:nvPr/>
          </p:nvSpPr>
          <p:spPr>
            <a:xfrm>
              <a:off x="10485564" y="2328636"/>
              <a:ext cx="152990" cy="208641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2804224-EB81-A456-EE18-93941245F3CD}"/>
                </a:ext>
              </a:extLst>
            </p:cNvPr>
            <p:cNvSpPr/>
            <p:nvPr/>
          </p:nvSpPr>
          <p:spPr>
            <a:xfrm>
              <a:off x="10838644" y="2328636"/>
              <a:ext cx="152990" cy="208641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51A00C-12A4-99EC-B912-D7C4D500811C}"/>
                </a:ext>
              </a:extLst>
            </p:cNvPr>
            <p:cNvSpPr/>
            <p:nvPr/>
          </p:nvSpPr>
          <p:spPr>
            <a:xfrm>
              <a:off x="11191724" y="2331812"/>
              <a:ext cx="152990" cy="208641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9422DF-8657-0004-0E2B-74933F5CD4DE}"/>
                </a:ext>
              </a:extLst>
            </p:cNvPr>
            <p:cNvSpPr txBox="1"/>
            <p:nvPr/>
          </p:nvSpPr>
          <p:spPr>
            <a:xfrm>
              <a:off x="6926164" y="2280363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B39C6E7-563D-707E-191A-EBA7CA5B2C77}"/>
              </a:ext>
            </a:extLst>
          </p:cNvPr>
          <p:cNvSpPr txBox="1"/>
          <p:nvPr/>
        </p:nvSpPr>
        <p:spPr>
          <a:xfrm>
            <a:off x="8388263" y="4332614"/>
            <a:ext cx="236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Ternary</a:t>
            </a:r>
            <a:r>
              <a:rPr lang="id-ID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Operator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93E094-D742-C2AE-DE5F-416926646284}"/>
              </a:ext>
            </a:extLst>
          </p:cNvPr>
          <p:cNvGrpSpPr/>
          <p:nvPr/>
        </p:nvGrpSpPr>
        <p:grpSpPr>
          <a:xfrm>
            <a:off x="373120" y="4856005"/>
            <a:ext cx="11620221" cy="1325563"/>
            <a:chOff x="6852735" y="2229161"/>
            <a:chExt cx="4869623" cy="242700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DD51BB1-6798-8D21-FAA7-58B74186B413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2F543F1-CD0B-12CA-4DE7-F43D3EF63C3C}"/>
                </a:ext>
              </a:extLst>
            </p:cNvPr>
            <p:cNvSpPr/>
            <p:nvPr/>
          </p:nvSpPr>
          <p:spPr>
            <a:xfrm>
              <a:off x="6852735" y="2229161"/>
              <a:ext cx="4744017" cy="2241048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id-ID" sz="18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pesan = (saldo &gt;= 20000) ? "Bisa beli kopi kekinian" : "Saldo tidak cukup, top-</a:t>
              </a:r>
              <a:r>
                <a:rPr lang="id-ID" sz="1800" noProof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up</a:t>
              </a:r>
              <a:r>
                <a:rPr lang="id-ID" sz="18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dulu";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B5E7E20-9D96-3D61-67BA-C0D849995AE2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848403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107D777-9A7A-6705-89D1-019D442DEC09}"/>
                </a:ext>
              </a:extLst>
            </p:cNvPr>
            <p:cNvSpPr/>
            <p:nvPr/>
          </p:nvSpPr>
          <p:spPr>
            <a:xfrm>
              <a:off x="10998547" y="2351364"/>
              <a:ext cx="75432" cy="332902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B42ED3-8E84-6223-2DAA-443430F10CB7}"/>
                </a:ext>
              </a:extLst>
            </p:cNvPr>
            <p:cNvSpPr/>
            <p:nvPr/>
          </p:nvSpPr>
          <p:spPr>
            <a:xfrm>
              <a:off x="11166208" y="2351364"/>
              <a:ext cx="75432" cy="332902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26E9E20-636C-89BB-F442-3E620D481E48}"/>
                </a:ext>
              </a:extLst>
            </p:cNvPr>
            <p:cNvSpPr/>
            <p:nvPr/>
          </p:nvSpPr>
          <p:spPr>
            <a:xfrm>
              <a:off x="11340054" y="2354541"/>
              <a:ext cx="75432" cy="332902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noProof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D1BAA9-51B7-B6C2-A063-B1FED7EF62EA}"/>
                </a:ext>
              </a:extLst>
            </p:cNvPr>
            <p:cNvSpPr txBox="1"/>
            <p:nvPr/>
          </p:nvSpPr>
          <p:spPr>
            <a:xfrm>
              <a:off x="6926163" y="2280363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id-ID" sz="1400" b="1" noProof="0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4238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1769803" y="2677459"/>
            <a:ext cx="8544949" cy="92333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5400" b="1" noProof="0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Contoh Studi Kasus</a:t>
            </a:r>
            <a:endParaRPr lang="id-ID" sz="5400" b="1" cap="none" noProof="0" dirty="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34FE6C8-9213-B02A-D179-C263F8AE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>
            <a:extLst>
              <a:ext uri="{FF2B5EF4-FFF2-40B4-BE49-F238E27FC236}">
                <a16:creationId xmlns:a16="http://schemas.microsoft.com/office/drawing/2014/main" id="{78171AE6-F653-3611-504D-1A8195331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Kasus 1</a:t>
            </a:r>
            <a:endParaRPr lang="id-ID" noProof="0" dirty="0"/>
          </a:p>
        </p:txBody>
      </p:sp>
      <p:sp>
        <p:nvSpPr>
          <p:cNvPr id="244" name="Google Shape;244;p24">
            <a:extLst>
              <a:ext uri="{FF2B5EF4-FFF2-40B4-BE49-F238E27FC236}">
                <a16:creationId xmlns:a16="http://schemas.microsoft.com/office/drawing/2014/main" id="{EB8B680A-8467-2D88-7498-54F126B1E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600"/>
              </a:spcBef>
              <a:buSzPts val="2800"/>
            </a:pPr>
            <a:r>
              <a:rPr lang="id-ID" noProof="0" dirty="0"/>
              <a:t>Seorang mahasiswa ingin mencetak kartu ujian. Sistem harus mengecek status pembayaran UKT terlebih dahulu.</a:t>
            </a:r>
          </a:p>
          <a:p>
            <a:pPr marL="633413" lvl="1">
              <a:spcBef>
                <a:spcPts val="600"/>
              </a:spcBef>
              <a:buSzPts val="2800"/>
              <a:buFont typeface="Courier New" panose="02070309020205020404" pitchFamily="49" charset="0"/>
              <a:buChar char="o"/>
            </a:pPr>
            <a:r>
              <a:rPr lang="id-ID" noProof="0" dirty="0"/>
              <a:t>Jika UKT sudah dibayar → mahasiswa dapat mencetak kartu ujian.</a:t>
            </a:r>
          </a:p>
          <a:p>
            <a:pPr marL="633413" lvl="1">
              <a:spcBef>
                <a:spcPts val="600"/>
              </a:spcBef>
              <a:buSzPts val="2800"/>
              <a:buFont typeface="Courier New" panose="02070309020205020404" pitchFamily="49" charset="0"/>
              <a:buChar char="o"/>
            </a:pPr>
            <a:r>
              <a:rPr lang="id-ID" noProof="0" dirty="0"/>
              <a:t>Jika UKT belum dibayar → sistem menolak pencetakan dan menampilkan pesan “Bayar UKT terlebih dahulu”.</a:t>
            </a:r>
          </a:p>
          <a:p>
            <a:pPr marL="228600" lvl="0" indent="-228600">
              <a:spcBef>
                <a:spcPts val="600"/>
              </a:spcBef>
              <a:buSzPts val="2800"/>
            </a:pPr>
            <a:r>
              <a:rPr lang="id-ID" noProof="0" dirty="0"/>
              <a:t>Buatlah </a:t>
            </a:r>
            <a:r>
              <a:rPr lang="id-ID" noProof="0" dirty="0" err="1"/>
              <a:t>flowchart</a:t>
            </a:r>
            <a:r>
              <a:rPr lang="id-ID" noProof="0" dirty="0"/>
              <a:t> dan </a:t>
            </a:r>
            <a:r>
              <a:rPr lang="id-ID" noProof="0" dirty="0" err="1"/>
              <a:t>pseudocode</a:t>
            </a:r>
            <a:r>
              <a:rPr lang="id-ID" noProof="0" dirty="0"/>
              <a:t> untuk menyelesaikan masalah tersebut!</a:t>
            </a:r>
          </a:p>
          <a:p>
            <a:pPr marL="228600" lvl="0" indent="-228600">
              <a:spcBef>
                <a:spcPts val="600"/>
              </a:spcBef>
              <a:buSzPts val="2800"/>
            </a:pPr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3724302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B29D-362A-C8CD-62C0-860F17EF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Kasus 1 (Jawaban)</a:t>
            </a:r>
            <a:endParaRPr lang="id-ID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11A9F1-7453-18A3-CF85-73C48338AA27}"/>
              </a:ext>
            </a:extLst>
          </p:cNvPr>
          <p:cNvSpPr/>
          <p:nvPr/>
        </p:nvSpPr>
        <p:spPr>
          <a:xfrm>
            <a:off x="688258" y="2657719"/>
            <a:ext cx="6238568" cy="19467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(UKT == "lunas") THEN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"Cetak kartu ujian berhasil"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tampilkan "Bayar UKT terlebih dahulu"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</p:txBody>
      </p:sp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E85EB803-DA40-87C9-07A4-3ECBA977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743" y="893506"/>
            <a:ext cx="4137999" cy="547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25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5AC0A1CA-CD88-BD95-F409-7EDF3633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>
            <a:extLst>
              <a:ext uri="{FF2B5EF4-FFF2-40B4-BE49-F238E27FC236}">
                <a16:creationId xmlns:a16="http://schemas.microsoft.com/office/drawing/2014/main" id="{55DE0C33-C6A4-C55C-C9A2-9F38CF13EE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Kasus 2</a:t>
            </a:r>
            <a:endParaRPr lang="id-ID" noProof="0" dirty="0"/>
          </a:p>
        </p:txBody>
      </p:sp>
      <p:sp>
        <p:nvSpPr>
          <p:cNvPr id="244" name="Google Shape;244;p24">
            <a:extLst>
              <a:ext uri="{FF2B5EF4-FFF2-40B4-BE49-F238E27FC236}">
                <a16:creationId xmlns:a16="http://schemas.microsoft.com/office/drawing/2014/main" id="{F2284660-D904-7F2C-5BBE-F1136DCE7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600"/>
              </a:spcBef>
              <a:buSzPts val="2800"/>
            </a:pPr>
            <a:r>
              <a:rPr lang="id-ID" noProof="0" dirty="0"/>
              <a:t>Di gedung JTI lantai 7 terdapat mesin pemesanan minuman otomatis. Mahasiswa dapat memilih menu:</a:t>
            </a:r>
          </a:p>
          <a:p>
            <a:pPr marL="633413" lvl="1">
              <a:spcBef>
                <a:spcPts val="600"/>
              </a:spcBef>
              <a:buSzPts val="2800"/>
              <a:buFont typeface="Courier New" panose="02070309020205020404" pitchFamily="49" charset="0"/>
              <a:buChar char="o"/>
            </a:pPr>
            <a:r>
              <a:rPr lang="id-ID" noProof="0" dirty="0"/>
              <a:t>Pilih 1 </a:t>
            </a:r>
            <a:r>
              <a:rPr lang="id-ID" noProof="0" dirty="0">
                <a:sym typeface="Wingdings" panose="05000000000000000000" pitchFamily="2" charset="2"/>
              </a:rPr>
              <a:t> </a:t>
            </a:r>
            <a:r>
              <a:rPr lang="id-ID" noProof="0" dirty="0" err="1">
                <a:sym typeface="Wingdings" panose="05000000000000000000" pitchFamily="2" charset="2"/>
              </a:rPr>
              <a:t>Cappuccino</a:t>
            </a:r>
            <a:endParaRPr lang="id-ID" noProof="0" dirty="0">
              <a:sym typeface="Wingdings" panose="05000000000000000000" pitchFamily="2" charset="2"/>
            </a:endParaRPr>
          </a:p>
          <a:p>
            <a:pPr marL="633413" lvl="1">
              <a:spcBef>
                <a:spcPts val="600"/>
              </a:spcBef>
              <a:buSzPts val="2800"/>
              <a:buFont typeface="Courier New" panose="02070309020205020404" pitchFamily="49" charset="0"/>
              <a:buChar char="o"/>
            </a:pPr>
            <a:r>
              <a:rPr lang="id-ID" noProof="0" dirty="0"/>
              <a:t>Pilih 2 </a:t>
            </a:r>
            <a:r>
              <a:rPr lang="id-ID" noProof="0" dirty="0">
                <a:sym typeface="Wingdings" panose="05000000000000000000" pitchFamily="2" charset="2"/>
              </a:rPr>
              <a:t> </a:t>
            </a:r>
            <a:r>
              <a:rPr lang="id-ID" noProof="0" dirty="0" err="1">
                <a:sym typeface="Wingdings" panose="05000000000000000000" pitchFamily="2" charset="2"/>
              </a:rPr>
              <a:t>Matcha</a:t>
            </a:r>
            <a:endParaRPr lang="id-ID" noProof="0" dirty="0">
              <a:sym typeface="Wingdings" panose="05000000000000000000" pitchFamily="2" charset="2"/>
            </a:endParaRPr>
          </a:p>
          <a:p>
            <a:pPr marL="633413" lvl="1">
              <a:spcBef>
                <a:spcPts val="600"/>
              </a:spcBef>
              <a:buSzPts val="2800"/>
              <a:buFont typeface="Courier New" panose="02070309020205020404" pitchFamily="49" charset="0"/>
              <a:buChar char="o"/>
            </a:pPr>
            <a:r>
              <a:rPr lang="id-ID" noProof="0" dirty="0">
                <a:sym typeface="Wingdings" panose="05000000000000000000" pitchFamily="2" charset="2"/>
              </a:rPr>
              <a:t>Pilih 3  </a:t>
            </a:r>
            <a:r>
              <a:rPr lang="id-ID" noProof="0" dirty="0" err="1">
                <a:sym typeface="Wingdings" panose="05000000000000000000" pitchFamily="2" charset="2"/>
              </a:rPr>
              <a:t>Oat</a:t>
            </a:r>
            <a:r>
              <a:rPr lang="id-ID" noProof="0" dirty="0">
                <a:sym typeface="Wingdings" panose="05000000000000000000" pitchFamily="2" charset="2"/>
              </a:rPr>
              <a:t> </a:t>
            </a:r>
            <a:r>
              <a:rPr lang="id-ID" noProof="0" dirty="0" err="1">
                <a:sym typeface="Wingdings" panose="05000000000000000000" pitchFamily="2" charset="2"/>
              </a:rPr>
              <a:t>milk</a:t>
            </a:r>
            <a:endParaRPr lang="id-ID" noProof="0" dirty="0">
              <a:sym typeface="Wingdings" panose="05000000000000000000" pitchFamily="2" charset="2"/>
            </a:endParaRPr>
          </a:p>
          <a:p>
            <a:pPr marL="633413" lvl="1">
              <a:spcBef>
                <a:spcPts val="600"/>
              </a:spcBef>
              <a:buSzPts val="2800"/>
              <a:buFont typeface="Courier New" panose="02070309020205020404" pitchFamily="49" charset="0"/>
              <a:buChar char="o"/>
            </a:pPr>
            <a:r>
              <a:rPr lang="id-ID" noProof="0" dirty="0">
                <a:sym typeface="Wingdings" panose="05000000000000000000" pitchFamily="2" charset="2"/>
              </a:rPr>
              <a:t>Pilih angka lain  Mencetak keterangan menu tidak tersedia</a:t>
            </a:r>
            <a:endParaRPr lang="id-ID" noProof="0" dirty="0"/>
          </a:p>
          <a:p>
            <a:pPr marL="228600" lvl="0" indent="-228600">
              <a:spcBef>
                <a:spcPts val="600"/>
              </a:spcBef>
              <a:buSzPts val="2800"/>
            </a:pPr>
            <a:r>
              <a:rPr lang="id-ID" noProof="0" dirty="0"/>
              <a:t>Buatlah </a:t>
            </a:r>
            <a:r>
              <a:rPr lang="id-ID" noProof="0" dirty="0" err="1"/>
              <a:t>flowchart</a:t>
            </a:r>
            <a:r>
              <a:rPr lang="id-ID" noProof="0" dirty="0"/>
              <a:t> dan </a:t>
            </a:r>
            <a:r>
              <a:rPr lang="id-ID" noProof="0" dirty="0" err="1"/>
              <a:t>pseudocode</a:t>
            </a:r>
            <a:r>
              <a:rPr lang="id-ID" noProof="0" dirty="0"/>
              <a:t> untuk menyelesaikan masalah tersebut!</a:t>
            </a:r>
          </a:p>
          <a:p>
            <a:pPr marL="228600" lvl="0" indent="-228600">
              <a:spcBef>
                <a:spcPts val="600"/>
              </a:spcBef>
              <a:buSzPts val="2800"/>
            </a:pPr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373370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36E8E-A47B-926A-443A-E71335CE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A331-A94B-4E26-00BC-5DC91B5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75629" cy="1325563"/>
          </a:xfrm>
        </p:spPr>
        <p:txBody>
          <a:bodyPr/>
          <a:lstStyle/>
          <a:p>
            <a:r>
              <a:rPr lang="id-ID" b="1" noProof="0" dirty="0">
                <a:latin typeface="Overlock"/>
                <a:ea typeface="Overlock"/>
                <a:cs typeface="Overlock"/>
                <a:sym typeface="Overlock"/>
              </a:rPr>
              <a:t>Kasus 2 (Jawaban)</a:t>
            </a:r>
            <a:endParaRPr lang="id-ID" noProof="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AA3B65-0BCB-2C90-EAD1-7DC252E58C2F}"/>
              </a:ext>
            </a:extLst>
          </p:cNvPr>
          <p:cNvSpPr/>
          <p:nvPr/>
        </p:nvSpPr>
        <p:spPr>
          <a:xfrm>
            <a:off x="414009" y="1899000"/>
            <a:ext cx="5365954" cy="30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SWITCH (menu)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1: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Cappuccino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2: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“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Matcha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3: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“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Oat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milk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DEFAULT: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d-ID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"Menu tidak tersedia"</a:t>
            </a:r>
          </a:p>
          <a:p>
            <a:pPr algn="just"/>
            <a:r>
              <a:rPr lang="id-ID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 SWITCH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ECF014-447D-FCB4-3593-2BCC3F4AAA35}"/>
              </a:ext>
            </a:extLst>
          </p:cNvPr>
          <p:cNvGrpSpPr/>
          <p:nvPr/>
        </p:nvGrpSpPr>
        <p:grpSpPr>
          <a:xfrm>
            <a:off x="5818686" y="298752"/>
            <a:ext cx="6193503" cy="6095921"/>
            <a:chOff x="5455834" y="81042"/>
            <a:chExt cx="6193503" cy="60959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608456-6CFB-2004-2C90-C484A0E5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5834" y="1500350"/>
              <a:ext cx="6193503" cy="4439330"/>
            </a:xfrm>
            <a:prstGeom prst="rect">
              <a:avLst/>
            </a:prstGeom>
          </p:spPr>
        </p:pic>
        <p:pic>
          <p:nvPicPr>
            <p:cNvPr id="8" name="Picture 7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9BB3A988-0023-3D31-FBAE-9C388759B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1234" y="81042"/>
              <a:ext cx="1336047" cy="158194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4089083-233E-AFEF-34E3-9AB6CA949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3441" y="5844279"/>
              <a:ext cx="951631" cy="332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9184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0D5A-39AE-2025-AB38-44A4D658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noProof="0" dirty="0"/>
              <a:t>Latihan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CE435-62A9-BF74-05F5-CEECA24A5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5342"/>
            <a:ext cx="10515600" cy="5161935"/>
          </a:xfrm>
        </p:spPr>
        <p:txBody>
          <a:bodyPr>
            <a:normAutofit fontScale="92500" lnSpcReduction="10000"/>
          </a:bodyPr>
          <a:lstStyle/>
          <a:p>
            <a:pPr marL="628650" indent="-514350">
              <a:buSzPct val="100000"/>
              <a:buFont typeface="+mj-lt"/>
              <a:buAutoNum type="arabicPeriod"/>
            </a:pPr>
            <a:r>
              <a:rPr lang="id-ID" sz="2400" noProof="0" dirty="0" err="1"/>
              <a:t>Mall</a:t>
            </a:r>
            <a:r>
              <a:rPr lang="id-ID" sz="2400" noProof="0" dirty="0"/>
              <a:t> di Malang menerapkan sistem parkir berbayar untuk kendaraan roda dua. Tarif dihitung berdasarkan lama parkir (dalam jam) sesuai dengan ketentuan berikut:</a:t>
            </a:r>
          </a:p>
          <a:p>
            <a:pPr marL="987425" lvl="1">
              <a:buSzPct val="100000"/>
            </a:pPr>
            <a:r>
              <a:rPr lang="id-ID" noProof="0" dirty="0"/>
              <a:t>2 jam pertama dikenai tarif dasar Rp 2.000</a:t>
            </a:r>
          </a:p>
          <a:p>
            <a:pPr marL="987425" lvl="1">
              <a:buSzPct val="100000"/>
            </a:pPr>
            <a:r>
              <a:rPr lang="id-ID" noProof="0" dirty="0"/>
              <a:t>Lebih dari 2 jam dikenai tarif dasar + Rp 1.000 untuk setiap jam berikutnya</a:t>
            </a:r>
          </a:p>
          <a:p>
            <a:pPr marL="644525" lvl="1" indent="0">
              <a:buSzPct val="100000"/>
              <a:buNone/>
            </a:pPr>
            <a:r>
              <a:rPr lang="id-ID" noProof="0" dirty="0"/>
              <a:t>Buatlah </a:t>
            </a:r>
            <a:r>
              <a:rPr lang="id-ID" noProof="0" dirty="0" err="1"/>
              <a:t>flowchart</a:t>
            </a:r>
            <a:r>
              <a:rPr lang="id-ID" noProof="0" dirty="0"/>
              <a:t> dan </a:t>
            </a:r>
            <a:r>
              <a:rPr lang="id-ID" noProof="0" dirty="0" err="1"/>
              <a:t>pseudocode</a:t>
            </a:r>
            <a:r>
              <a:rPr lang="en-US" noProof="0" dirty="0"/>
              <a:t>-</a:t>
            </a:r>
            <a:r>
              <a:rPr lang="en-US" noProof="0" dirty="0" err="1"/>
              <a:t>nya</a:t>
            </a:r>
            <a:r>
              <a:rPr lang="id-ID" noProof="0" dirty="0"/>
              <a:t>!</a:t>
            </a:r>
          </a:p>
          <a:p>
            <a:pPr marL="628650" indent="-514350">
              <a:buSzPct val="100000"/>
              <a:buFont typeface="+mj-lt"/>
              <a:buAutoNum type="arabicPeriod"/>
            </a:pPr>
            <a:r>
              <a:rPr lang="id-ID" sz="2400" noProof="0" dirty="0"/>
              <a:t>Bagian akademik kampus menyediakan mesin antrean digital. Mahasiswa dapat memasukkan kode layanan </a:t>
            </a:r>
            <a:r>
              <a:rPr lang="id-ID" sz="2400" noProof="0" dirty="0" err="1"/>
              <a:t>kemud</a:t>
            </a:r>
            <a:r>
              <a:rPr lang="en-US" sz="2400" noProof="0" dirty="0" err="1"/>
              <a:t>i</a:t>
            </a:r>
            <a:r>
              <a:rPr lang="id-ID" sz="2400" noProof="0" dirty="0" err="1"/>
              <a:t>an</a:t>
            </a:r>
            <a:r>
              <a:rPr lang="id-ID" sz="2400" noProof="0" dirty="0"/>
              <a:t> mesin akan menampilkan jenis layanan dan loket tujuannya sebagai berikut:</a:t>
            </a:r>
          </a:p>
          <a:p>
            <a:pPr marL="633413" indent="0">
              <a:buSzPct val="100000"/>
              <a:buNone/>
            </a:pPr>
            <a:endParaRPr lang="id-ID" sz="2400" noProof="0" dirty="0"/>
          </a:p>
          <a:p>
            <a:pPr marL="633413" indent="0">
              <a:buSzPct val="100000"/>
              <a:buNone/>
            </a:pPr>
            <a:endParaRPr lang="id-ID" sz="2400" noProof="0" dirty="0"/>
          </a:p>
          <a:p>
            <a:pPr marL="633413" indent="0">
              <a:buSzPct val="100000"/>
              <a:buNone/>
            </a:pPr>
            <a:endParaRPr lang="id-ID" sz="2400" noProof="0" dirty="0"/>
          </a:p>
          <a:p>
            <a:pPr marL="633413" indent="0">
              <a:buSzPct val="100000"/>
              <a:buNone/>
            </a:pPr>
            <a:endParaRPr lang="id-ID" sz="2400" noProof="0" dirty="0"/>
          </a:p>
          <a:p>
            <a:pPr marL="633413" indent="0">
              <a:buSzPct val="100000"/>
              <a:buNone/>
            </a:pPr>
            <a:endParaRPr lang="id-ID" sz="2400" noProof="0" dirty="0"/>
          </a:p>
          <a:p>
            <a:pPr marL="633413" indent="0">
              <a:buSzPct val="100000"/>
              <a:buNone/>
            </a:pPr>
            <a:r>
              <a:rPr lang="id-ID" sz="2400" noProof="0" dirty="0"/>
              <a:t>Buatlah </a:t>
            </a:r>
            <a:r>
              <a:rPr lang="id-ID" sz="2400" noProof="0" dirty="0" err="1"/>
              <a:t>flowchart</a:t>
            </a:r>
            <a:r>
              <a:rPr lang="id-ID" sz="2400" noProof="0" dirty="0"/>
              <a:t> dan </a:t>
            </a:r>
            <a:r>
              <a:rPr lang="id-ID" sz="2400" noProof="0" dirty="0" err="1"/>
              <a:t>pseudocode</a:t>
            </a:r>
            <a:r>
              <a:rPr lang="en-US" sz="2400" noProof="0" dirty="0"/>
              <a:t>-</a:t>
            </a:r>
            <a:r>
              <a:rPr lang="en-US" sz="2400" noProof="0" dirty="0" err="1"/>
              <a:t>nya</a:t>
            </a:r>
            <a:r>
              <a:rPr lang="id-ID" sz="2400" noProof="0" dirty="0"/>
              <a:t>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CAB9DA-9BAB-CE6E-D588-74890B495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563571"/>
              </p:ext>
            </p:extLst>
          </p:nvPr>
        </p:nvGraphicFramePr>
        <p:xfrm>
          <a:off x="1545303" y="4185537"/>
          <a:ext cx="59321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413">
                  <a:extLst>
                    <a:ext uri="{9D8B030D-6E8A-4147-A177-3AD203B41FA5}">
                      <a16:colId xmlns:a16="http://schemas.microsoft.com/office/drawing/2014/main" val="1805766595"/>
                    </a:ext>
                  </a:extLst>
                </a:gridCol>
                <a:gridCol w="3362632">
                  <a:extLst>
                    <a:ext uri="{9D8B030D-6E8A-4147-A177-3AD203B41FA5}">
                      <a16:colId xmlns:a16="http://schemas.microsoft.com/office/drawing/2014/main" val="661755367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658721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Layanan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08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Legalisir</a:t>
                      </a:r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Ijazah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Loket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675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Surat Keterangan Aktif Kuliah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Loket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49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Pembayaran UKT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Loket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033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Pengajuan Cuti Akademik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Loket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13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041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1468</Words>
  <Application>Microsoft Office PowerPoint</Application>
  <PresentationFormat>Widescreen</PresentationFormat>
  <Paragraphs>301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Wingdings</vt:lpstr>
      <vt:lpstr>Consolas</vt:lpstr>
      <vt:lpstr>Overlock</vt:lpstr>
      <vt:lpstr>Courier New</vt:lpstr>
      <vt:lpstr>Arial</vt:lpstr>
      <vt:lpstr>Calibri</vt:lpstr>
      <vt:lpstr>Comic Sans MS</vt:lpstr>
      <vt:lpstr>Office Theme</vt:lpstr>
      <vt:lpstr>Pemilihan 1</vt:lpstr>
      <vt:lpstr>Tujuan Pembelajaran</vt:lpstr>
      <vt:lpstr>Contoh Pemilihan dalam Kehidupan</vt:lpstr>
      <vt:lpstr>Definisi Pemilihan</vt:lpstr>
      <vt:lpstr>Contoh Pemilihan dalam Program</vt:lpstr>
      <vt:lpstr>Struktur Pemilihan di Java</vt:lpstr>
      <vt:lpstr>PowerPoint Presentation</vt:lpstr>
      <vt:lpstr>Struktur Pemilihan IF</vt:lpstr>
      <vt:lpstr>PowerPoint Presentation</vt:lpstr>
      <vt:lpstr>PowerPoint Presentation</vt:lpstr>
      <vt:lpstr>PowerPoint Presentation</vt:lpstr>
      <vt:lpstr>Struktur Pemilihan IF-ELSE</vt:lpstr>
      <vt:lpstr>PowerPoint Presentation</vt:lpstr>
      <vt:lpstr>PowerPoint Presentation</vt:lpstr>
      <vt:lpstr>PowerPoint Presentation</vt:lpstr>
      <vt:lpstr>Contoh Pemilihan dengan Banyak Kondisi</vt:lpstr>
      <vt:lpstr>Struktur Pemilihan IF-ELSE IF-ELSE</vt:lpstr>
      <vt:lpstr>PowerPoint Presentation</vt:lpstr>
      <vt:lpstr>Flowchart dan Pseudocode IF-ELSE IF-ELSE</vt:lpstr>
      <vt:lpstr>PowerPoint Presentation</vt:lpstr>
      <vt:lpstr>Struktur Pemilihan SWITCH-CASE</vt:lpstr>
      <vt:lpstr>PowerPoint Presentation</vt:lpstr>
      <vt:lpstr>Flowchart dan Pseudocode SWITCH-CASE</vt:lpstr>
      <vt:lpstr>Memilih Struktur Pemilihan yang Tepat</vt:lpstr>
      <vt:lpstr>PowerPoint Presentation</vt:lpstr>
      <vt:lpstr>Ternary Operator ( ? : )</vt:lpstr>
      <vt:lpstr>Contoh Penggunaan Ternary Operator </vt:lpstr>
      <vt:lpstr>PowerPoint Presentation</vt:lpstr>
      <vt:lpstr>Kasus 1</vt:lpstr>
      <vt:lpstr>Kasus 1 (Jawaban)</vt:lpstr>
      <vt:lpstr>Kasus 2</vt:lpstr>
      <vt:lpstr>Kasus 2 (Jawaban)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Pemilihan 1</dc:title>
  <dc:creator>vivin</dc:creator>
  <cp:lastModifiedBy>Vivi Nur Wijayaningrum</cp:lastModifiedBy>
  <cp:revision>77</cp:revision>
  <dcterms:created xsi:type="dcterms:W3CDTF">2020-08-25T07:51:21Z</dcterms:created>
  <dcterms:modified xsi:type="dcterms:W3CDTF">2026-09-20T23:48:47Z</dcterms:modified>
</cp:coreProperties>
</file>